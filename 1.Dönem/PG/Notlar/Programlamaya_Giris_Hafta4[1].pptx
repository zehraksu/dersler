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56"/>
  </p:notesMasterIdLst>
  <p:handoutMasterIdLst>
    <p:handoutMasterId r:id="rId57"/>
  </p:handoutMasterIdLst>
  <p:sldIdLst>
    <p:sldId id="340" r:id="rId2"/>
    <p:sldId id="342" r:id="rId3"/>
    <p:sldId id="501" r:id="rId4"/>
    <p:sldId id="502" r:id="rId5"/>
    <p:sldId id="503" r:id="rId6"/>
    <p:sldId id="504" r:id="rId7"/>
    <p:sldId id="505" r:id="rId8"/>
    <p:sldId id="547" r:id="rId9"/>
    <p:sldId id="506" r:id="rId10"/>
    <p:sldId id="508" r:id="rId11"/>
    <p:sldId id="509" r:id="rId12"/>
    <p:sldId id="510" r:id="rId13"/>
    <p:sldId id="548" r:id="rId14"/>
    <p:sldId id="511" r:id="rId15"/>
    <p:sldId id="512" r:id="rId16"/>
    <p:sldId id="513" r:id="rId17"/>
    <p:sldId id="514" r:id="rId18"/>
    <p:sldId id="515" r:id="rId19"/>
    <p:sldId id="516" r:id="rId20"/>
    <p:sldId id="518" r:id="rId21"/>
    <p:sldId id="549" r:id="rId22"/>
    <p:sldId id="517" r:id="rId23"/>
    <p:sldId id="520" r:id="rId24"/>
    <p:sldId id="521" r:id="rId25"/>
    <p:sldId id="522" r:id="rId26"/>
    <p:sldId id="523" r:id="rId27"/>
    <p:sldId id="527" r:id="rId28"/>
    <p:sldId id="525" r:id="rId29"/>
    <p:sldId id="526" r:id="rId30"/>
    <p:sldId id="553" r:id="rId31"/>
    <p:sldId id="528" r:id="rId32"/>
    <p:sldId id="524" r:id="rId33"/>
    <p:sldId id="529" r:id="rId34"/>
    <p:sldId id="531" r:id="rId35"/>
    <p:sldId id="552" r:id="rId36"/>
    <p:sldId id="532" r:id="rId37"/>
    <p:sldId id="533" r:id="rId38"/>
    <p:sldId id="535" r:id="rId39"/>
    <p:sldId id="534" r:id="rId40"/>
    <p:sldId id="554" r:id="rId41"/>
    <p:sldId id="550" r:id="rId42"/>
    <p:sldId id="551" r:id="rId43"/>
    <p:sldId id="536" r:id="rId44"/>
    <p:sldId id="537" r:id="rId45"/>
    <p:sldId id="540" r:id="rId46"/>
    <p:sldId id="541" r:id="rId47"/>
    <p:sldId id="542" r:id="rId48"/>
    <p:sldId id="543" r:id="rId49"/>
    <p:sldId id="555" r:id="rId50"/>
    <p:sldId id="544" r:id="rId51"/>
    <p:sldId id="507" r:id="rId52"/>
    <p:sldId id="463" r:id="rId53"/>
    <p:sldId id="545" r:id="rId54"/>
    <p:sldId id="396" r:id="rId55"/>
  </p:sldIdLst>
  <p:sldSz cx="9144000" cy="6858000" type="screen4x3"/>
  <p:notesSz cx="6858000" cy="9144000"/>
  <p:defaultTextStyle>
    <a:defPPr>
      <a:defRPr lang="tr-T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10" initials="w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DEF8"/>
    <a:srgbClr val="F5DC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Orta Stil 1 - Vurgu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Açık Stil 3 - Vurgu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Açık Stil 1 - Vurgu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Açık Stil 2 - Vurgu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5" autoAdjust="0"/>
    <p:restoredTop sz="94087" autoAdjust="0"/>
  </p:normalViewPr>
  <p:slideViewPr>
    <p:cSldViewPr>
      <p:cViewPr varScale="1">
        <p:scale>
          <a:sx n="69" d="100"/>
          <a:sy n="69" d="100"/>
        </p:scale>
        <p:origin x="581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264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Üstbilgi Yer Tutucusu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 dirty="0"/>
          </a:p>
        </p:txBody>
      </p:sp>
      <p:sp>
        <p:nvSpPr>
          <p:cNvPr id="3" name="2 Veri Yer Tutucusu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92011-80F3-416C-A4E6-DC258354ED27}" type="datetimeFigureOut">
              <a:rPr lang="tr-TR" smtClean="0"/>
              <a:pPr/>
              <a:t>19.10.2023</a:t>
            </a:fld>
            <a:endParaRPr lang="tr-TR" dirty="0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 dirty="0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5CCD8F-EE12-4831-9F93-21C6B97F7A4C}" type="slidenum">
              <a:rPr lang="tr-TR" smtClean="0"/>
              <a:pPr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823870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Üstbilgi Yer Tutucusu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 dirty="0"/>
          </a:p>
        </p:txBody>
      </p:sp>
      <p:sp>
        <p:nvSpPr>
          <p:cNvPr id="3" name="2 Veri Yer Tutucusu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00E6A1-830D-4C29-9D2C-9B28226A27E6}" type="datetimeFigureOut">
              <a:rPr lang="tr-TR" smtClean="0"/>
              <a:pPr/>
              <a:t>19.10.2023</a:t>
            </a:fld>
            <a:endParaRPr lang="tr-TR" dirty="0"/>
          </a:p>
        </p:txBody>
      </p:sp>
      <p:sp>
        <p:nvSpPr>
          <p:cNvPr id="4" name="3 Slayt Görüntüsü Yer Tutucusu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 dirty="0"/>
          </a:p>
        </p:txBody>
      </p:sp>
      <p:sp>
        <p:nvSpPr>
          <p:cNvPr id="5" name="4 Not Yer Tutucusu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 dirty="0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A9AC84-81BD-442C-8608-DAE8E5CF2363}" type="slidenum">
              <a:rPr lang="tr-TR" smtClean="0"/>
              <a:pPr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11927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tr-TR" smtClean="0"/>
              <a:t>Asıl alt başlık stilini düzenlemek için tıklayın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3085B0-2C59-4DED-8C48-E1E77CF27983}" type="datetimeFigureOut">
              <a:rPr lang="tr-TR" smtClean="0"/>
              <a:pPr>
                <a:defRPr/>
              </a:pPr>
              <a:t>19.10.2023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CC7129-E796-42F1-AB6E-175AE70EDB47}" type="slidenum">
              <a:rPr lang="tr-TR" smtClean="0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001354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D03B584-4923-4A86-9704-CC215055113B}" type="datetimeFigureOut">
              <a:rPr lang="tr-TR" smtClean="0"/>
              <a:pPr>
                <a:defRPr/>
              </a:pPr>
              <a:t>19.10.2023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971776-7564-4797-B611-E641185BF234}" type="slidenum">
              <a:rPr lang="tr-TR" smtClean="0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770515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30E6961-A921-43FE-8598-31B14676E109}" type="datetimeFigureOut">
              <a:rPr lang="tr-TR" smtClean="0"/>
              <a:pPr>
                <a:defRPr/>
              </a:pPr>
              <a:t>19.10.2023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CC180B-A068-4E2B-8CAA-08903E42A7C2}" type="slidenum">
              <a:rPr lang="tr-TR" smtClean="0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007454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E11966-ECC0-4184-85BF-A764B6992FAA}" type="datetimeFigureOut">
              <a:rPr lang="tr-TR" smtClean="0"/>
              <a:pPr>
                <a:defRPr/>
              </a:pPr>
              <a:t>19.10.2023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1B4FFA-B9C2-48FF-B259-9F8603C992F9}" type="slidenum">
              <a:rPr lang="tr-TR" smtClean="0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7388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02199C3-1F67-42D3-B6ED-73061C3C3F65}" type="datetimeFigureOut">
              <a:rPr lang="tr-TR" smtClean="0"/>
              <a:pPr>
                <a:defRPr/>
              </a:pPr>
              <a:t>19.10.2023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C14A26-8FC7-4466-90C1-A68B44635883}" type="slidenum">
              <a:rPr lang="tr-TR" smtClean="0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054878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5836A6-47FB-45E3-8618-8B0A29CA1501}" type="datetimeFigureOut">
              <a:rPr lang="tr-TR" smtClean="0"/>
              <a:pPr>
                <a:defRPr/>
              </a:pPr>
              <a:t>19.10.2023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73D6FA-B3EF-407B-B203-65E8476E2F4C}" type="slidenum">
              <a:rPr lang="tr-TR" smtClean="0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3101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670B04A-851E-46D5-BD87-4337A2B542B9}" type="datetimeFigureOut">
              <a:rPr lang="tr-TR" smtClean="0"/>
              <a:pPr>
                <a:defRPr/>
              </a:pPr>
              <a:t>19.10.2023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3DFD76-7578-421E-BBD1-96E761E065A7}" type="slidenum">
              <a:rPr lang="tr-TR" smtClean="0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705520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4E6223-4733-4C07-9BF1-7FD1E84B1A60}" type="datetimeFigureOut">
              <a:rPr lang="tr-TR" smtClean="0"/>
              <a:pPr>
                <a:defRPr/>
              </a:pPr>
              <a:t>19.10.2023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61761B-90EE-44EF-AE9D-5DF4B2A7D583}" type="slidenum">
              <a:rPr lang="tr-TR" smtClean="0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363071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02561BD-1BBA-422F-B47B-11093D376C13}" type="datetimeFigureOut">
              <a:rPr lang="tr-TR" smtClean="0"/>
              <a:pPr>
                <a:defRPr/>
              </a:pPr>
              <a:t>19.10.2023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521831-CFBB-4EA3-A3F2-B56F219C3EB7}" type="slidenum">
              <a:rPr lang="tr-TR" smtClean="0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205056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935E1B-8509-4132-9F8A-B3B42A2363F2}" type="datetimeFigureOut">
              <a:rPr lang="tr-TR" smtClean="0"/>
              <a:pPr>
                <a:defRPr/>
              </a:pPr>
              <a:t>19.10.2023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CE732A-A61D-4E95-B25A-8234F68BD996}" type="slidenum">
              <a:rPr lang="tr-TR" smtClean="0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471422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AAE9C0C-0D89-46A8-B0FE-73D555CA8C55}" type="datetimeFigureOut">
              <a:rPr lang="tr-TR" smtClean="0"/>
              <a:pPr>
                <a:defRPr/>
              </a:pPr>
              <a:t>19.10.2023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4475FD-5597-4A34-A660-E628784B8721}" type="slidenum">
              <a:rPr lang="tr-TR" smtClean="0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24160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Özel Dü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935E1B-8509-4132-9F8A-B3B42A2363F2}" type="datetimeFigureOut">
              <a:rPr lang="tr-TR" smtClean="0"/>
              <a:pPr>
                <a:defRPr/>
              </a:pPr>
              <a:t>19.10.2023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CE732A-A61D-4E95-B25A-8234F68BD996}" type="slidenum">
              <a:rPr lang="tr-TR" smtClean="0"/>
              <a:pPr>
                <a:defRPr/>
              </a:pPr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rsno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 3"/>
          <p:cNvGrpSpPr>
            <a:grpSpLocks/>
          </p:cNvGrpSpPr>
          <p:nvPr userDrawn="1"/>
        </p:nvGrpSpPr>
        <p:grpSpPr bwMode="auto">
          <a:xfrm>
            <a:off x="0" y="6145217"/>
            <a:ext cx="9144000" cy="548522"/>
            <a:chOff x="0" y="5719432"/>
            <a:chExt cx="9144000" cy="1034319"/>
          </a:xfrm>
        </p:grpSpPr>
        <p:pic>
          <p:nvPicPr>
            <p:cNvPr id="4" name="Resim 4"/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5719432"/>
              <a:ext cx="9144000" cy="346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" name="Alt Başlık 2"/>
            <p:cNvSpPr txBox="1">
              <a:spLocks/>
            </p:cNvSpPr>
            <p:nvPr/>
          </p:nvSpPr>
          <p:spPr bwMode="auto">
            <a:xfrm>
              <a:off x="5148064" y="6278568"/>
              <a:ext cx="3960000" cy="4751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Font typeface="Arial" charset="0"/>
                <a:buNone/>
              </a:pPr>
              <a:r>
                <a:rPr lang="tr-TR" sz="1500" dirty="0" smtClean="0">
                  <a:solidFill>
                    <a:srgbClr val="898989"/>
                  </a:solidFill>
                </a:rPr>
                <a:t>BSM 103</a:t>
              </a:r>
              <a:r>
                <a:rPr lang="tr-TR" sz="1500" baseline="0" dirty="0" smtClean="0">
                  <a:solidFill>
                    <a:srgbClr val="898989"/>
                  </a:solidFill>
                </a:rPr>
                <a:t> </a:t>
              </a:r>
              <a:r>
                <a:rPr lang="tr-TR" sz="1500" dirty="0" smtClean="0">
                  <a:solidFill>
                    <a:srgbClr val="898989"/>
                  </a:solidFill>
                </a:rPr>
                <a:t>Programlamaya Giriş</a:t>
              </a:r>
              <a:r>
                <a:rPr lang="tr-TR" sz="1500" baseline="0" dirty="0" smtClean="0">
                  <a:solidFill>
                    <a:srgbClr val="898989"/>
                  </a:solidFill>
                </a:rPr>
                <a:t> </a:t>
              </a:r>
              <a:r>
                <a:rPr lang="tr-TR" sz="1500" dirty="0" smtClean="0">
                  <a:solidFill>
                    <a:srgbClr val="898989"/>
                  </a:solidFill>
                </a:rPr>
                <a:t>2018-2019 Güz</a:t>
              </a:r>
              <a:endParaRPr lang="tr-TR" sz="1500" dirty="0">
                <a:solidFill>
                  <a:srgbClr val="898989"/>
                </a:solidFill>
              </a:endParaRPr>
            </a:p>
          </p:txBody>
        </p:sp>
      </p:grpSp>
      <p:pic>
        <p:nvPicPr>
          <p:cNvPr id="6" name="İçerik Yer Tutucusu 10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4338" y="6329363"/>
            <a:ext cx="2011362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Resim 4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416" y="764704"/>
            <a:ext cx="9144000" cy="183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1 Başlık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576064"/>
          </a:xfrm>
          <a:prstGeom prst="rect">
            <a:avLst/>
          </a:prstGeom>
        </p:spPr>
        <p:txBody>
          <a:bodyPr/>
          <a:lstStyle>
            <a:lvl1pPr>
              <a:defRPr sz="4000" b="0">
                <a:solidFill>
                  <a:schemeClr val="accent5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r>
              <a:rPr lang="tr-TR" dirty="0" smtClean="0"/>
              <a:t>Asıl başlık stili için tıklatın</a:t>
            </a:r>
            <a:endParaRPr lang="tr-TR" dirty="0"/>
          </a:p>
        </p:txBody>
      </p:sp>
      <p:sp>
        <p:nvSpPr>
          <p:cNvPr id="9" name="İçerik Yer Tutucusu 2"/>
          <p:cNvSpPr>
            <a:spLocks noGrp="1"/>
          </p:cNvSpPr>
          <p:nvPr>
            <p:ph idx="1"/>
          </p:nvPr>
        </p:nvSpPr>
        <p:spPr>
          <a:xfrm>
            <a:off x="179512" y="1020208"/>
            <a:ext cx="8784976" cy="5011983"/>
          </a:xfrm>
        </p:spPr>
        <p:txBody>
          <a:bodyPr/>
          <a:lstStyle>
            <a:lvl1pPr marL="171450" indent="-1714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  <a:defRPr sz="2400"/>
            </a:lvl1pPr>
            <a:lvl2pPr marL="514350" indent="-1714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  <a:defRPr sz="2100"/>
            </a:lvl2pPr>
            <a:lvl3pPr marL="857250" indent="-1714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  <a:defRPr sz="1800"/>
            </a:lvl3pPr>
            <a:lvl4pPr marL="1200150" indent="-1714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  <a:defRPr sz="1500"/>
            </a:lvl4pPr>
            <a:lvl5pPr marL="1543050" indent="-1714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tr-TR" dirty="0" smtClean="0"/>
              <a:t>Asıl metin stillerini düzenle</a:t>
            </a:r>
          </a:p>
          <a:p>
            <a:pPr lvl="1"/>
            <a:r>
              <a:rPr lang="tr-TR" dirty="0" smtClean="0"/>
              <a:t>İkinci düzey</a:t>
            </a:r>
          </a:p>
          <a:p>
            <a:pPr lvl="2"/>
            <a:r>
              <a:rPr lang="tr-TR" dirty="0" smtClean="0"/>
              <a:t>Üçüncü düzey</a:t>
            </a:r>
          </a:p>
          <a:p>
            <a:pPr lvl="3"/>
            <a:r>
              <a:rPr lang="tr-TR" dirty="0" smtClean="0"/>
              <a:t>Dördüncü düzey</a:t>
            </a:r>
          </a:p>
          <a:p>
            <a:pPr lvl="4"/>
            <a:r>
              <a:rPr lang="tr-TR" dirty="0" smtClean="0"/>
              <a:t>Beşinci düzey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87500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rsnotu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 3"/>
          <p:cNvGrpSpPr>
            <a:grpSpLocks/>
          </p:cNvGrpSpPr>
          <p:nvPr userDrawn="1"/>
        </p:nvGrpSpPr>
        <p:grpSpPr bwMode="auto">
          <a:xfrm>
            <a:off x="0" y="6145217"/>
            <a:ext cx="9144000" cy="548522"/>
            <a:chOff x="0" y="5719432"/>
            <a:chExt cx="9144000" cy="1034319"/>
          </a:xfrm>
        </p:grpSpPr>
        <p:pic>
          <p:nvPicPr>
            <p:cNvPr id="4" name="Resim 4"/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5719432"/>
              <a:ext cx="9144000" cy="346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" name="Alt Başlık 2"/>
            <p:cNvSpPr txBox="1">
              <a:spLocks/>
            </p:cNvSpPr>
            <p:nvPr/>
          </p:nvSpPr>
          <p:spPr bwMode="auto">
            <a:xfrm>
              <a:off x="5148064" y="6278568"/>
              <a:ext cx="3960000" cy="4751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Font typeface="Arial" charset="0"/>
                <a:buNone/>
              </a:pPr>
              <a:r>
                <a:rPr lang="tr-TR" sz="1500" dirty="0" smtClean="0">
                  <a:solidFill>
                    <a:srgbClr val="898989"/>
                  </a:solidFill>
                </a:rPr>
                <a:t>BSM 103 Programlamaya Giriş 2018-2019 Güz</a:t>
              </a:r>
              <a:endParaRPr lang="tr-TR" sz="1500" dirty="0">
                <a:solidFill>
                  <a:srgbClr val="898989"/>
                </a:solidFill>
              </a:endParaRPr>
            </a:p>
          </p:txBody>
        </p:sp>
      </p:grpSp>
      <p:pic>
        <p:nvPicPr>
          <p:cNvPr id="6" name="İçerik Yer Tutucusu 10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4338" y="6329363"/>
            <a:ext cx="2011362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Resim 4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416" y="908720"/>
            <a:ext cx="9144000" cy="183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1 Başlık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791438"/>
          </a:xfrm>
          <a:prstGeom prst="rect">
            <a:avLst/>
          </a:prstGeom>
        </p:spPr>
        <p:txBody>
          <a:bodyPr/>
          <a:lstStyle>
            <a:lvl1pPr>
              <a:defRPr sz="4000" b="0">
                <a:solidFill>
                  <a:schemeClr val="accent5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r>
              <a:rPr lang="tr-TR" dirty="0" smtClean="0"/>
              <a:t>Asıl başlık stili için tıklatın</a:t>
            </a:r>
            <a:endParaRPr lang="tr-TR" dirty="0"/>
          </a:p>
        </p:txBody>
      </p:sp>
      <p:sp>
        <p:nvSpPr>
          <p:cNvPr id="9" name="İçerik Yer Tutucusu 2"/>
          <p:cNvSpPr>
            <a:spLocks noGrp="1"/>
          </p:cNvSpPr>
          <p:nvPr>
            <p:ph idx="1"/>
          </p:nvPr>
        </p:nvSpPr>
        <p:spPr>
          <a:xfrm>
            <a:off x="179512" y="1180445"/>
            <a:ext cx="3744416" cy="4851746"/>
          </a:xfrm>
        </p:spPr>
        <p:txBody>
          <a:bodyPr/>
          <a:lstStyle>
            <a:lvl1pPr marL="171450" indent="-1714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  <a:defRPr sz="2400"/>
            </a:lvl1pPr>
            <a:lvl2pPr marL="514350" indent="-1714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  <a:defRPr sz="2100"/>
            </a:lvl2pPr>
            <a:lvl3pPr marL="857250" indent="-1714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  <a:defRPr sz="1800"/>
            </a:lvl3pPr>
            <a:lvl4pPr marL="1200150" indent="-1714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  <a:defRPr sz="1500"/>
            </a:lvl4pPr>
            <a:lvl5pPr marL="1543050" indent="-171450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tr-TR" dirty="0" smtClean="0"/>
              <a:t>Asıl metin stillerini düzenle</a:t>
            </a:r>
          </a:p>
          <a:p>
            <a:pPr lvl="1"/>
            <a:r>
              <a:rPr lang="tr-TR" dirty="0" smtClean="0"/>
              <a:t>İkinci düzey</a:t>
            </a:r>
          </a:p>
          <a:p>
            <a:pPr lvl="2"/>
            <a:r>
              <a:rPr lang="tr-TR" dirty="0" smtClean="0"/>
              <a:t>Üçüncü düzey</a:t>
            </a:r>
          </a:p>
          <a:p>
            <a:pPr lvl="3"/>
            <a:r>
              <a:rPr lang="tr-TR" dirty="0" smtClean="0"/>
              <a:t>Dördüncü düzey</a:t>
            </a:r>
          </a:p>
          <a:p>
            <a:pPr lvl="4"/>
            <a:r>
              <a:rPr lang="tr-TR" dirty="0" smtClean="0"/>
              <a:t>Beşinci düzey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351512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Özel Dü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935E1B-8509-4132-9F8A-B3B42A2363F2}" type="datetimeFigureOut">
              <a:rPr lang="tr-TR" smtClean="0"/>
              <a:pPr>
                <a:defRPr/>
              </a:pPr>
              <a:t>19.10.2023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CE732A-A61D-4E95-B25A-8234F68BD996}" type="slidenum">
              <a:rPr lang="tr-TR" smtClean="0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26488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2935E1B-8509-4132-9F8A-B3B42A2363F2}" type="datetimeFigureOut">
              <a:rPr lang="tr-TR" smtClean="0"/>
              <a:pPr>
                <a:defRPr/>
              </a:pPr>
              <a:t>19.10.2023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FCE732A-A61D-4E95-B25A-8234F68BD996}" type="slidenum">
              <a:rPr lang="tr-TR" smtClean="0"/>
              <a:pPr>
                <a:defRPr/>
              </a:pPr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220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694" r:id="rId13"/>
    <p:sldLayoutId id="2147483697" r:id="rId14"/>
    <p:sldLayoutId id="2147483696" r:id="rId15"/>
  </p:sldLayoutIdLs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1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395536" y="1700808"/>
            <a:ext cx="8352928" cy="1875551"/>
          </a:xfrm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tr-TR" sz="4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>Programlamaya Giriş</a:t>
            </a:r>
            <a:br>
              <a:rPr lang="tr-TR" sz="4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</a:br>
            <a:r>
              <a:rPr lang="tr-TR" sz="4000" b="1" dirty="0">
                <a:solidFill>
                  <a:srgbClr val="C00000"/>
                </a:solidFill>
                <a:cs typeface="Arial" pitchFamily="34" charset="0"/>
              </a:rPr>
              <a:t>HAFTA 4</a:t>
            </a:r>
            <a:r>
              <a:rPr lang="tr-TR" sz="4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  <a:t/>
            </a:r>
            <a:br>
              <a:rPr lang="tr-TR" sz="4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rPr>
            </a:br>
            <a:r>
              <a:rPr lang="tr-TR" sz="4000" b="1" dirty="0" smtClean="0">
                <a:solidFill>
                  <a:srgbClr val="C00000"/>
                </a:solidFill>
                <a:cs typeface="Arial" pitchFamily="34" charset="0"/>
              </a:rPr>
              <a:t>Karar Yapıları, Tekrarlı İfadeler (Döngüler)</a:t>
            </a:r>
            <a:endParaRPr lang="tr-TR" sz="36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79512" y="3789363"/>
            <a:ext cx="8784976" cy="1439837"/>
          </a:xfrm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tr-T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Prof. Dr. Cemil ÖZ</a:t>
            </a:r>
          </a:p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tr-T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Doç. Dr. Cüneyt BAYILMIŞ</a:t>
            </a:r>
          </a:p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tr-T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Arş. Gör. Dr. </a:t>
            </a:r>
            <a:r>
              <a:rPr lang="tr-TR" sz="20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Gülüzar</a:t>
            </a:r>
            <a:r>
              <a:rPr lang="tr-TR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 ÇİT</a:t>
            </a:r>
          </a:p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endParaRPr lang="tr-TR" sz="16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076" name="Resim 5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3575" y="332656"/>
            <a:ext cx="273685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up 9"/>
          <p:cNvGrpSpPr>
            <a:grpSpLocks/>
          </p:cNvGrpSpPr>
          <p:nvPr/>
        </p:nvGrpSpPr>
        <p:grpSpPr bwMode="auto">
          <a:xfrm>
            <a:off x="0" y="5719762"/>
            <a:ext cx="9144000" cy="836359"/>
            <a:chOff x="0" y="5719432"/>
            <a:chExt cx="9144000" cy="836874"/>
          </a:xfrm>
        </p:grpSpPr>
        <p:pic>
          <p:nvPicPr>
            <p:cNvPr id="3078" name="Resim 7"/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5719432"/>
              <a:ext cx="9144000" cy="346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Alt Başlık 2"/>
            <p:cNvSpPr txBox="1">
              <a:spLocks/>
            </p:cNvSpPr>
            <p:nvPr/>
          </p:nvSpPr>
          <p:spPr>
            <a:xfrm>
              <a:off x="5220072" y="6278576"/>
              <a:ext cx="3915991" cy="277730"/>
            </a:xfrm>
            <a:prstGeom prst="rect">
              <a:avLst/>
            </a:prstGeom>
          </p:spPr>
          <p:txBody>
            <a:bodyPr>
              <a:normAutofit fontScale="70000" lnSpcReduction="20000"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tr-TR" sz="2000" dirty="0">
                  <a:solidFill>
                    <a:srgbClr val="898989"/>
                  </a:solidFill>
                </a:rPr>
                <a:t>BSM </a:t>
              </a:r>
              <a:r>
                <a:rPr lang="tr-TR" sz="2000" dirty="0" smtClean="0">
                  <a:solidFill>
                    <a:srgbClr val="898989"/>
                  </a:solidFill>
                </a:rPr>
                <a:t>103 Programlamaya Giriş 2018-2019 Güz</a:t>
              </a:r>
              <a:endParaRPr lang="tr-TR" sz="2000" dirty="0">
                <a:solidFill>
                  <a:srgbClr val="898989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7834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Konu &amp; İçerik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altLang="tr-TR" sz="1814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Program Blokları</a:t>
            </a:r>
          </a:p>
          <a:p>
            <a:r>
              <a:rPr lang="tr-TR" altLang="tr-TR" sz="1814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Sıra Yapısı</a:t>
            </a:r>
          </a:p>
          <a:p>
            <a:r>
              <a:rPr lang="tr-TR" altLang="tr-TR" sz="1814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Kontrol </a:t>
            </a:r>
            <a:r>
              <a:rPr lang="tr-TR" altLang="tr-TR" sz="1814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Yapıları </a:t>
            </a:r>
            <a:endParaRPr lang="tr-TR" altLang="tr-TR" sz="1814" b="1" dirty="0" smtClean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rebuchet MS" panose="020B0603020202020204" pitchFamily="34" charset="0"/>
            </a:endParaRPr>
          </a:p>
          <a:p>
            <a:pPr lvl="1"/>
            <a:r>
              <a:rPr lang="tr-TR" altLang="tr-TR" sz="1514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Karar </a:t>
            </a:r>
            <a:r>
              <a:rPr lang="tr-TR" altLang="tr-TR" sz="1514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Yapıları (</a:t>
            </a:r>
            <a:r>
              <a:rPr lang="tr-TR" altLang="tr-TR" sz="1514" b="1" dirty="0" err="1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İf</a:t>
            </a:r>
            <a:r>
              <a:rPr lang="tr-TR" altLang="tr-TR" sz="1514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)</a:t>
            </a:r>
          </a:p>
          <a:p>
            <a:pPr lvl="1"/>
            <a:r>
              <a:rPr lang="tr-TR" altLang="tr-TR" sz="1814" b="1" dirty="0" err="1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İf</a:t>
            </a:r>
            <a:r>
              <a:rPr lang="tr-TR" altLang="tr-TR" sz="1814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/Else</a:t>
            </a:r>
          </a:p>
          <a:p>
            <a:pPr lvl="1"/>
            <a:r>
              <a:rPr lang="tr-TR" altLang="tr-TR" sz="1814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İç </a:t>
            </a:r>
            <a:r>
              <a:rPr lang="tr-TR" altLang="tr-TR" sz="1814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İçe </a:t>
            </a:r>
            <a:r>
              <a:rPr lang="tr-TR" altLang="tr-TR" sz="1814" b="1" dirty="0" err="1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İf</a:t>
            </a:r>
            <a:r>
              <a:rPr lang="tr-TR" altLang="tr-TR" sz="1814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/Else</a:t>
            </a:r>
          </a:p>
          <a:p>
            <a:r>
              <a:rPr lang="tr-TR" altLang="tr-TR" sz="2114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Switch-Case </a:t>
            </a:r>
            <a:r>
              <a:rPr lang="tr-TR" altLang="tr-TR" sz="2114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(Çoklu Dallanma </a:t>
            </a:r>
            <a:r>
              <a:rPr lang="tr-TR" altLang="tr-TR" sz="2114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Yapıları)</a:t>
            </a:r>
          </a:p>
          <a:p>
            <a:r>
              <a:rPr lang="tr-TR" altLang="tr-TR" sz="1814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Döngüler</a:t>
            </a:r>
          </a:p>
          <a:p>
            <a:pPr lvl="1"/>
            <a:r>
              <a:rPr lang="tr-TR" altLang="tr-TR" sz="1514" b="1" dirty="0" err="1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For</a:t>
            </a:r>
            <a:endParaRPr lang="tr-TR" altLang="tr-TR" sz="1514" b="1" dirty="0" smtClean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rebuchet MS" panose="020B0603020202020204" pitchFamily="34" charset="0"/>
            </a:endParaRPr>
          </a:p>
          <a:p>
            <a:pPr lvl="1"/>
            <a:r>
              <a:rPr lang="tr-TR" altLang="tr-TR" sz="1814" b="1" dirty="0" err="1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While</a:t>
            </a:r>
            <a:endParaRPr lang="tr-TR" altLang="tr-TR" sz="1814" b="1" dirty="0" smtClean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rebuchet MS" panose="020B0603020202020204" pitchFamily="34" charset="0"/>
            </a:endParaRPr>
          </a:p>
          <a:p>
            <a:pPr lvl="1"/>
            <a:r>
              <a:rPr lang="tr-TR" altLang="tr-TR" sz="1814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Do</a:t>
            </a:r>
          </a:p>
          <a:p>
            <a:r>
              <a:rPr lang="tr-TR" altLang="tr-TR" sz="2114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Mantıksal </a:t>
            </a:r>
            <a:r>
              <a:rPr lang="tr-TR" altLang="tr-TR" sz="2114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İşleçler(</a:t>
            </a:r>
            <a:r>
              <a:rPr lang="tr-TR" altLang="tr-TR" sz="2114" b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And</a:t>
            </a:r>
            <a:r>
              <a:rPr lang="tr-TR" altLang="tr-TR" sz="2114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, </a:t>
            </a:r>
            <a:r>
              <a:rPr lang="tr-TR" altLang="tr-TR" sz="2114" b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Or</a:t>
            </a:r>
            <a:r>
              <a:rPr lang="tr-TR" altLang="tr-TR" sz="2114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, </a:t>
            </a:r>
            <a:r>
              <a:rPr lang="tr-TR" altLang="tr-TR" sz="2114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Not)</a:t>
            </a:r>
          </a:p>
          <a:p>
            <a:r>
              <a:rPr lang="tr-TR" altLang="tr-TR" sz="1814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Break-</a:t>
            </a:r>
            <a:r>
              <a:rPr lang="tr-TR" altLang="tr-TR" sz="1814" b="1" dirty="0" err="1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Continue</a:t>
            </a:r>
            <a:r>
              <a:rPr lang="tr-TR" altLang="tr-TR" sz="1814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 İfadeleri</a:t>
            </a:r>
          </a:p>
          <a:p>
            <a:r>
              <a:rPr lang="tr-TR" altLang="tr-TR" sz="1814" b="1" dirty="0" err="1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Goto</a:t>
            </a:r>
            <a:endParaRPr lang="tr-TR" altLang="tr-TR" sz="1814" b="1" dirty="0" smtClean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rebuchet MS" panose="020B0603020202020204" pitchFamily="34" charset="0"/>
            </a:endParaRPr>
          </a:p>
          <a:p>
            <a:r>
              <a:rPr lang="tr-TR" altLang="tr-TR" sz="1814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Sorular</a:t>
            </a:r>
          </a:p>
          <a:p>
            <a:r>
              <a:rPr lang="tr-TR" altLang="tr-TR" sz="1814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anose="020B0603020202020204" pitchFamily="34" charset="0"/>
              </a:rPr>
              <a:t>Kaynaklar</a:t>
            </a:r>
            <a:endParaRPr lang="tr-TR" altLang="tr-TR" sz="1814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rebuchet MS" panose="020B0603020202020204" pitchFamily="34" charset="0"/>
            </a:endParaRPr>
          </a:p>
          <a:p>
            <a:pPr marL="305285" algn="just"/>
            <a:endParaRPr lang="tr-TR" altLang="tr-TR" sz="1814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rebuchet MS" panose="020B0603020202020204" pitchFamily="34" charset="0"/>
            </a:endParaRPr>
          </a:p>
          <a:p>
            <a:endParaRPr lang="tr-TR" altLang="tr-TR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rebuchet MS" panose="020B0603020202020204" pitchFamily="34" charset="0"/>
            </a:endParaRPr>
          </a:p>
          <a:p>
            <a:pPr marL="305285" algn="just"/>
            <a:endParaRPr lang="tr-TR" altLang="tr-TR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rebuchet MS" panose="020B0603020202020204" pitchFamily="34" charset="0"/>
            </a:endParaRPr>
          </a:p>
          <a:p>
            <a:endParaRPr lang="tr-TR" dirty="0"/>
          </a:p>
          <a:p>
            <a:endParaRPr lang="tr-T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4005064"/>
            <a:ext cx="1900800" cy="190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6989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Program Blokları</a:t>
            </a:r>
            <a:endParaRPr lang="tr-TR" dirty="0"/>
          </a:p>
        </p:txBody>
      </p:sp>
      <p:sp>
        <p:nvSpPr>
          <p:cNvPr id="4" name="İçerik Yer Tutucusu 3"/>
          <p:cNvSpPr>
            <a:spLocks noGrp="1"/>
          </p:cNvSpPr>
          <p:nvPr>
            <p:ph idx="1"/>
          </p:nvPr>
        </p:nvSpPr>
        <p:spPr>
          <a:xfrm>
            <a:off x="179512" y="1020209"/>
            <a:ext cx="8784976" cy="752608"/>
          </a:xfrm>
        </p:spPr>
        <p:txBody>
          <a:bodyPr/>
          <a:lstStyle/>
          <a:p>
            <a:r>
              <a:rPr lang="tr-TR" dirty="0" smtClean="0"/>
              <a:t>Programlar 3 bloktan oluşur</a:t>
            </a:r>
            <a:endParaRPr lang="tr-TR" dirty="0"/>
          </a:p>
        </p:txBody>
      </p:sp>
      <p:sp>
        <p:nvSpPr>
          <p:cNvPr id="6" name="İçerik Yer Tutucusu 2"/>
          <p:cNvSpPr txBox="1">
            <a:spLocks/>
          </p:cNvSpPr>
          <p:nvPr/>
        </p:nvSpPr>
        <p:spPr>
          <a:xfrm>
            <a:off x="467544" y="1441353"/>
            <a:ext cx="2619879" cy="501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tr-TR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Sıralı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lang="tr-TR" altLang="tr-TR" sz="1600" dirty="0" smtClean="0">
                <a:solidFill>
                  <a:srgbClr val="000000"/>
                </a:solidFill>
              </a:rPr>
              <a:t>Bir dizi işlem birbiri ardından sırayla gerçekleştirilir.</a:t>
            </a:r>
          </a:p>
          <a:p>
            <a:pPr lvl="1" fontAlgn="auto">
              <a:spcAft>
                <a:spcPts val="0"/>
              </a:spcAft>
            </a:pPr>
            <a:endParaRPr lang="tr-TR" dirty="0"/>
          </a:p>
        </p:txBody>
      </p:sp>
      <p:sp>
        <p:nvSpPr>
          <p:cNvPr id="7" name="İçerik Yer Tutucusu 2"/>
          <p:cNvSpPr txBox="1">
            <a:spLocks/>
          </p:cNvSpPr>
          <p:nvPr/>
        </p:nvSpPr>
        <p:spPr>
          <a:xfrm>
            <a:off x="3044200" y="1441353"/>
            <a:ext cx="2679928" cy="501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tr-TR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Seçme / Kontrol </a:t>
            </a:r>
          </a:p>
          <a:p>
            <a:pPr marL="0" indent="0" algn="just">
              <a:buClr>
                <a:srgbClr val="FFFFFF"/>
              </a:buClr>
              <a:buNone/>
            </a:pPr>
            <a:r>
              <a:rPr lang="tr-TR" altLang="tr-TR" sz="1600" dirty="0">
                <a:solidFill>
                  <a:srgbClr val="000000"/>
                </a:solidFill>
              </a:rPr>
              <a:t>İki seçenekten hangisinin izleneceği koşula bağlıdır.</a:t>
            </a:r>
          </a:p>
          <a:p>
            <a:pPr lvl="1" fontAlgn="auto">
              <a:spcAft>
                <a:spcPts val="0"/>
              </a:spcAft>
            </a:pPr>
            <a:endParaRPr lang="tr-TR" dirty="0"/>
          </a:p>
        </p:txBody>
      </p:sp>
      <p:grpSp>
        <p:nvGrpSpPr>
          <p:cNvPr id="8" name="Group 8"/>
          <p:cNvGrpSpPr>
            <a:grpSpLocks/>
          </p:cNvGrpSpPr>
          <p:nvPr/>
        </p:nvGrpSpPr>
        <p:grpSpPr bwMode="auto">
          <a:xfrm>
            <a:off x="1092680" y="2691952"/>
            <a:ext cx="959040" cy="2517120"/>
            <a:chOff x="520" y="1441"/>
            <a:chExt cx="666" cy="1748"/>
          </a:xfrm>
        </p:grpSpPr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520" y="1803"/>
              <a:ext cx="666" cy="28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tr-TR" altLang="tr-TR" dirty="0">
                  <a:solidFill>
                    <a:srgbClr val="002060"/>
                  </a:solidFill>
                  <a:latin typeface="+mn-lt"/>
                  <a:cs typeface="+mn-cs"/>
                </a:rPr>
                <a:t>işlem </a:t>
              </a:r>
              <a:r>
                <a:rPr lang="en-AU" altLang="tr-TR" dirty="0">
                  <a:solidFill>
                    <a:srgbClr val="002060"/>
                  </a:solidFill>
                  <a:latin typeface="+mn-lt"/>
                  <a:cs typeface="+mn-cs"/>
                </a:rPr>
                <a:t>1</a:t>
              </a: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520" y="2403"/>
              <a:ext cx="666" cy="28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tr-TR" altLang="tr-TR" dirty="0">
                  <a:solidFill>
                    <a:srgbClr val="002060"/>
                  </a:solidFill>
                  <a:latin typeface="+mn-lt"/>
                  <a:cs typeface="+mn-cs"/>
                </a:rPr>
                <a:t>işlem </a:t>
              </a:r>
              <a:r>
                <a:rPr lang="en-AU" altLang="tr-TR" dirty="0">
                  <a:solidFill>
                    <a:srgbClr val="002060"/>
                  </a:solidFill>
                  <a:latin typeface="+mn-lt"/>
                  <a:cs typeface="+mn-cs"/>
                </a:rPr>
                <a:t>2</a:t>
              </a:r>
            </a:p>
          </p:txBody>
        </p:sp>
        <p:sp>
          <p:nvSpPr>
            <p:cNvPr id="11" name="Oval 11"/>
            <p:cNvSpPr>
              <a:spLocks noChangeArrowheads="1"/>
            </p:cNvSpPr>
            <p:nvPr/>
          </p:nvSpPr>
          <p:spPr bwMode="auto">
            <a:xfrm>
              <a:off x="760" y="1441"/>
              <a:ext cx="186" cy="18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tr-TR">
                <a:solidFill>
                  <a:srgbClr val="002060"/>
                </a:solidFill>
                <a:latin typeface="+mn-lt"/>
                <a:cs typeface="+mn-cs"/>
              </a:endParaRPr>
            </a:p>
          </p:txBody>
        </p:sp>
        <p:sp>
          <p:nvSpPr>
            <p:cNvPr id="12" name="Oval 12"/>
            <p:cNvSpPr>
              <a:spLocks noChangeArrowheads="1"/>
            </p:cNvSpPr>
            <p:nvPr/>
          </p:nvSpPr>
          <p:spPr bwMode="auto">
            <a:xfrm>
              <a:off x="760" y="3003"/>
              <a:ext cx="186" cy="18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tr-TR">
                <a:solidFill>
                  <a:srgbClr val="002060"/>
                </a:solidFill>
                <a:latin typeface="+mn-lt"/>
                <a:cs typeface="+mn-cs"/>
              </a:endParaRPr>
            </a:p>
          </p:txBody>
        </p:sp>
        <p:cxnSp>
          <p:nvCxnSpPr>
            <p:cNvPr id="13" name="AutoShape 13"/>
            <p:cNvCxnSpPr>
              <a:cxnSpLocks noChangeShapeType="1"/>
              <a:stCxn id="11" idx="4"/>
              <a:endCxn id="9" idx="0"/>
            </p:cNvCxnSpPr>
            <p:nvPr/>
          </p:nvCxnSpPr>
          <p:spPr bwMode="auto">
            <a:xfrm>
              <a:off x="853" y="1627"/>
              <a:ext cx="0" cy="176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AutoShape 14"/>
            <p:cNvCxnSpPr>
              <a:cxnSpLocks noChangeShapeType="1"/>
              <a:stCxn id="9" idx="2"/>
              <a:endCxn id="10" idx="0"/>
            </p:cNvCxnSpPr>
            <p:nvPr/>
          </p:nvCxnSpPr>
          <p:spPr bwMode="auto">
            <a:xfrm>
              <a:off x="853" y="2085"/>
              <a:ext cx="0" cy="318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" name="AutoShape 15"/>
            <p:cNvCxnSpPr>
              <a:cxnSpLocks noChangeShapeType="1"/>
              <a:stCxn id="10" idx="2"/>
              <a:endCxn id="12" idx="0"/>
            </p:cNvCxnSpPr>
            <p:nvPr/>
          </p:nvCxnSpPr>
          <p:spPr bwMode="auto">
            <a:xfrm>
              <a:off x="853" y="2685"/>
              <a:ext cx="0" cy="318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0" name="İçerik Yer Tutucusu 2"/>
          <p:cNvSpPr txBox="1">
            <a:spLocks/>
          </p:cNvSpPr>
          <p:nvPr/>
        </p:nvSpPr>
        <p:spPr>
          <a:xfrm>
            <a:off x="6012160" y="1441353"/>
            <a:ext cx="2808312" cy="501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tr-TR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Döngü</a:t>
            </a:r>
          </a:p>
          <a:p>
            <a:pPr marL="0" indent="0" algn="just">
              <a:buClr>
                <a:srgbClr val="FFFFFF"/>
              </a:buClr>
              <a:buNone/>
            </a:pPr>
            <a:r>
              <a:rPr lang="tr-TR" altLang="tr-TR" sz="1600" dirty="0">
                <a:solidFill>
                  <a:srgbClr val="000000"/>
                </a:solidFill>
              </a:rPr>
              <a:t>İki seçenekten hangisinin izleneceği koşula bağlıdır.</a:t>
            </a:r>
          </a:p>
          <a:p>
            <a:pPr lvl="1" fontAlgn="auto">
              <a:spcAft>
                <a:spcPts val="0"/>
              </a:spcAft>
            </a:pPr>
            <a:endParaRPr lang="tr-TR" dirty="0"/>
          </a:p>
        </p:txBody>
      </p:sp>
      <p:grpSp>
        <p:nvGrpSpPr>
          <p:cNvPr id="57" name="Grup 56"/>
          <p:cNvGrpSpPr/>
          <p:nvPr/>
        </p:nvGrpSpPr>
        <p:grpSpPr>
          <a:xfrm>
            <a:off x="6458816" y="2636912"/>
            <a:ext cx="1857600" cy="2626560"/>
            <a:chOff x="4370584" y="2712120"/>
            <a:chExt cx="1857600" cy="2626560"/>
          </a:xfrm>
        </p:grpSpPr>
        <p:grpSp>
          <p:nvGrpSpPr>
            <p:cNvPr id="58" name="Group 17"/>
            <p:cNvGrpSpPr>
              <a:grpSpLocks/>
            </p:cNvGrpSpPr>
            <p:nvPr/>
          </p:nvGrpSpPr>
          <p:grpSpPr bwMode="auto">
            <a:xfrm>
              <a:off x="4370584" y="2712120"/>
              <a:ext cx="1857600" cy="2626560"/>
              <a:chOff x="2200" y="1409"/>
              <a:chExt cx="1290" cy="1824"/>
            </a:xfrm>
          </p:grpSpPr>
          <p:sp>
            <p:nvSpPr>
              <p:cNvPr id="62" name="AutoShape 18"/>
              <p:cNvSpPr>
                <a:spLocks noChangeArrowheads="1"/>
              </p:cNvSpPr>
              <p:nvPr/>
            </p:nvSpPr>
            <p:spPr bwMode="auto">
              <a:xfrm>
                <a:off x="2200" y="2291"/>
                <a:ext cx="762" cy="510"/>
              </a:xfrm>
              <a:prstGeom prst="diamond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rgbClr val="00206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algn="ctr"/>
                <a:r>
                  <a:rPr lang="tr-TR" altLang="tr-TR" dirty="0">
                    <a:solidFill>
                      <a:srgbClr val="002060"/>
                    </a:solidFill>
                    <a:latin typeface="+mn-lt"/>
                    <a:cs typeface="+mn-cs"/>
                  </a:rPr>
                  <a:t>koşul</a:t>
                </a:r>
              </a:p>
            </p:txBody>
          </p:sp>
          <p:sp>
            <p:nvSpPr>
              <p:cNvPr id="64" name="Rectangle 20"/>
              <p:cNvSpPr>
                <a:spLocks noChangeArrowheads="1"/>
              </p:cNvSpPr>
              <p:nvPr/>
            </p:nvSpPr>
            <p:spPr bwMode="auto">
              <a:xfrm>
                <a:off x="2824" y="1951"/>
                <a:ext cx="666" cy="28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rgbClr val="00206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tr-TR" altLang="tr-TR">
                    <a:solidFill>
                      <a:srgbClr val="002060"/>
                    </a:solidFill>
                    <a:latin typeface="+mn-lt"/>
                    <a:cs typeface="+mn-cs"/>
                  </a:rPr>
                  <a:t>işlem </a:t>
                </a:r>
                <a:r>
                  <a:rPr lang="en-AU" altLang="tr-TR">
                    <a:solidFill>
                      <a:srgbClr val="002060"/>
                    </a:solidFill>
                    <a:latin typeface="+mn-lt"/>
                    <a:cs typeface="+mn-cs"/>
                  </a:rPr>
                  <a:t>2</a:t>
                </a:r>
              </a:p>
            </p:txBody>
          </p:sp>
          <p:sp>
            <p:nvSpPr>
              <p:cNvPr id="65" name="Oval 21"/>
              <p:cNvSpPr>
                <a:spLocks noChangeArrowheads="1"/>
              </p:cNvSpPr>
              <p:nvPr/>
            </p:nvSpPr>
            <p:spPr bwMode="auto">
              <a:xfrm>
                <a:off x="2488" y="1409"/>
                <a:ext cx="186" cy="186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rgbClr val="00206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tr-TR">
                  <a:solidFill>
                    <a:srgbClr val="002060"/>
                  </a:solidFill>
                  <a:latin typeface="+mn-lt"/>
                  <a:cs typeface="+mn-cs"/>
                </a:endParaRPr>
              </a:p>
            </p:txBody>
          </p:sp>
          <p:sp>
            <p:nvSpPr>
              <p:cNvPr id="66" name="Oval 22"/>
              <p:cNvSpPr>
                <a:spLocks noChangeArrowheads="1"/>
              </p:cNvSpPr>
              <p:nvPr/>
            </p:nvSpPr>
            <p:spPr bwMode="auto">
              <a:xfrm>
                <a:off x="2486" y="3047"/>
                <a:ext cx="186" cy="186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rgbClr val="00206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tr-TR">
                  <a:solidFill>
                    <a:srgbClr val="002060"/>
                  </a:solidFill>
                  <a:latin typeface="+mn-lt"/>
                  <a:cs typeface="+mn-cs"/>
                </a:endParaRPr>
              </a:p>
            </p:txBody>
          </p:sp>
          <p:cxnSp>
            <p:nvCxnSpPr>
              <p:cNvPr id="67" name="AutoShape 23"/>
              <p:cNvCxnSpPr>
                <a:cxnSpLocks noChangeShapeType="1"/>
                <a:stCxn id="65" idx="4"/>
                <a:endCxn id="62" idx="0"/>
              </p:cNvCxnSpPr>
              <p:nvPr/>
            </p:nvCxnSpPr>
            <p:spPr bwMode="auto">
              <a:xfrm>
                <a:off x="2581" y="1595"/>
                <a:ext cx="0" cy="696"/>
              </a:xfrm>
              <a:prstGeom prst="straightConnector1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rgbClr val="002060"/>
                </a:solidFill>
                <a:headEnd type="none" w="med" len="med"/>
                <a:tailEnd type="triangl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60" name="Dirsek Bağlayıcısı 59"/>
            <p:cNvCxnSpPr>
              <a:stCxn id="62" idx="3"/>
              <a:endCxn id="64" idx="2"/>
            </p:cNvCxnSpPr>
            <p:nvPr/>
          </p:nvCxnSpPr>
          <p:spPr>
            <a:xfrm flipV="1">
              <a:off x="5467864" y="3898680"/>
              <a:ext cx="280800" cy="450720"/>
            </a:xfrm>
            <a:prstGeom prst="bentConnector2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70" name="Grup 69"/>
          <p:cNvGrpSpPr/>
          <p:nvPr/>
        </p:nvGrpSpPr>
        <p:grpSpPr>
          <a:xfrm>
            <a:off x="2987824" y="2712120"/>
            <a:ext cx="2579231" cy="2352960"/>
            <a:chOff x="2987824" y="2712120"/>
            <a:chExt cx="2579231" cy="2352960"/>
          </a:xfrm>
        </p:grpSpPr>
        <p:grpSp>
          <p:nvGrpSpPr>
            <p:cNvPr id="55" name="Grup 54"/>
            <p:cNvGrpSpPr/>
            <p:nvPr/>
          </p:nvGrpSpPr>
          <p:grpSpPr>
            <a:xfrm>
              <a:off x="2987824" y="2712120"/>
              <a:ext cx="2138400" cy="2352960"/>
              <a:chOff x="3610264" y="2712120"/>
              <a:chExt cx="2138400" cy="2352960"/>
            </a:xfrm>
          </p:grpSpPr>
          <p:grpSp>
            <p:nvGrpSpPr>
              <p:cNvPr id="16" name="Group 17"/>
              <p:cNvGrpSpPr>
                <a:grpSpLocks/>
              </p:cNvGrpSpPr>
              <p:nvPr/>
            </p:nvGrpSpPr>
            <p:grpSpPr bwMode="auto">
              <a:xfrm>
                <a:off x="3610264" y="2712120"/>
                <a:ext cx="2138400" cy="2352960"/>
                <a:chOff x="1672" y="1409"/>
                <a:chExt cx="1485" cy="1634"/>
              </a:xfrm>
            </p:grpSpPr>
            <p:sp>
              <p:nvSpPr>
                <p:cNvPr id="17" name="AutoShape 18"/>
                <p:cNvSpPr>
                  <a:spLocks noChangeArrowheads="1"/>
                </p:cNvSpPr>
                <p:nvPr/>
              </p:nvSpPr>
              <p:spPr bwMode="auto">
                <a:xfrm>
                  <a:off x="2200" y="1873"/>
                  <a:ext cx="762" cy="510"/>
                </a:xfrm>
                <a:prstGeom prst="diamond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rgbClr val="00206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algn="ctr"/>
                  <a:r>
                    <a:rPr lang="tr-TR" altLang="tr-TR" dirty="0">
                      <a:solidFill>
                        <a:srgbClr val="002060"/>
                      </a:solidFill>
                      <a:latin typeface="+mn-lt"/>
                      <a:cs typeface="+mn-cs"/>
                    </a:rPr>
                    <a:t>koşul</a:t>
                  </a:r>
                </a:p>
              </p:txBody>
            </p:sp>
            <p:sp>
              <p:nvSpPr>
                <p:cNvPr id="18" name="Rectangle 19"/>
                <p:cNvSpPr>
                  <a:spLocks noChangeArrowheads="1"/>
                </p:cNvSpPr>
                <p:nvPr/>
              </p:nvSpPr>
              <p:spPr bwMode="auto">
                <a:xfrm>
                  <a:off x="1672" y="2457"/>
                  <a:ext cx="666" cy="28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rgbClr val="00206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r>
                    <a:rPr lang="tr-TR" altLang="tr-TR">
                      <a:solidFill>
                        <a:srgbClr val="002060"/>
                      </a:solidFill>
                      <a:latin typeface="+mn-lt"/>
                      <a:cs typeface="+mn-cs"/>
                    </a:rPr>
                    <a:t>işlem </a:t>
                  </a:r>
                  <a:r>
                    <a:rPr lang="en-AU" altLang="tr-TR">
                      <a:solidFill>
                        <a:srgbClr val="002060"/>
                      </a:solidFill>
                      <a:latin typeface="+mn-lt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20" name="Oval 21"/>
                <p:cNvSpPr>
                  <a:spLocks noChangeArrowheads="1"/>
                </p:cNvSpPr>
                <p:nvPr/>
              </p:nvSpPr>
              <p:spPr bwMode="auto">
                <a:xfrm>
                  <a:off x="2488" y="1409"/>
                  <a:ext cx="186" cy="186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rgbClr val="00206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lang="tr-TR">
                    <a:solidFill>
                      <a:srgbClr val="002060"/>
                    </a:solidFill>
                    <a:latin typeface="+mn-lt"/>
                    <a:cs typeface="+mn-cs"/>
                  </a:endParaRPr>
                </a:p>
              </p:txBody>
            </p:sp>
            <p:sp>
              <p:nvSpPr>
                <p:cNvPr id="21" name="Oval 22"/>
                <p:cNvSpPr>
                  <a:spLocks noChangeArrowheads="1"/>
                </p:cNvSpPr>
                <p:nvPr/>
              </p:nvSpPr>
              <p:spPr bwMode="auto">
                <a:xfrm>
                  <a:off x="2488" y="2857"/>
                  <a:ext cx="186" cy="186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rgbClr val="00206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lang="tr-TR">
                    <a:solidFill>
                      <a:srgbClr val="002060"/>
                    </a:solidFill>
                    <a:latin typeface="+mn-lt"/>
                    <a:cs typeface="+mn-cs"/>
                  </a:endParaRPr>
                </a:p>
              </p:txBody>
            </p:sp>
            <p:cxnSp>
              <p:nvCxnSpPr>
                <p:cNvPr id="22" name="AutoShape 23"/>
                <p:cNvCxnSpPr>
                  <a:cxnSpLocks noChangeShapeType="1"/>
                  <a:stCxn id="20" idx="4"/>
                  <a:endCxn id="17" idx="0"/>
                </p:cNvCxnSpPr>
                <p:nvPr/>
              </p:nvCxnSpPr>
              <p:spPr bwMode="auto">
                <a:xfrm>
                  <a:off x="2581" y="1595"/>
                  <a:ext cx="0" cy="278"/>
                </a:xfrm>
                <a:prstGeom prst="straightConnector1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rgbClr val="002060"/>
                  </a:solidFill>
                  <a:headEnd type="none" w="med" len="med"/>
                  <a:tailEnd type="triangl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6" name="AutoShape 27"/>
                <p:cNvCxnSpPr>
                  <a:cxnSpLocks noChangeShapeType="1"/>
                  <a:endCxn id="21" idx="6"/>
                </p:cNvCxnSpPr>
                <p:nvPr/>
              </p:nvCxnSpPr>
              <p:spPr bwMode="auto">
                <a:xfrm rot="5400000">
                  <a:off x="2810" y="2603"/>
                  <a:ext cx="211" cy="483"/>
                </a:xfrm>
                <a:prstGeom prst="bentConnector2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rgbClr val="002060"/>
                  </a:solidFill>
                  <a:headEnd type="none" w="med" len="med"/>
                  <a:tailEnd type="triangl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cxnSp>
            <p:nvCxnSpPr>
              <p:cNvPr id="30" name="Dirsek Bağlayıcısı 29"/>
              <p:cNvCxnSpPr>
                <a:stCxn id="17" idx="1"/>
                <a:endCxn id="18" idx="0"/>
              </p:cNvCxnSpPr>
              <p:nvPr/>
            </p:nvCxnSpPr>
            <p:spPr>
              <a:xfrm rot="10800000" flipV="1">
                <a:off x="4089784" y="3747480"/>
                <a:ext cx="280800" cy="473760"/>
              </a:xfrm>
              <a:prstGeom prst="bentConnector2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rgbClr val="002060"/>
                </a:solidFill>
                <a:headEnd type="none" w="med" len="med"/>
                <a:tailEnd type="triangl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2" name="Dirsek Bağlayıcısı 31"/>
              <p:cNvCxnSpPr>
                <a:stCxn id="17" idx="3"/>
              </p:cNvCxnSpPr>
              <p:nvPr/>
            </p:nvCxnSpPr>
            <p:spPr>
              <a:xfrm>
                <a:off x="5467864" y="3747480"/>
                <a:ext cx="280800" cy="473760"/>
              </a:xfrm>
              <a:prstGeom prst="bentConnector2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rgbClr val="002060"/>
                </a:solidFill>
                <a:headEnd type="none" w="med" len="med"/>
                <a:tailEnd type="triangl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" name="AutoShape 27"/>
              <p:cNvCxnSpPr>
                <a:cxnSpLocks noChangeShapeType="1"/>
                <a:stCxn id="18" idx="2"/>
                <a:endCxn id="21" idx="2"/>
              </p:cNvCxnSpPr>
              <p:nvPr/>
            </p:nvCxnSpPr>
            <p:spPr bwMode="auto">
              <a:xfrm rot="16200000" flipH="1">
                <a:off x="4285624" y="4431480"/>
                <a:ext cx="303840" cy="695520"/>
              </a:xfrm>
              <a:prstGeom prst="bentConnector2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rgbClr val="002060"/>
                </a:solidFill>
                <a:headEnd type="none" w="med" len="med"/>
                <a:tailEnd type="triangl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9" name="Rectangle 20"/>
            <p:cNvSpPr>
              <a:spLocks noChangeArrowheads="1"/>
            </p:cNvSpPr>
            <p:nvPr/>
          </p:nvSpPr>
          <p:spPr bwMode="auto">
            <a:xfrm>
              <a:off x="4608015" y="4239776"/>
              <a:ext cx="959040" cy="40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tr-TR" altLang="tr-TR" dirty="0">
                  <a:solidFill>
                    <a:srgbClr val="002060"/>
                  </a:solidFill>
                  <a:latin typeface="+mn-lt"/>
                  <a:cs typeface="+mn-cs"/>
                </a:rPr>
                <a:t>işlem </a:t>
              </a:r>
              <a:r>
                <a:rPr lang="en-AU" altLang="tr-TR" dirty="0">
                  <a:solidFill>
                    <a:srgbClr val="002060"/>
                  </a:solidFill>
                  <a:latin typeface="+mn-lt"/>
                  <a:cs typeface="+mn-cs"/>
                </a:rPr>
                <a:t>2</a:t>
              </a:r>
            </a:p>
          </p:txBody>
        </p:sp>
      </p:grpSp>
      <p:cxnSp>
        <p:nvCxnSpPr>
          <p:cNvPr id="72" name="Dirsek Bağlayıcısı 71"/>
          <p:cNvCxnSpPr>
            <a:stCxn id="64" idx="0"/>
          </p:cNvCxnSpPr>
          <p:nvPr/>
        </p:nvCxnSpPr>
        <p:spPr>
          <a:xfrm rot="16200000" flipV="1">
            <a:off x="7289816" y="2870312"/>
            <a:ext cx="264720" cy="829440"/>
          </a:xfrm>
          <a:prstGeom prst="bentConnector2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2060"/>
            </a:solidFill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5" name="AutoShape 23"/>
          <p:cNvCxnSpPr>
            <a:cxnSpLocks noChangeShapeType="1"/>
            <a:stCxn id="62" idx="2"/>
            <a:endCxn id="66" idx="0"/>
          </p:cNvCxnSpPr>
          <p:nvPr/>
        </p:nvCxnSpPr>
        <p:spPr bwMode="auto">
          <a:xfrm flipH="1">
            <a:off x="7004576" y="4641392"/>
            <a:ext cx="2880" cy="354240"/>
          </a:xfrm>
          <a:prstGeom prst="straightConnector1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002060"/>
            </a:solidFill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697075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Sıra Yapısı</a:t>
            </a:r>
            <a:endParaRPr lang="tr-TR" dirty="0"/>
          </a:p>
        </p:txBody>
      </p:sp>
      <p:sp>
        <p:nvSpPr>
          <p:cNvPr id="4" name="İçerik Yer Tutucusu 3"/>
          <p:cNvSpPr>
            <a:spLocks noGrp="1"/>
          </p:cNvSpPr>
          <p:nvPr>
            <p:ph idx="1"/>
          </p:nvPr>
        </p:nvSpPr>
        <p:spPr>
          <a:xfrm>
            <a:off x="179512" y="1020208"/>
            <a:ext cx="6745817" cy="5001080"/>
          </a:xfrm>
        </p:spPr>
        <p:txBody>
          <a:bodyPr>
            <a:normAutofit/>
          </a:bodyPr>
          <a:lstStyle/>
          <a:p>
            <a:pPr algn="just"/>
            <a:r>
              <a:rPr lang="tr-TR" altLang="tr-TR" dirty="0" smtClean="0">
                <a:solidFill>
                  <a:srgbClr val="000000"/>
                </a:solidFill>
              </a:rPr>
              <a:t>En </a:t>
            </a:r>
            <a:r>
              <a:rPr lang="tr-TR" altLang="tr-TR" dirty="0">
                <a:solidFill>
                  <a:srgbClr val="000000"/>
                </a:solidFill>
              </a:rPr>
              <a:t>basit akış şeması ifadeleri, bir dizi işlemin birbiri ardından sırasıyla yapılmasını şeklinde olan akış ifadeleridir. Bu tip akışlar oldukça yalın ve basittir. </a:t>
            </a:r>
            <a:endParaRPr lang="tr-TR" altLang="tr-TR" dirty="0" smtClean="0">
              <a:solidFill>
                <a:srgbClr val="000000"/>
              </a:solidFill>
            </a:endParaRPr>
          </a:p>
          <a:p>
            <a:pPr algn="just"/>
            <a:r>
              <a:rPr lang="tr-TR" altLang="tr-TR" dirty="0" smtClean="0">
                <a:solidFill>
                  <a:srgbClr val="000000"/>
                </a:solidFill>
              </a:rPr>
              <a:t>Bu </a:t>
            </a:r>
            <a:r>
              <a:rPr lang="tr-TR" altLang="tr-TR" dirty="0">
                <a:solidFill>
                  <a:srgbClr val="000000"/>
                </a:solidFill>
              </a:rPr>
              <a:t>tarz akışlar genelde bir problemin bir parçasını çözümlemek ve ifade etmek için kullanılır.    </a:t>
            </a:r>
            <a:endParaRPr lang="tr-TR" altLang="tr-TR" dirty="0" smtClean="0">
              <a:solidFill>
                <a:srgbClr val="000000"/>
              </a:solidFill>
            </a:endParaRPr>
          </a:p>
          <a:p>
            <a:pPr algn="just"/>
            <a:r>
              <a:rPr lang="tr-TR" altLang="tr-TR" dirty="0" smtClean="0">
                <a:solidFill>
                  <a:srgbClr val="000000"/>
                </a:solidFill>
              </a:rPr>
              <a:t>Sorgu </a:t>
            </a:r>
            <a:r>
              <a:rPr lang="tr-TR" altLang="tr-TR" dirty="0">
                <a:solidFill>
                  <a:srgbClr val="000000"/>
                </a:solidFill>
              </a:rPr>
              <a:t>ve tekrar gerektirmeyen bazı basit ardışık problemler de bu tip akış kullanabilir. </a:t>
            </a:r>
            <a:endParaRPr lang="tr-TR" altLang="tr-TR" dirty="0" smtClean="0">
              <a:solidFill>
                <a:srgbClr val="000000"/>
              </a:solidFill>
            </a:endParaRPr>
          </a:p>
          <a:p>
            <a:pPr algn="just"/>
            <a:r>
              <a:rPr lang="tr-TR" altLang="tr-TR" u="sng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ÖRNEK:</a:t>
            </a:r>
            <a:r>
              <a:rPr lang="tr-TR" altLang="tr-TR" dirty="0" smtClean="0">
                <a:solidFill>
                  <a:srgbClr val="FF0000"/>
                </a:solidFill>
              </a:rPr>
              <a:t> </a:t>
            </a:r>
          </a:p>
          <a:p>
            <a:pPr lvl="1" algn="just"/>
            <a:r>
              <a:rPr lang="tr-TR" altLang="tr-TR" sz="2400" dirty="0" smtClean="0">
                <a:solidFill>
                  <a:srgbClr val="000000"/>
                </a:solidFill>
              </a:rPr>
              <a:t>Klavyeden </a:t>
            </a:r>
            <a:r>
              <a:rPr lang="tr-TR" altLang="tr-TR" sz="2400" dirty="0">
                <a:solidFill>
                  <a:srgbClr val="000000"/>
                </a:solidFill>
              </a:rPr>
              <a:t>girilen iki sayıyı okuyup aritmetik ortalamasını hesaplayan ve sonucu ekrana yazan bir programın akışı yandaki şekilde gibi ifade edilebilir.</a:t>
            </a:r>
          </a:p>
          <a:p>
            <a:pPr lvl="1" algn="just"/>
            <a:endParaRPr lang="tr-T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6948264" y="1124744"/>
            <a:ext cx="1979712" cy="4176392"/>
            <a:chOff x="7020272" y="1376808"/>
            <a:chExt cx="1512000" cy="2952256"/>
          </a:xfrm>
        </p:grpSpPr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7308304" y="2078072"/>
              <a:ext cx="959040" cy="324000"/>
            </a:xfrm>
            <a:prstGeom prst="flowChartInputOutpu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tr-TR" altLang="tr-TR" dirty="0">
                  <a:solidFill>
                    <a:srgbClr val="002060"/>
                  </a:solidFill>
                </a:rPr>
                <a:t>a</a:t>
              </a:r>
              <a:r>
                <a:rPr lang="tr-TR" altLang="tr-TR" dirty="0" smtClean="0">
                  <a:solidFill>
                    <a:srgbClr val="002060"/>
                  </a:solidFill>
                  <a:latin typeface="+mn-lt"/>
                  <a:cs typeface="+mn-cs"/>
                </a:rPr>
                <a:t>, </a:t>
              </a:r>
              <a:r>
                <a:rPr lang="tr-TR" altLang="tr-TR" dirty="0">
                  <a:solidFill>
                    <a:srgbClr val="002060"/>
                  </a:solidFill>
                </a:rPr>
                <a:t>b</a:t>
              </a:r>
              <a:endParaRPr lang="en-AU" altLang="tr-TR" dirty="0">
                <a:solidFill>
                  <a:srgbClr val="002060"/>
                </a:solidFill>
                <a:latin typeface="+mn-lt"/>
                <a:cs typeface="+mn-cs"/>
              </a:endParaRP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7020272" y="2708920"/>
              <a:ext cx="1512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tr-TR" altLang="tr-TR" dirty="0" err="1">
                  <a:solidFill>
                    <a:srgbClr val="002060"/>
                  </a:solidFill>
                </a:rPr>
                <a:t>o</a:t>
              </a:r>
              <a:r>
                <a:rPr lang="tr-TR" altLang="tr-TR" dirty="0" err="1" smtClean="0">
                  <a:solidFill>
                    <a:srgbClr val="002060"/>
                  </a:solidFill>
                  <a:latin typeface="+mn-lt"/>
                  <a:cs typeface="+mn-cs"/>
                </a:rPr>
                <a:t>rt</a:t>
              </a:r>
              <a:r>
                <a:rPr lang="tr-TR" altLang="tr-TR" dirty="0" smtClean="0">
                  <a:solidFill>
                    <a:srgbClr val="002060"/>
                  </a:solidFill>
                  <a:latin typeface="+mn-lt"/>
                  <a:cs typeface="+mn-cs"/>
                </a:rPr>
                <a:t> = (a + b)/2</a:t>
              </a:r>
              <a:endParaRPr lang="en-AU" altLang="tr-TR" dirty="0">
                <a:solidFill>
                  <a:srgbClr val="002060"/>
                </a:solidFill>
                <a:latin typeface="+mn-lt"/>
                <a:cs typeface="+mn-cs"/>
              </a:endParaRPr>
            </a:p>
          </p:txBody>
        </p:sp>
        <p:sp>
          <p:nvSpPr>
            <p:cNvPr id="11" name="Oval 11"/>
            <p:cNvSpPr>
              <a:spLocks noChangeArrowheads="1"/>
            </p:cNvSpPr>
            <p:nvPr/>
          </p:nvSpPr>
          <p:spPr bwMode="auto">
            <a:xfrm>
              <a:off x="7308304" y="1376808"/>
              <a:ext cx="950400" cy="324000"/>
            </a:xfrm>
            <a:prstGeom prst="flowChartTerminator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tr-TR" dirty="0" smtClean="0">
                  <a:solidFill>
                    <a:srgbClr val="002060"/>
                  </a:solidFill>
                  <a:latin typeface="+mn-lt"/>
                  <a:cs typeface="+mn-cs"/>
                </a:rPr>
                <a:t>BAŞLA</a:t>
              </a:r>
              <a:endParaRPr lang="tr-TR" dirty="0">
                <a:solidFill>
                  <a:srgbClr val="002060"/>
                </a:solidFill>
                <a:latin typeface="+mn-lt"/>
                <a:cs typeface="+mn-cs"/>
              </a:endParaRPr>
            </a:p>
          </p:txBody>
        </p:sp>
        <p:cxnSp>
          <p:nvCxnSpPr>
            <p:cNvPr id="13" name="AutoShape 13"/>
            <p:cNvCxnSpPr>
              <a:cxnSpLocks noChangeShapeType="1"/>
              <a:stCxn id="11" idx="2"/>
              <a:endCxn id="9" idx="1"/>
            </p:cNvCxnSpPr>
            <p:nvPr/>
          </p:nvCxnSpPr>
          <p:spPr bwMode="auto">
            <a:xfrm>
              <a:off x="7783504" y="1700808"/>
              <a:ext cx="4320" cy="377264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AutoShape 14"/>
            <p:cNvCxnSpPr>
              <a:cxnSpLocks noChangeShapeType="1"/>
            </p:cNvCxnSpPr>
            <p:nvPr/>
          </p:nvCxnSpPr>
          <p:spPr bwMode="auto">
            <a:xfrm flipH="1">
              <a:off x="7740352" y="2402072"/>
              <a:ext cx="0" cy="306848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" name="AutoShape 15"/>
            <p:cNvCxnSpPr>
              <a:cxnSpLocks noChangeShapeType="1"/>
              <a:stCxn id="10" idx="2"/>
              <a:endCxn id="39" idx="0"/>
            </p:cNvCxnSpPr>
            <p:nvPr/>
          </p:nvCxnSpPr>
          <p:spPr bwMode="auto">
            <a:xfrm>
              <a:off x="7776272" y="3068920"/>
              <a:ext cx="0" cy="288072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9" name="Rectangle 10"/>
            <p:cNvSpPr>
              <a:spLocks noChangeArrowheads="1"/>
            </p:cNvSpPr>
            <p:nvPr/>
          </p:nvSpPr>
          <p:spPr bwMode="auto">
            <a:xfrm>
              <a:off x="7236296" y="3356992"/>
              <a:ext cx="1079952" cy="360000"/>
            </a:xfrm>
            <a:prstGeom prst="flowChartDisp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tr-TR" altLang="tr-TR" dirty="0" err="1" smtClean="0">
                  <a:solidFill>
                    <a:srgbClr val="002060"/>
                  </a:solidFill>
                </a:rPr>
                <a:t>ort</a:t>
              </a:r>
              <a:endParaRPr lang="en-AU" altLang="tr-TR" dirty="0">
                <a:solidFill>
                  <a:srgbClr val="002060"/>
                </a:solidFill>
                <a:latin typeface="+mn-lt"/>
                <a:cs typeface="+mn-cs"/>
              </a:endParaRPr>
            </a:p>
          </p:txBody>
        </p:sp>
        <p:cxnSp>
          <p:nvCxnSpPr>
            <p:cNvPr id="41" name="AutoShape 15"/>
            <p:cNvCxnSpPr>
              <a:cxnSpLocks noChangeShapeType="1"/>
              <a:stCxn id="39" idx="2"/>
              <a:endCxn id="44" idx="0"/>
            </p:cNvCxnSpPr>
            <p:nvPr/>
          </p:nvCxnSpPr>
          <p:spPr bwMode="auto">
            <a:xfrm flipH="1">
              <a:off x="7766086" y="3716992"/>
              <a:ext cx="10186" cy="288072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4" name="Oval 11"/>
            <p:cNvSpPr>
              <a:spLocks noChangeArrowheads="1"/>
            </p:cNvSpPr>
            <p:nvPr/>
          </p:nvSpPr>
          <p:spPr bwMode="auto">
            <a:xfrm>
              <a:off x="7290886" y="4005064"/>
              <a:ext cx="950400" cy="324000"/>
            </a:xfrm>
            <a:prstGeom prst="flowChartTerminator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tr-TR" dirty="0" smtClean="0">
                  <a:solidFill>
                    <a:srgbClr val="002060"/>
                  </a:solidFill>
                  <a:latin typeface="+mn-lt"/>
                  <a:cs typeface="+mn-cs"/>
                </a:rPr>
                <a:t>DUR</a:t>
              </a:r>
              <a:endParaRPr lang="tr-TR" dirty="0">
                <a:solidFill>
                  <a:srgbClr val="002060"/>
                </a:solidFill>
                <a:latin typeface="+mn-lt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1935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Seçme/Kontrol Yapıları</a:t>
            </a:r>
            <a:endParaRPr lang="tr-TR" dirty="0"/>
          </a:p>
        </p:txBody>
      </p:sp>
      <p:sp>
        <p:nvSpPr>
          <p:cNvPr id="4" name="İçerik Yer Tutucusu 3"/>
          <p:cNvSpPr>
            <a:spLocks noGrp="1"/>
          </p:cNvSpPr>
          <p:nvPr>
            <p:ph idx="1"/>
          </p:nvPr>
        </p:nvSpPr>
        <p:spPr>
          <a:xfrm>
            <a:off x="179512" y="1020208"/>
            <a:ext cx="8424936" cy="5001080"/>
          </a:xfrm>
        </p:spPr>
        <p:txBody>
          <a:bodyPr>
            <a:normAutofit/>
          </a:bodyPr>
          <a:lstStyle/>
          <a:p>
            <a:pPr marL="171450" lvl="1">
              <a:spcBef>
                <a:spcPts val="750"/>
              </a:spcBef>
            </a:pPr>
            <a:r>
              <a:rPr lang="tr-TR" altLang="tr-TR" sz="2400" dirty="0">
                <a:solidFill>
                  <a:srgbClr val="000000"/>
                </a:solidFill>
              </a:rPr>
              <a:t>Karar </a:t>
            </a:r>
            <a:r>
              <a:rPr lang="tr-TR" altLang="tr-TR" sz="2400" dirty="0" smtClean="0">
                <a:solidFill>
                  <a:srgbClr val="000000"/>
                </a:solidFill>
              </a:rPr>
              <a:t>yapıları</a:t>
            </a:r>
          </a:p>
          <a:p>
            <a:pPr marL="514350" lvl="2">
              <a:spcBef>
                <a:spcPts val="750"/>
              </a:spcBef>
            </a:pPr>
            <a:r>
              <a:rPr lang="tr-TR" altLang="tr-TR" sz="2400" dirty="0">
                <a:solidFill>
                  <a:srgbClr val="000000"/>
                </a:solidFill>
              </a:rPr>
              <a:t>Ö</a:t>
            </a:r>
            <a:r>
              <a:rPr lang="tr-TR" altLang="tr-TR" sz="2400" dirty="0" smtClean="0">
                <a:solidFill>
                  <a:srgbClr val="000000"/>
                </a:solidFill>
              </a:rPr>
              <a:t>ne </a:t>
            </a:r>
            <a:r>
              <a:rPr lang="tr-TR" altLang="tr-TR" sz="2400" dirty="0">
                <a:solidFill>
                  <a:srgbClr val="000000"/>
                </a:solidFill>
              </a:rPr>
              <a:t>sürülen koşulun doğru veya yanlış sonuç vermesine göre farklı kod bloklarını yürüten fonksiyonlardır.</a:t>
            </a:r>
          </a:p>
          <a:p>
            <a:pPr lvl="2"/>
            <a:r>
              <a:rPr lang="tr-TR" altLang="tr-TR" sz="24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tr-TR" altLang="tr-TR" sz="2400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endParaRPr lang="tr-TR" altLang="tr-TR" sz="24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tr-TR" altLang="tr-TR" sz="2400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</a:t>
            </a:r>
            <a:r>
              <a:rPr lang="tr-TR" altLang="tr-T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/ else</a:t>
            </a:r>
          </a:p>
          <a:p>
            <a:pPr lvl="2"/>
            <a:r>
              <a:rPr lang="tr-TR" altLang="tr-TR" sz="2400" dirty="0" smtClean="0">
                <a:solidFill>
                  <a:srgbClr val="000000"/>
                </a:solidFill>
              </a:rPr>
              <a:t>İç içe </a:t>
            </a:r>
            <a:r>
              <a:rPr lang="tr-TR" altLang="tr-TR" sz="2400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</a:t>
            </a:r>
            <a:r>
              <a:rPr lang="tr-TR" altLang="tr-T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/ else  </a:t>
            </a:r>
            <a:r>
              <a:rPr lang="tr-TR" altLang="tr-TR" sz="2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tr-TR" altLang="tr-TR" sz="2400" b="1" dirty="0" err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</a:t>
            </a:r>
            <a:r>
              <a:rPr lang="tr-TR" altLang="tr-TR" sz="2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/else </a:t>
            </a:r>
            <a:r>
              <a:rPr lang="tr-TR" altLang="tr-TR" sz="2400" b="1" dirty="0" err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</a:t>
            </a:r>
            <a:r>
              <a:rPr lang="tr-TR" altLang="tr-TR" sz="2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/ else </a:t>
            </a:r>
            <a:r>
              <a:rPr lang="tr-TR" altLang="tr-TR" sz="2400" b="1" dirty="0" err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</a:t>
            </a:r>
            <a:r>
              <a:rPr lang="tr-TR" altLang="tr-TR" sz="2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/ else)</a:t>
            </a:r>
          </a:p>
          <a:p>
            <a:pPr lvl="1"/>
            <a:endParaRPr lang="tr-TR" altLang="tr-TR" dirty="0" smtClean="0">
              <a:solidFill>
                <a:srgbClr val="000000"/>
              </a:solidFill>
            </a:endParaRPr>
          </a:p>
          <a:p>
            <a:pPr algn="ctr">
              <a:buClrTx/>
              <a:buNone/>
            </a:pPr>
            <a:endParaRPr lang="tr-TR" altLang="tr-TR" b="1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endParaRPr lang="tr-TR" altLang="tr-TR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endParaRPr lang="tr-TR" altLang="tr-TR" sz="2400" dirty="0" smtClean="0">
              <a:solidFill>
                <a:srgbClr val="000000"/>
              </a:solidFill>
            </a:endParaRPr>
          </a:p>
          <a:p>
            <a:pPr lvl="1"/>
            <a:endParaRPr lang="tr-TR" altLang="tr-TR" sz="2400" dirty="0">
              <a:solidFill>
                <a:srgbClr val="000000"/>
              </a:solidFill>
            </a:endParaRPr>
          </a:p>
          <a:p>
            <a:pPr lvl="1"/>
            <a:endParaRPr lang="tr-T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Rectangle 9"/>
          <p:cNvSpPr>
            <a:spLocks noChangeArrowheads="1"/>
          </p:cNvSpPr>
          <p:nvPr/>
        </p:nvSpPr>
        <p:spPr bwMode="auto">
          <a:xfrm>
            <a:off x="6549800" y="2788200"/>
            <a:ext cx="204480" cy="276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/>
          </a:p>
        </p:txBody>
      </p:sp>
      <p:sp>
        <p:nvSpPr>
          <p:cNvPr id="45" name="Rectangle 32"/>
          <p:cNvSpPr>
            <a:spLocks noChangeArrowheads="1"/>
          </p:cNvSpPr>
          <p:nvPr/>
        </p:nvSpPr>
        <p:spPr bwMode="auto">
          <a:xfrm>
            <a:off x="6634819" y="6257161"/>
            <a:ext cx="1601161" cy="308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38" tIns="42452" rIns="81638" bIns="42452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just" eaLnBrk="1" hangingPunct="1">
              <a:buClrTx/>
              <a:buFontTx/>
              <a:buNone/>
            </a:pPr>
            <a:r>
              <a:rPr lang="tr-TR" altLang="tr-TR" sz="1451" b="1">
                <a:solidFill>
                  <a:srgbClr val="000000"/>
                </a:solidFill>
                <a:latin typeface="Trebuchet MS" panose="020B0603020202020204" pitchFamily="34" charset="0"/>
              </a:rPr>
              <a:t>Karsilatirma.cpp</a:t>
            </a:r>
          </a:p>
        </p:txBody>
      </p:sp>
    </p:spTree>
    <p:extLst>
      <p:ext uri="{BB962C8B-B14F-4D97-AF65-F5344CB8AC3E}">
        <p14:creationId xmlns:p14="http://schemas.microsoft.com/office/powerpoint/2010/main" val="1821228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Seçme/Kontrol Yapıları…</a:t>
            </a:r>
            <a:endParaRPr lang="tr-TR" dirty="0"/>
          </a:p>
        </p:txBody>
      </p:sp>
      <p:sp>
        <p:nvSpPr>
          <p:cNvPr id="4" name="İçerik Yer Tutucusu 3"/>
          <p:cNvSpPr>
            <a:spLocks noGrp="1"/>
          </p:cNvSpPr>
          <p:nvPr>
            <p:ph idx="1"/>
          </p:nvPr>
        </p:nvSpPr>
        <p:spPr>
          <a:xfrm>
            <a:off x="179512" y="1020208"/>
            <a:ext cx="6745817" cy="5001080"/>
          </a:xfrm>
        </p:spPr>
        <p:txBody>
          <a:bodyPr>
            <a:normAutofit/>
          </a:bodyPr>
          <a:lstStyle/>
          <a:p>
            <a:pPr marL="171450" lvl="1">
              <a:spcBef>
                <a:spcPts val="750"/>
              </a:spcBef>
            </a:pPr>
            <a:r>
              <a:rPr lang="tr-TR" altLang="tr-TR" sz="24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tr-TR" altLang="tr-TR" sz="2400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tr-TR" altLang="tr-T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Kontrol Yapısı</a:t>
            </a:r>
          </a:p>
          <a:p>
            <a:pPr lvl="1" algn="just">
              <a:spcBef>
                <a:spcPts val="1134"/>
              </a:spcBef>
            </a:pPr>
            <a:r>
              <a:rPr lang="tr-TR" altLang="tr-TR" b="1" dirty="0" smtClean="0">
                <a:solidFill>
                  <a:srgbClr val="000000"/>
                </a:solidFill>
              </a:rPr>
              <a:t>Koşul </a:t>
            </a:r>
            <a:r>
              <a:rPr lang="tr-TR" altLang="tr-TR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boolean</a:t>
            </a:r>
            <a:r>
              <a:rPr lang="tr-TR" altLang="tr-TR" b="1" dirty="0">
                <a:solidFill>
                  <a:srgbClr val="000000"/>
                </a:solidFill>
              </a:rPr>
              <a:t> bir ifadedir </a:t>
            </a:r>
            <a:endParaRPr lang="tr-TR" altLang="tr-TR" b="1" dirty="0" smtClean="0">
              <a:solidFill>
                <a:srgbClr val="000000"/>
              </a:solidFill>
            </a:endParaRPr>
          </a:p>
          <a:p>
            <a:pPr lvl="2" algn="just">
              <a:spcBef>
                <a:spcPts val="1134"/>
              </a:spcBef>
            </a:pPr>
            <a:r>
              <a:rPr lang="tr-TR" altLang="tr-TR" b="1" dirty="0" smtClean="0">
                <a:solidFill>
                  <a:srgbClr val="000000"/>
                </a:solidFill>
              </a:rPr>
              <a:t> 1 (</a:t>
            </a:r>
            <a:r>
              <a:rPr lang="tr-TR" altLang="tr-TR" b="1" dirty="0" err="1" smtClean="0">
                <a:solidFill>
                  <a:srgbClr val="C00000"/>
                </a:solidFill>
              </a:rPr>
              <a:t>true</a:t>
            </a:r>
            <a:r>
              <a:rPr lang="tr-TR" altLang="tr-TR" b="1" dirty="0" smtClean="0">
                <a:solidFill>
                  <a:srgbClr val="000000"/>
                </a:solidFill>
              </a:rPr>
              <a:t>) / 0 (</a:t>
            </a:r>
            <a:r>
              <a:rPr lang="tr-TR" altLang="tr-TR" b="1" dirty="0" err="1" smtClean="0">
                <a:solidFill>
                  <a:srgbClr val="C00000"/>
                </a:solidFill>
              </a:rPr>
              <a:t>false</a:t>
            </a:r>
            <a:r>
              <a:rPr lang="tr-TR" altLang="tr-TR" b="1" dirty="0" smtClean="0">
                <a:solidFill>
                  <a:srgbClr val="000000"/>
                </a:solidFill>
              </a:rPr>
              <a:t>)</a:t>
            </a:r>
          </a:p>
          <a:p>
            <a:pPr lvl="1" algn="just">
              <a:spcBef>
                <a:spcPts val="1134"/>
              </a:spcBef>
            </a:pPr>
            <a:r>
              <a:rPr lang="tr-TR" altLang="tr-TR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Eğer</a:t>
            </a:r>
            <a:r>
              <a:rPr lang="tr-TR" altLang="tr-TR" sz="2400" dirty="0" smtClean="0">
                <a:solidFill>
                  <a:srgbClr val="000000"/>
                </a:solidFill>
              </a:rPr>
              <a:t> </a:t>
            </a:r>
            <a:r>
              <a:rPr lang="tr-TR" altLang="tr-TR" sz="2400" dirty="0" smtClean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tr-TR" altLang="tr-TR" sz="2400" dirty="0" smtClean="0">
                <a:solidFill>
                  <a:srgbClr val="FFC000"/>
                </a:solidFill>
              </a:rPr>
              <a:t>(</a:t>
            </a:r>
            <a:r>
              <a:rPr lang="tr-TR" altLang="tr-TR" sz="2400" dirty="0" smtClean="0">
                <a:solidFill>
                  <a:srgbClr val="000000"/>
                </a:solidFill>
              </a:rPr>
              <a:t>not</a:t>
            </a:r>
            <a:r>
              <a:rPr lang="tr-TR" altLang="tr-TR" sz="2400" dirty="0" smtClean="0">
                <a:solidFill>
                  <a:srgbClr val="0070C0"/>
                </a:solidFill>
              </a:rPr>
              <a:t>&gt;</a:t>
            </a:r>
            <a:r>
              <a:rPr lang="tr-TR" altLang="tr-TR" sz="2400" dirty="0" smtClean="0">
                <a:solidFill>
                  <a:srgbClr val="000000"/>
                </a:solidFill>
              </a:rPr>
              <a:t>70</a:t>
            </a:r>
            <a:r>
              <a:rPr lang="tr-TR" altLang="tr-TR" sz="2400" dirty="0" smtClean="0">
                <a:solidFill>
                  <a:srgbClr val="FFC000"/>
                </a:solidFill>
              </a:rPr>
              <a:t>)</a:t>
            </a:r>
            <a:r>
              <a:rPr lang="tr-TR" altLang="tr-TR" sz="2400" dirty="0" smtClean="0">
                <a:solidFill>
                  <a:srgbClr val="000000"/>
                </a:solidFill>
              </a:rPr>
              <a:t> </a:t>
            </a:r>
            <a:r>
              <a:rPr lang="tr-TR" altLang="tr-TR" sz="2400" dirty="0" smtClean="0">
                <a:solidFill>
                  <a:srgbClr val="0070C0"/>
                </a:solidFill>
              </a:rPr>
              <a:t>&amp;&amp;</a:t>
            </a:r>
            <a:r>
              <a:rPr lang="tr-TR" altLang="tr-TR" sz="2400" dirty="0" smtClean="0">
                <a:solidFill>
                  <a:srgbClr val="000000"/>
                </a:solidFill>
              </a:rPr>
              <a:t> </a:t>
            </a:r>
            <a:r>
              <a:rPr lang="tr-TR" altLang="tr-TR" sz="2400" dirty="0" smtClean="0">
                <a:solidFill>
                  <a:srgbClr val="FFC000"/>
                </a:solidFill>
              </a:rPr>
              <a:t>(</a:t>
            </a:r>
            <a:r>
              <a:rPr lang="tr-TR" altLang="tr-TR" sz="2400" dirty="0" smtClean="0">
                <a:solidFill>
                  <a:srgbClr val="000000"/>
                </a:solidFill>
              </a:rPr>
              <a:t>not</a:t>
            </a:r>
            <a:r>
              <a:rPr lang="tr-TR" altLang="tr-TR" sz="2400" dirty="0" smtClean="0">
                <a:solidFill>
                  <a:srgbClr val="0070C0"/>
                </a:solidFill>
              </a:rPr>
              <a:t>&lt;</a:t>
            </a:r>
            <a:r>
              <a:rPr lang="tr-TR" altLang="tr-TR" sz="2400" dirty="0" smtClean="0">
                <a:solidFill>
                  <a:srgbClr val="000000"/>
                </a:solidFill>
              </a:rPr>
              <a:t>80</a:t>
            </a:r>
            <a:r>
              <a:rPr lang="tr-TR" altLang="tr-TR" sz="2400" dirty="0" smtClean="0">
                <a:solidFill>
                  <a:srgbClr val="FFC000"/>
                </a:solidFill>
              </a:rPr>
              <a:t>)</a:t>
            </a:r>
            <a:r>
              <a:rPr lang="tr-TR" altLang="tr-TR" sz="2400" dirty="0" smtClean="0">
                <a:solidFill>
                  <a:schemeClr val="accent6">
                    <a:lumMod val="75000"/>
                  </a:schemeClr>
                </a:solidFill>
              </a:rPr>
              <a:t>)</a:t>
            </a:r>
            <a:r>
              <a:rPr lang="tr-TR" altLang="tr-TR" sz="2400" dirty="0" smtClean="0">
                <a:solidFill>
                  <a:srgbClr val="000000"/>
                </a:solidFill>
              </a:rPr>
              <a:t> </a:t>
            </a:r>
            <a:r>
              <a:rPr lang="tr-TR" altLang="tr-TR" sz="2400" b="1" dirty="0" smtClean="0">
                <a:solidFill>
                  <a:srgbClr val="C00000"/>
                </a:solidFill>
              </a:rPr>
              <a:t>ise</a:t>
            </a:r>
            <a:r>
              <a:rPr lang="tr-TR" altLang="tr-TR" sz="2400" dirty="0" smtClean="0">
                <a:solidFill>
                  <a:srgbClr val="000000"/>
                </a:solidFill>
              </a:rPr>
              <a:t> C </a:t>
            </a:r>
            <a:r>
              <a:rPr lang="tr-TR" altLang="tr-TR" sz="2400" dirty="0" smtClean="0">
                <a:solidFill>
                  <a:srgbClr val="7030A0"/>
                </a:solidFill>
              </a:rPr>
              <a:t>yaz</a:t>
            </a:r>
          </a:p>
          <a:p>
            <a:pPr algn="ctr">
              <a:buClrTx/>
              <a:buNone/>
            </a:pPr>
            <a:endParaRPr lang="tr-TR" altLang="tr-TR" b="1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endParaRPr lang="tr-TR" altLang="tr-TR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endParaRPr lang="tr-TR" altLang="tr-TR" sz="2400" dirty="0" smtClean="0">
              <a:solidFill>
                <a:srgbClr val="000000"/>
              </a:solidFill>
            </a:endParaRPr>
          </a:p>
          <a:p>
            <a:pPr lvl="1"/>
            <a:endParaRPr lang="tr-TR" altLang="tr-TR" sz="2400" dirty="0">
              <a:solidFill>
                <a:srgbClr val="000000"/>
              </a:solidFill>
            </a:endParaRPr>
          </a:p>
          <a:p>
            <a:pPr lvl="1"/>
            <a:endParaRPr lang="tr-T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" name="AutoShape 33"/>
          <p:cNvSpPr>
            <a:spLocks noChangeArrowheads="1"/>
          </p:cNvSpPr>
          <p:nvPr/>
        </p:nvSpPr>
        <p:spPr bwMode="auto">
          <a:xfrm>
            <a:off x="971600" y="3183280"/>
            <a:ext cx="2199838" cy="1372320"/>
          </a:xfrm>
          <a:prstGeom prst="roundRect">
            <a:avLst>
              <a:gd name="adj" fmla="val 16667"/>
            </a:avLst>
          </a:prstGeom>
          <a:solidFill>
            <a:schemeClr val="accent4">
              <a:alpha val="50000"/>
            </a:schemeClr>
          </a:solidFill>
          <a:ln>
            <a:noFill/>
          </a:ln>
          <a:ex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lIns="36000" tIns="42452" rIns="36000" bIns="42452" anchor="ctr"/>
          <a:lstStyle>
            <a:lvl1pPr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indent="-219075"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lvl="1"/>
            <a:r>
              <a:rPr lang="en-US" altLang="tr-TR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if</a:t>
            </a:r>
            <a:r>
              <a:rPr lang="en-US" altLang="tr-TR" b="1" dirty="0">
                <a:solidFill>
                  <a:srgbClr val="000000"/>
                </a:solidFill>
                <a:latin typeface="Trebuchet MS" panose="020B0603020202020204" pitchFamily="34" charset="0"/>
              </a:rPr>
              <a:t> ( </a:t>
            </a:r>
            <a:r>
              <a:rPr lang="tr-TR" altLang="tr-TR" b="1" dirty="0">
                <a:solidFill>
                  <a:srgbClr val="0070C0"/>
                </a:solidFill>
                <a:latin typeface="Trebuchet MS" panose="020B0603020202020204" pitchFamily="34" charset="0"/>
              </a:rPr>
              <a:t>koşul</a:t>
            </a:r>
            <a:r>
              <a:rPr lang="en-US" altLang="tr-TR" b="1" dirty="0">
                <a:solidFill>
                  <a:srgbClr val="000000"/>
                </a:solidFill>
                <a:latin typeface="Trebuchet MS" panose="020B0603020202020204" pitchFamily="34" charset="0"/>
              </a:rPr>
              <a:t> ) </a:t>
            </a:r>
            <a:br>
              <a:rPr lang="en-US" altLang="tr-TR" b="1" dirty="0">
                <a:solidFill>
                  <a:srgbClr val="000000"/>
                </a:solidFill>
                <a:latin typeface="Trebuchet MS" panose="020B0603020202020204" pitchFamily="34" charset="0"/>
              </a:rPr>
            </a:br>
            <a:r>
              <a:rPr lang="tr-TR" altLang="tr-TR" b="1" dirty="0">
                <a:solidFill>
                  <a:srgbClr val="000000"/>
                </a:solidFill>
                <a:latin typeface="Trebuchet MS" panose="020B0603020202020204" pitchFamily="34" charset="0"/>
              </a:rPr>
              <a:t>{</a:t>
            </a:r>
            <a:r>
              <a:rPr lang="en-US" altLang="tr-TR" b="1" dirty="0">
                <a:solidFill>
                  <a:srgbClr val="000000"/>
                </a:solidFill>
                <a:latin typeface="Trebuchet MS" panose="020B0603020202020204" pitchFamily="34" charset="0"/>
              </a:rPr>
              <a:t>   </a:t>
            </a:r>
            <a:endParaRPr lang="tr-TR" altLang="tr-TR" b="1" dirty="0" smtClean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lvl="1"/>
            <a:r>
              <a:rPr lang="tr-TR" altLang="tr-TR" b="1" dirty="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</a:rPr>
              <a:t> </a:t>
            </a:r>
            <a:r>
              <a:rPr lang="tr-TR" altLang="tr-TR" b="1" dirty="0" smtClean="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</a:rPr>
              <a:t>  ifadeler…</a:t>
            </a:r>
          </a:p>
          <a:p>
            <a:pPr lvl="1"/>
            <a:r>
              <a:rPr lang="tr-TR" altLang="tr-TR" b="1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}</a:t>
            </a:r>
            <a:endParaRPr lang="tr-TR" altLang="tr-TR" b="1" dirty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12" name="Grup 11"/>
          <p:cNvGrpSpPr/>
          <p:nvPr/>
        </p:nvGrpSpPr>
        <p:grpSpPr>
          <a:xfrm>
            <a:off x="5868144" y="1484784"/>
            <a:ext cx="2702720" cy="3507880"/>
            <a:chOff x="6549800" y="2204864"/>
            <a:chExt cx="2270672" cy="3147840"/>
          </a:xfrm>
        </p:grpSpPr>
        <p:sp>
          <p:nvSpPr>
            <p:cNvPr id="17" name="Rectangle 5"/>
            <p:cNvSpPr>
              <a:spLocks noChangeArrowheads="1"/>
            </p:cNvSpPr>
            <p:nvPr/>
          </p:nvSpPr>
          <p:spPr bwMode="auto">
            <a:xfrm>
              <a:off x="7732040" y="2981160"/>
              <a:ext cx="203040" cy="276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8" name="Rectangle 6"/>
            <p:cNvSpPr>
              <a:spLocks noChangeArrowheads="1"/>
            </p:cNvSpPr>
            <p:nvPr/>
          </p:nvSpPr>
          <p:spPr bwMode="auto">
            <a:xfrm>
              <a:off x="7732040" y="2981160"/>
              <a:ext cx="203040" cy="276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9" name="Rectangle 7"/>
            <p:cNvSpPr>
              <a:spLocks noChangeArrowheads="1"/>
            </p:cNvSpPr>
            <p:nvPr/>
          </p:nvSpPr>
          <p:spPr bwMode="auto">
            <a:xfrm>
              <a:off x="7732040" y="2981160"/>
              <a:ext cx="203040" cy="276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0" name="Rectangle 8"/>
            <p:cNvSpPr>
              <a:spLocks noChangeArrowheads="1"/>
            </p:cNvSpPr>
            <p:nvPr/>
          </p:nvSpPr>
          <p:spPr bwMode="auto">
            <a:xfrm>
              <a:off x="7732040" y="2981160"/>
              <a:ext cx="203040" cy="276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1" name="Rectangle 9"/>
            <p:cNvSpPr>
              <a:spLocks noChangeArrowheads="1"/>
            </p:cNvSpPr>
            <p:nvPr/>
          </p:nvSpPr>
          <p:spPr bwMode="auto">
            <a:xfrm>
              <a:off x="6549800" y="2788200"/>
              <a:ext cx="204480" cy="276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2" name="Rectangle 10"/>
            <p:cNvSpPr>
              <a:spLocks noChangeArrowheads="1"/>
            </p:cNvSpPr>
            <p:nvPr/>
          </p:nvSpPr>
          <p:spPr bwMode="auto">
            <a:xfrm>
              <a:off x="7732040" y="2981160"/>
              <a:ext cx="203040" cy="276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3" name="Rectangle 11"/>
            <p:cNvSpPr>
              <a:spLocks noChangeArrowheads="1"/>
            </p:cNvSpPr>
            <p:nvPr/>
          </p:nvSpPr>
          <p:spPr bwMode="auto">
            <a:xfrm>
              <a:off x="7732040" y="2981160"/>
              <a:ext cx="203040" cy="276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  <p:grpSp>
          <p:nvGrpSpPr>
            <p:cNvPr id="39" name="Grup 38"/>
            <p:cNvGrpSpPr/>
            <p:nvPr/>
          </p:nvGrpSpPr>
          <p:grpSpPr>
            <a:xfrm>
              <a:off x="7001561" y="2204864"/>
              <a:ext cx="1818911" cy="3147840"/>
              <a:chOff x="3748144" y="2712120"/>
              <a:chExt cx="1818911" cy="3147840"/>
            </a:xfrm>
          </p:grpSpPr>
          <p:grpSp>
            <p:nvGrpSpPr>
              <p:cNvPr id="41" name="Grup 40"/>
              <p:cNvGrpSpPr/>
              <p:nvPr/>
            </p:nvGrpSpPr>
            <p:grpSpPr>
              <a:xfrm>
                <a:off x="3748144" y="2712120"/>
                <a:ext cx="1339391" cy="3147840"/>
                <a:chOff x="4370584" y="2712120"/>
                <a:chExt cx="1339391" cy="3147840"/>
              </a:xfrm>
            </p:grpSpPr>
            <p:grpSp>
              <p:nvGrpSpPr>
                <p:cNvPr id="47" name="Group 17"/>
                <p:cNvGrpSpPr>
                  <a:grpSpLocks/>
                </p:cNvGrpSpPr>
                <p:nvPr/>
              </p:nvGrpSpPr>
              <p:grpSpPr bwMode="auto">
                <a:xfrm>
                  <a:off x="4370584" y="2712120"/>
                  <a:ext cx="1339200" cy="3147840"/>
                  <a:chOff x="2200" y="1409"/>
                  <a:chExt cx="930" cy="2186"/>
                </a:xfrm>
              </p:grpSpPr>
              <p:sp>
                <p:nvSpPr>
                  <p:cNvPr id="51" name="AutoShape 18"/>
                  <p:cNvSpPr>
                    <a:spLocks noChangeArrowheads="1"/>
                  </p:cNvSpPr>
                  <p:nvPr/>
                </p:nvSpPr>
                <p:spPr bwMode="auto">
                  <a:xfrm>
                    <a:off x="2200" y="1873"/>
                    <a:ext cx="762" cy="510"/>
                  </a:xfrm>
                  <a:prstGeom prst="diamond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rgbClr val="002060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algn="ctr"/>
                    <a:r>
                      <a:rPr lang="tr-TR" altLang="tr-TR" dirty="0">
                        <a:solidFill>
                          <a:srgbClr val="002060"/>
                        </a:solidFill>
                        <a:latin typeface="+mn-lt"/>
                        <a:cs typeface="+mn-cs"/>
                      </a:rPr>
                      <a:t>koşul</a:t>
                    </a:r>
                  </a:p>
                </p:txBody>
              </p:sp>
              <p:sp>
                <p:nvSpPr>
                  <p:cNvPr id="53" name="Oval 21"/>
                  <p:cNvSpPr>
                    <a:spLocks noChangeArrowheads="1"/>
                  </p:cNvSpPr>
                  <p:nvPr/>
                </p:nvSpPr>
                <p:spPr bwMode="auto">
                  <a:xfrm>
                    <a:off x="2488" y="1409"/>
                    <a:ext cx="186" cy="186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rgbClr val="002060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lang="tr-TR">
                      <a:solidFill>
                        <a:srgbClr val="002060"/>
                      </a:solidFill>
                      <a:latin typeface="+mn-lt"/>
                      <a:cs typeface="+mn-cs"/>
                    </a:endParaRPr>
                  </a:p>
                </p:txBody>
              </p:sp>
              <p:sp>
                <p:nvSpPr>
                  <p:cNvPr id="54" name="Oval 22"/>
                  <p:cNvSpPr>
                    <a:spLocks noChangeArrowheads="1"/>
                  </p:cNvSpPr>
                  <p:nvPr/>
                </p:nvSpPr>
                <p:spPr bwMode="auto">
                  <a:xfrm>
                    <a:off x="2477" y="3409"/>
                    <a:ext cx="186" cy="186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rgbClr val="002060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lang="tr-TR">
                      <a:solidFill>
                        <a:srgbClr val="002060"/>
                      </a:solidFill>
                      <a:latin typeface="+mn-lt"/>
                      <a:cs typeface="+mn-cs"/>
                    </a:endParaRPr>
                  </a:p>
                </p:txBody>
              </p:sp>
              <p:cxnSp>
                <p:nvCxnSpPr>
                  <p:cNvPr id="55" name="AutoShape 23"/>
                  <p:cNvCxnSpPr>
                    <a:cxnSpLocks noChangeShapeType="1"/>
                    <a:stCxn id="53" idx="4"/>
                    <a:endCxn id="51" idx="0"/>
                  </p:cNvCxnSpPr>
                  <p:nvPr/>
                </p:nvCxnSpPr>
                <p:spPr bwMode="auto">
                  <a:xfrm>
                    <a:off x="2581" y="1595"/>
                    <a:ext cx="0" cy="278"/>
                  </a:xfrm>
                  <a:prstGeom prst="straightConnector1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rgbClr val="002060"/>
                    </a:solidFill>
                    <a:headEnd type="none" w="med" len="med"/>
                    <a:tailEnd type="triangle" w="med" len="med"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6" name="AutoShape 27"/>
                  <p:cNvCxnSpPr>
                    <a:cxnSpLocks noChangeShapeType="1"/>
                    <a:stCxn id="44" idx="2"/>
                  </p:cNvCxnSpPr>
                  <p:nvPr/>
                </p:nvCxnSpPr>
                <p:spPr bwMode="auto">
                  <a:xfrm rot="5400000">
                    <a:off x="2706" y="2835"/>
                    <a:ext cx="300" cy="549"/>
                  </a:xfrm>
                  <a:prstGeom prst="bentConnector2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rgbClr val="002060"/>
                    </a:solidFill>
                    <a:headEnd type="none" w="med" len="med"/>
                    <a:tailEnd type="triangle" w="med" len="med"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cxnSp>
              <p:nvCxnSpPr>
                <p:cNvPr id="49" name="Dirsek Bağlayıcısı 48"/>
                <p:cNvCxnSpPr>
                  <a:stCxn id="51" idx="3"/>
                  <a:endCxn id="44" idx="0"/>
                </p:cNvCxnSpPr>
                <p:nvPr/>
              </p:nvCxnSpPr>
              <p:spPr>
                <a:xfrm>
                  <a:off x="5467864" y="3747480"/>
                  <a:ext cx="242111" cy="790808"/>
                </a:xfrm>
                <a:prstGeom prst="bentConnector2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rgbClr val="002060"/>
                  </a:solidFill>
                  <a:headEnd type="none" w="med" len="med"/>
                  <a:tailEnd type="triangl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44" name="Rectangle 20"/>
              <p:cNvSpPr>
                <a:spLocks noChangeArrowheads="1"/>
              </p:cNvSpPr>
              <p:nvPr/>
            </p:nvSpPr>
            <p:spPr bwMode="auto">
              <a:xfrm>
                <a:off x="4608015" y="4538288"/>
                <a:ext cx="959040" cy="40608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rgbClr val="00206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r>
                  <a:rPr lang="tr-TR" altLang="tr-TR" dirty="0" smtClean="0">
                    <a:solidFill>
                      <a:srgbClr val="002060"/>
                    </a:solidFill>
                    <a:latin typeface="+mn-lt"/>
                    <a:cs typeface="+mn-cs"/>
                  </a:rPr>
                  <a:t>ifadeler</a:t>
                </a:r>
                <a:endParaRPr lang="en-AU" altLang="tr-TR" dirty="0">
                  <a:solidFill>
                    <a:srgbClr val="002060"/>
                  </a:solidFill>
                  <a:latin typeface="+mn-lt"/>
                  <a:cs typeface="+mn-cs"/>
                </a:endParaRPr>
              </a:p>
            </p:txBody>
          </p:sp>
        </p:grpSp>
        <p:sp>
          <p:nvSpPr>
            <p:cNvPr id="57" name="Rectangle 15"/>
            <p:cNvSpPr>
              <a:spLocks noChangeArrowheads="1"/>
            </p:cNvSpPr>
            <p:nvPr/>
          </p:nvSpPr>
          <p:spPr bwMode="auto">
            <a:xfrm>
              <a:off x="8008280" y="3010460"/>
              <a:ext cx="524160" cy="183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tr-TR" altLang="tr-TR" sz="1270" b="1" dirty="0" smtClean="0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DOĞRU</a:t>
              </a:r>
              <a:endParaRPr lang="en-US" altLang="tr-TR" sz="1270" b="1" dirty="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  <a:p>
              <a:pPr eaLnBrk="1" hangingPunct="1">
                <a:buClrTx/>
                <a:buFontTx/>
                <a:buNone/>
              </a:pPr>
              <a:endParaRPr lang="en-US" altLang="tr-TR" sz="1270" b="1" dirty="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Rectangle 15"/>
            <p:cNvSpPr>
              <a:spLocks noChangeArrowheads="1"/>
            </p:cNvSpPr>
            <p:nvPr/>
          </p:nvSpPr>
          <p:spPr bwMode="auto">
            <a:xfrm>
              <a:off x="6925329" y="3670716"/>
              <a:ext cx="609032" cy="1725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tr-TR" altLang="tr-TR" sz="1270" b="1" dirty="0" smtClean="0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YANLIŞ</a:t>
              </a:r>
              <a:endParaRPr lang="en-US" altLang="tr-TR" sz="1270" b="1" dirty="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  <a:p>
              <a:pPr eaLnBrk="1" hangingPunct="1">
                <a:buClrTx/>
                <a:buFontTx/>
                <a:buNone/>
              </a:pPr>
              <a:endParaRPr lang="en-US" altLang="tr-TR" sz="1270" b="1" dirty="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" name="Düz Ok Bağlayıcısı 6"/>
            <p:cNvCxnSpPr>
              <a:stCxn id="51" idx="2"/>
              <a:endCxn id="54" idx="0"/>
            </p:cNvCxnSpPr>
            <p:nvPr/>
          </p:nvCxnSpPr>
          <p:spPr>
            <a:xfrm flipH="1">
              <a:off x="7534361" y="3607424"/>
              <a:ext cx="15840" cy="1477440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1524830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Seçme/Kontrol Yapıları…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İçerik Yer Tutucusu 3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020208"/>
                <a:ext cx="6745817" cy="5001080"/>
              </a:xfrm>
            </p:spPr>
            <p:txBody>
              <a:bodyPr>
                <a:normAutofit/>
              </a:bodyPr>
              <a:lstStyle/>
              <a:p>
                <a:pPr marL="171450" lvl="1">
                  <a:spcBef>
                    <a:spcPts val="750"/>
                  </a:spcBef>
                </a:pPr>
                <a:r>
                  <a:rPr lang="tr-TR" altLang="tr-TR" sz="2400" b="1" dirty="0" err="1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i</a:t>
                </a:r>
                <a:r>
                  <a:rPr lang="tr-TR" altLang="tr-TR" sz="2400" b="1" dirty="0" err="1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f</a:t>
                </a:r>
                <a:r>
                  <a:rPr lang="tr-TR" altLang="tr-TR" sz="2400" b="1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Kontrol Yapısı…</a:t>
                </a:r>
              </a:p>
              <a:p>
                <a:pPr lvl="1" algn="just">
                  <a:spcBef>
                    <a:spcPts val="1134"/>
                  </a:spcBef>
                </a:pPr>
                <a:r>
                  <a:rPr lang="tr-TR" altLang="tr-TR" u="sng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rebuchet MS" panose="020B0603020202020204" pitchFamily="34" charset="0"/>
                  </a:rPr>
                  <a:t>ÖRNEK</a:t>
                </a:r>
                <a:r>
                  <a:rPr lang="tr-TR" altLang="tr-TR" u="sng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rebuchet MS" panose="020B0603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tr-TR">
                        <a:solidFill>
                          <a:srgbClr val="7030A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tr-TR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tr-TR" altLang="tr-TR" dirty="0" smtClean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[1</a:t>
                </a:r>
                <a:r>
                  <a:rPr lang="tr-TR" altLang="tr-TR" dirty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]_karsilastirma.cpp</a:t>
                </a:r>
              </a:p>
              <a:p>
                <a:pPr algn="ctr">
                  <a:buClrTx/>
                  <a:buNone/>
                </a:pPr>
                <a:endParaRPr lang="tr-TR" altLang="tr-TR" b="1" dirty="0">
                  <a:solidFill>
                    <a:srgbClr val="000000"/>
                  </a:solidFill>
                  <a:latin typeface="Trebuchet MS" panose="020B0603020202020204" pitchFamily="34" charset="0"/>
                </a:endParaRPr>
              </a:p>
              <a:p>
                <a:endParaRPr lang="tr-TR" altLang="tr-TR" dirty="0">
                  <a:solidFill>
                    <a:srgbClr val="000000"/>
                  </a:solidFill>
                  <a:latin typeface="Trebuchet MS" panose="020B0603020202020204" pitchFamily="34" charset="0"/>
                </a:endParaRPr>
              </a:p>
              <a:p>
                <a:endParaRPr lang="tr-TR" altLang="tr-TR" sz="2400" dirty="0" smtClean="0">
                  <a:solidFill>
                    <a:srgbClr val="000000"/>
                  </a:solidFill>
                </a:endParaRPr>
              </a:p>
              <a:p>
                <a:pPr lvl="1"/>
                <a:endParaRPr lang="tr-TR" altLang="tr-TR" sz="2400" dirty="0">
                  <a:solidFill>
                    <a:srgbClr val="000000"/>
                  </a:solidFill>
                </a:endParaRPr>
              </a:p>
              <a:p>
                <a:pPr lvl="1"/>
                <a:endParaRPr lang="tr-TR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4" name="İçerik Yer Tutucusu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020208"/>
                <a:ext cx="6745817" cy="5001080"/>
              </a:xfrm>
              <a:blipFill>
                <a:blip r:embed="rId2"/>
                <a:stretch>
                  <a:fillRect l="-1265" t="-1827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971164"/>
            <a:ext cx="4968552" cy="39781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51339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/>
          <p:cNvSpPr/>
          <p:nvPr/>
        </p:nvSpPr>
        <p:spPr>
          <a:xfrm>
            <a:off x="179388" y="115888"/>
            <a:ext cx="7777162" cy="69770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gece2uy1.cpp : </a:t>
            </a:r>
            <a:r>
              <a:rPr lang="tr-TR" sz="95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tr-TR" sz="95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file </a:t>
            </a:r>
            <a:r>
              <a:rPr lang="tr-TR" sz="95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contains</a:t>
            </a:r>
            <a:r>
              <a:rPr lang="tr-TR" sz="95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the</a:t>
            </a:r>
            <a:r>
              <a:rPr lang="tr-TR" sz="95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'main' </a:t>
            </a:r>
            <a:r>
              <a:rPr lang="tr-TR" sz="95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function</a:t>
            </a:r>
            <a:r>
              <a:rPr lang="tr-TR" sz="95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 Program </a:t>
            </a:r>
            <a:r>
              <a:rPr lang="tr-TR" sz="95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execution</a:t>
            </a:r>
            <a:r>
              <a:rPr lang="tr-TR" sz="95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begins</a:t>
            </a:r>
            <a:r>
              <a:rPr lang="tr-TR" sz="95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and</a:t>
            </a:r>
            <a:r>
              <a:rPr lang="tr-TR" sz="95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ends</a:t>
            </a:r>
            <a:r>
              <a:rPr lang="tr-TR" sz="95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there</a:t>
            </a:r>
            <a:r>
              <a:rPr lang="tr-TR" sz="95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r>
              <a:rPr lang="tr-TR" sz="95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</a:t>
            </a:r>
            <a:r>
              <a:rPr lang="tr-TR" sz="95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include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iostream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</a:t>
            </a:r>
            <a:r>
              <a:rPr lang="tr-TR" sz="95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include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cmath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</a:t>
            </a:r>
            <a:r>
              <a:rPr lang="tr-TR" sz="95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include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iomanip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tr-TR" sz="95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main()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sayi1, sayi2, secim;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sayi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1 ?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cin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&gt;&gt;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sayi1;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sayi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2 ?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cin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&gt;&gt;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sayi2;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"\t Ne yapalım?"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"\t 1 toplama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"\t 2 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cikarma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"\t 3 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carpma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"\t 4 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bolme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"\t 5 kalan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seciminiz? (1-5)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cin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&gt;&gt;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secim;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(secim==1)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{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sayi1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+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sayi2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=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sayi1 + sayi2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(secim == 2)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{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sayi1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-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sayi2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=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sayi1 - sayi2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(secim == 3)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{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sayi1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*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sayi2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=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sayi1 * sayi2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(secim == 4)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{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tr-TR" sz="95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(sayi2 != 0)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sayi1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/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sayi2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=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tr-TR" sz="95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float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)sayi1 / sayi2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tr-TR" sz="95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sifira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bolme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olmaz"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(secim == 5)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{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sayi1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mod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sayi2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=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sayi1 % sayi2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0;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3011" name="Resi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504" b="57323"/>
          <a:stretch>
            <a:fillRect/>
          </a:stretch>
        </p:blipFill>
        <p:spPr bwMode="auto">
          <a:xfrm>
            <a:off x="6148388" y="692150"/>
            <a:ext cx="2995612" cy="23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2870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Seçme/Kontrol Yapıları…</a:t>
            </a:r>
            <a:endParaRPr lang="tr-TR" dirty="0"/>
          </a:p>
        </p:txBody>
      </p:sp>
      <p:sp>
        <p:nvSpPr>
          <p:cNvPr id="4" name="İçerik Yer Tutucusu 3"/>
          <p:cNvSpPr>
            <a:spLocks noGrp="1"/>
          </p:cNvSpPr>
          <p:nvPr>
            <p:ph idx="1"/>
          </p:nvPr>
        </p:nvSpPr>
        <p:spPr>
          <a:xfrm>
            <a:off x="179512" y="1020208"/>
            <a:ext cx="6745817" cy="5001080"/>
          </a:xfrm>
        </p:spPr>
        <p:txBody>
          <a:bodyPr>
            <a:normAutofit/>
          </a:bodyPr>
          <a:lstStyle/>
          <a:p>
            <a:pPr marL="171450" lvl="1">
              <a:spcBef>
                <a:spcPts val="750"/>
              </a:spcBef>
            </a:pPr>
            <a:r>
              <a:rPr lang="tr-TR" altLang="tr-TR" sz="2400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</a:t>
            </a:r>
            <a:r>
              <a:rPr lang="tr-TR" altLang="tr-T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/else Kontrol Yapısı</a:t>
            </a:r>
          </a:p>
          <a:p>
            <a:pPr lvl="1" algn="just">
              <a:spcBef>
                <a:spcPts val="1134"/>
              </a:spcBef>
            </a:pPr>
            <a:endParaRPr lang="tr-TR" altLang="tr-TR" sz="2400" dirty="0" smtClean="0">
              <a:solidFill>
                <a:srgbClr val="7030A0"/>
              </a:solidFill>
            </a:endParaRPr>
          </a:p>
          <a:p>
            <a:pPr algn="ctr">
              <a:buClrTx/>
              <a:buNone/>
            </a:pPr>
            <a:endParaRPr lang="tr-TR" altLang="tr-TR" b="1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endParaRPr lang="tr-TR" altLang="tr-TR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endParaRPr lang="tr-TR" altLang="tr-TR" sz="2400" dirty="0" smtClean="0">
              <a:solidFill>
                <a:srgbClr val="000000"/>
              </a:solidFill>
            </a:endParaRPr>
          </a:p>
          <a:p>
            <a:pPr lvl="1"/>
            <a:endParaRPr lang="tr-TR" altLang="tr-TR" sz="2400" dirty="0">
              <a:solidFill>
                <a:srgbClr val="000000"/>
              </a:solidFill>
            </a:endParaRPr>
          </a:p>
          <a:p>
            <a:pPr lvl="1"/>
            <a:endParaRPr lang="tr-T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" name="AutoShape 33"/>
          <p:cNvSpPr>
            <a:spLocks noChangeArrowheads="1"/>
          </p:cNvSpPr>
          <p:nvPr/>
        </p:nvSpPr>
        <p:spPr bwMode="auto">
          <a:xfrm>
            <a:off x="539513" y="1671112"/>
            <a:ext cx="2304256" cy="2621984"/>
          </a:xfrm>
          <a:prstGeom prst="roundRect">
            <a:avLst>
              <a:gd name="adj" fmla="val 16667"/>
            </a:avLst>
          </a:prstGeom>
          <a:solidFill>
            <a:schemeClr val="accent4">
              <a:alpha val="50000"/>
            </a:schemeClr>
          </a:solidFill>
          <a:ln>
            <a:noFill/>
          </a:ln>
          <a:ex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lIns="36000" tIns="42452" rIns="36000" bIns="42452" anchor="ctr"/>
          <a:lstStyle>
            <a:lvl1pPr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indent="-219075"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lvl="1"/>
            <a:r>
              <a:rPr lang="en-US" altLang="tr-TR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if</a:t>
            </a:r>
            <a:r>
              <a:rPr lang="en-US" altLang="tr-TR" b="1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 ( </a:t>
            </a:r>
            <a:r>
              <a:rPr lang="tr-TR" altLang="tr-TR" b="1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koşul</a:t>
            </a:r>
            <a:r>
              <a:rPr lang="en-US" altLang="tr-TR" b="1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 ) </a:t>
            </a:r>
            <a:br>
              <a:rPr lang="en-US" altLang="tr-TR" b="1" dirty="0" smtClean="0">
                <a:solidFill>
                  <a:srgbClr val="000000"/>
                </a:solidFill>
                <a:latin typeface="Trebuchet MS" panose="020B0603020202020204" pitchFamily="34" charset="0"/>
              </a:rPr>
            </a:br>
            <a:r>
              <a:rPr lang="tr-TR" altLang="tr-TR" b="1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{</a:t>
            </a:r>
            <a:r>
              <a:rPr lang="en-US" altLang="tr-TR" b="1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   </a:t>
            </a:r>
            <a:endParaRPr lang="tr-TR" altLang="tr-TR" b="1" dirty="0" smtClean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lvl="1"/>
            <a:r>
              <a:rPr lang="tr-TR" altLang="tr-TR" b="1" dirty="0" smtClean="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</a:rPr>
              <a:t>   ifadeler…</a:t>
            </a:r>
          </a:p>
          <a:p>
            <a:pPr lvl="1"/>
            <a:r>
              <a:rPr lang="tr-TR" altLang="tr-TR" b="1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}</a:t>
            </a:r>
          </a:p>
          <a:p>
            <a:pPr lvl="1"/>
            <a:r>
              <a:rPr lang="tr-TR" altLang="tr-TR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else</a:t>
            </a:r>
          </a:p>
          <a:p>
            <a:pPr lvl="1"/>
            <a:r>
              <a:rPr lang="tr-TR" altLang="tr-TR" b="1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{</a:t>
            </a:r>
          </a:p>
          <a:p>
            <a:pPr lvl="1"/>
            <a:r>
              <a:rPr lang="tr-TR" altLang="tr-TR" b="1" dirty="0" smtClean="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</a:rPr>
              <a:t>   ifadeler</a:t>
            </a:r>
            <a:r>
              <a:rPr lang="tr-TR" altLang="tr-TR" b="1" dirty="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</a:rPr>
              <a:t>…</a:t>
            </a:r>
          </a:p>
          <a:p>
            <a:pPr lvl="1"/>
            <a:r>
              <a:rPr lang="tr-TR" altLang="tr-TR" b="1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}</a:t>
            </a:r>
            <a:endParaRPr lang="tr-TR" altLang="tr-TR" b="1" dirty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8" name="Grup 7"/>
          <p:cNvGrpSpPr/>
          <p:nvPr/>
        </p:nvGrpSpPr>
        <p:grpSpPr>
          <a:xfrm>
            <a:off x="3779912" y="1340768"/>
            <a:ext cx="3053207" cy="3106703"/>
            <a:chOff x="5517657" y="1484784"/>
            <a:chExt cx="3053207" cy="3106703"/>
          </a:xfrm>
        </p:grpSpPr>
        <p:grpSp>
          <p:nvGrpSpPr>
            <p:cNvPr id="12" name="Grup 11"/>
            <p:cNvGrpSpPr/>
            <p:nvPr/>
          </p:nvGrpSpPr>
          <p:grpSpPr>
            <a:xfrm>
              <a:off x="5868144" y="1484784"/>
              <a:ext cx="2702720" cy="3106703"/>
              <a:chOff x="6549800" y="2204864"/>
              <a:chExt cx="2270672" cy="2787840"/>
            </a:xfrm>
          </p:grpSpPr>
          <p:sp>
            <p:nvSpPr>
              <p:cNvPr id="17" name="Rectangle 5"/>
              <p:cNvSpPr>
                <a:spLocks noChangeArrowheads="1"/>
              </p:cNvSpPr>
              <p:nvPr/>
            </p:nvSpPr>
            <p:spPr bwMode="auto">
              <a:xfrm>
                <a:off x="7732040" y="2981160"/>
                <a:ext cx="203040" cy="276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18" name="Rectangle 6"/>
              <p:cNvSpPr>
                <a:spLocks noChangeArrowheads="1"/>
              </p:cNvSpPr>
              <p:nvPr/>
            </p:nvSpPr>
            <p:spPr bwMode="auto">
              <a:xfrm>
                <a:off x="7732040" y="2981160"/>
                <a:ext cx="203040" cy="276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19" name="Rectangle 7"/>
              <p:cNvSpPr>
                <a:spLocks noChangeArrowheads="1"/>
              </p:cNvSpPr>
              <p:nvPr/>
            </p:nvSpPr>
            <p:spPr bwMode="auto">
              <a:xfrm>
                <a:off x="7732040" y="2981160"/>
                <a:ext cx="203040" cy="276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20" name="Rectangle 8"/>
              <p:cNvSpPr>
                <a:spLocks noChangeArrowheads="1"/>
              </p:cNvSpPr>
              <p:nvPr/>
            </p:nvSpPr>
            <p:spPr bwMode="auto">
              <a:xfrm>
                <a:off x="7732040" y="2981160"/>
                <a:ext cx="203040" cy="276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21" name="Rectangle 9"/>
              <p:cNvSpPr>
                <a:spLocks noChangeArrowheads="1"/>
              </p:cNvSpPr>
              <p:nvPr/>
            </p:nvSpPr>
            <p:spPr bwMode="auto">
              <a:xfrm>
                <a:off x="6549800" y="2788200"/>
                <a:ext cx="204480" cy="276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22" name="Rectangle 10"/>
              <p:cNvSpPr>
                <a:spLocks noChangeArrowheads="1"/>
              </p:cNvSpPr>
              <p:nvPr/>
            </p:nvSpPr>
            <p:spPr bwMode="auto">
              <a:xfrm>
                <a:off x="7732040" y="2981160"/>
                <a:ext cx="203040" cy="276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23" name="Rectangle 11"/>
              <p:cNvSpPr>
                <a:spLocks noChangeArrowheads="1"/>
              </p:cNvSpPr>
              <p:nvPr/>
            </p:nvSpPr>
            <p:spPr bwMode="auto">
              <a:xfrm>
                <a:off x="7732040" y="2981160"/>
                <a:ext cx="203040" cy="276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r-TR"/>
              </a:p>
            </p:txBody>
          </p:sp>
          <p:grpSp>
            <p:nvGrpSpPr>
              <p:cNvPr id="39" name="Grup 38"/>
              <p:cNvGrpSpPr/>
              <p:nvPr/>
            </p:nvGrpSpPr>
            <p:grpSpPr>
              <a:xfrm>
                <a:off x="7001561" y="2204864"/>
                <a:ext cx="1818911" cy="2787840"/>
                <a:chOff x="3748144" y="2712120"/>
                <a:chExt cx="1818911" cy="2787840"/>
              </a:xfrm>
            </p:grpSpPr>
            <p:grpSp>
              <p:nvGrpSpPr>
                <p:cNvPr id="41" name="Grup 40"/>
                <p:cNvGrpSpPr/>
                <p:nvPr/>
              </p:nvGrpSpPr>
              <p:grpSpPr>
                <a:xfrm>
                  <a:off x="3748144" y="2712120"/>
                  <a:ext cx="1339391" cy="2787840"/>
                  <a:chOff x="4370584" y="2712120"/>
                  <a:chExt cx="1339391" cy="2787840"/>
                </a:xfrm>
              </p:grpSpPr>
              <p:grpSp>
                <p:nvGrpSpPr>
                  <p:cNvPr id="47" name="Group 17"/>
                  <p:cNvGrpSpPr>
                    <a:grpSpLocks/>
                  </p:cNvGrpSpPr>
                  <p:nvPr/>
                </p:nvGrpSpPr>
                <p:grpSpPr bwMode="auto">
                  <a:xfrm>
                    <a:off x="4370584" y="2712120"/>
                    <a:ext cx="1339200" cy="2787840"/>
                    <a:chOff x="2200" y="1409"/>
                    <a:chExt cx="930" cy="1936"/>
                  </a:xfrm>
                </p:grpSpPr>
                <p:sp>
                  <p:nvSpPr>
                    <p:cNvPr id="51" name="AutoShape 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00" y="1873"/>
                      <a:ext cx="762" cy="510"/>
                    </a:xfrm>
                    <a:prstGeom prst="diamond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9050">
                      <a:solidFill>
                        <a:srgbClr val="002060"/>
                      </a:solidFill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rIns="0" anchor="ctr"/>
                    <a:lstStyle/>
                    <a:p>
                      <a:pPr algn="ctr"/>
                      <a:r>
                        <a:rPr lang="tr-TR" altLang="tr-TR" dirty="0">
                          <a:solidFill>
                            <a:srgbClr val="002060"/>
                          </a:solidFill>
                          <a:latin typeface="+mn-lt"/>
                          <a:cs typeface="+mn-cs"/>
                        </a:rPr>
                        <a:t>koşul</a:t>
                      </a:r>
                    </a:p>
                  </p:txBody>
                </p:sp>
                <p:sp>
                  <p:nvSpPr>
                    <p:cNvPr id="53" name="Oval 2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88" y="1409"/>
                      <a:ext cx="186" cy="186"/>
                    </a:xfrm>
                    <a:prstGeom prst="ellipse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9050">
                      <a:solidFill>
                        <a:srgbClr val="002060"/>
                      </a:solidFill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lang="tr-TR">
                        <a:solidFill>
                          <a:srgbClr val="002060"/>
                        </a:solidFill>
                        <a:latin typeface="+mn-lt"/>
                        <a:cs typeface="+mn-cs"/>
                      </a:endParaRPr>
                    </a:p>
                  </p:txBody>
                </p:sp>
                <p:sp>
                  <p:nvSpPr>
                    <p:cNvPr id="54" name="Oval 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77" y="3159"/>
                      <a:ext cx="186" cy="186"/>
                    </a:xfrm>
                    <a:prstGeom prst="ellipse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9050">
                      <a:solidFill>
                        <a:srgbClr val="002060"/>
                      </a:solidFill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lang="tr-TR">
                        <a:solidFill>
                          <a:srgbClr val="002060"/>
                        </a:solidFill>
                        <a:latin typeface="+mn-lt"/>
                        <a:cs typeface="+mn-cs"/>
                      </a:endParaRPr>
                    </a:p>
                  </p:txBody>
                </p:sp>
                <p:cxnSp>
                  <p:nvCxnSpPr>
                    <p:cNvPr id="55" name="AutoShape 23"/>
                    <p:cNvCxnSpPr>
                      <a:cxnSpLocks noChangeShapeType="1"/>
                      <a:stCxn id="53" idx="4"/>
                      <a:endCxn id="51" idx="0"/>
                    </p:cNvCxnSpPr>
                    <p:nvPr/>
                  </p:nvCxnSpPr>
                  <p:spPr bwMode="auto">
                    <a:xfrm>
                      <a:off x="2581" y="1595"/>
                      <a:ext cx="0" cy="278"/>
                    </a:xfrm>
                    <a:prstGeom prst="straightConnector1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9050">
                      <a:solidFill>
                        <a:srgbClr val="002060"/>
                      </a:solidFill>
                      <a:headEnd type="none" w="med" len="med"/>
                      <a:tailEnd type="triangle" w="med" len="med"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56" name="AutoShape 27"/>
                    <p:cNvCxnSpPr>
                      <a:cxnSpLocks noChangeShapeType="1"/>
                      <a:stCxn id="44" idx="2"/>
                      <a:endCxn id="54" idx="6"/>
                    </p:cNvCxnSpPr>
                    <p:nvPr/>
                  </p:nvCxnSpPr>
                  <p:spPr bwMode="auto">
                    <a:xfrm rot="5400000">
                      <a:off x="2750" y="2872"/>
                      <a:ext cx="293" cy="467"/>
                    </a:xfrm>
                    <a:prstGeom prst="bentConnector2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9050">
                      <a:solidFill>
                        <a:srgbClr val="002060"/>
                      </a:solidFill>
                      <a:headEnd type="none" w="med" len="med"/>
                      <a:tailEnd type="triangle" w="med" len="med"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cxnSp>
                <p:nvCxnSpPr>
                  <p:cNvPr id="49" name="Dirsek Bağlayıcısı 48"/>
                  <p:cNvCxnSpPr>
                    <a:stCxn id="51" idx="3"/>
                    <a:endCxn id="44" idx="0"/>
                  </p:cNvCxnSpPr>
                  <p:nvPr/>
                </p:nvCxnSpPr>
                <p:spPr>
                  <a:xfrm>
                    <a:off x="5467864" y="3747480"/>
                    <a:ext cx="242111" cy="790808"/>
                  </a:xfrm>
                  <a:prstGeom prst="bentConnector2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rgbClr val="002060"/>
                    </a:solidFill>
                    <a:headEnd type="none" w="med" len="med"/>
                    <a:tailEnd type="triangle" w="med" len="med"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sp>
              <p:nvSpPr>
                <p:cNvPr id="44" name="Rectangle 20"/>
                <p:cNvSpPr>
                  <a:spLocks noChangeArrowheads="1"/>
                </p:cNvSpPr>
                <p:nvPr/>
              </p:nvSpPr>
              <p:spPr bwMode="auto">
                <a:xfrm>
                  <a:off x="4608015" y="4538288"/>
                  <a:ext cx="959040" cy="40608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rgbClr val="00206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r>
                    <a:rPr lang="tr-TR" altLang="tr-TR" dirty="0" smtClean="0">
                      <a:solidFill>
                        <a:srgbClr val="002060"/>
                      </a:solidFill>
                      <a:latin typeface="+mn-lt"/>
                      <a:cs typeface="+mn-cs"/>
                    </a:rPr>
                    <a:t>ifadeler</a:t>
                  </a:r>
                  <a:endParaRPr lang="en-AU" altLang="tr-TR" dirty="0">
                    <a:solidFill>
                      <a:srgbClr val="002060"/>
                    </a:solidFill>
                    <a:latin typeface="+mn-lt"/>
                    <a:cs typeface="+mn-cs"/>
                  </a:endParaRPr>
                </a:p>
              </p:txBody>
            </p:sp>
          </p:grpSp>
          <p:sp>
            <p:nvSpPr>
              <p:cNvPr id="57" name="Rectangle 15"/>
              <p:cNvSpPr>
                <a:spLocks noChangeArrowheads="1"/>
              </p:cNvSpPr>
              <p:nvPr/>
            </p:nvSpPr>
            <p:spPr bwMode="auto">
              <a:xfrm>
                <a:off x="8008280" y="3049809"/>
                <a:ext cx="524160" cy="1514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>
                  <a:buClrTx/>
                  <a:buFontTx/>
                  <a:buNone/>
                </a:pPr>
                <a:r>
                  <a:rPr lang="tr-TR" altLang="tr-TR" sz="1270" b="1" dirty="0" smtClean="0">
                    <a:solidFill>
                      <a:srgbClr val="00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DOĞRU</a:t>
                </a:r>
                <a:endParaRPr lang="en-US" altLang="tr-TR" sz="1270" b="1" dirty="0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eaLnBrk="1" hangingPunct="1">
                  <a:buClrTx/>
                  <a:buFontTx/>
                  <a:buNone/>
                </a:pPr>
                <a:endParaRPr lang="en-US" altLang="tr-TR" sz="1270" b="1" dirty="0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Rectangle 15"/>
              <p:cNvSpPr>
                <a:spLocks noChangeArrowheads="1"/>
              </p:cNvSpPr>
              <p:nvPr/>
            </p:nvSpPr>
            <p:spPr bwMode="auto">
              <a:xfrm>
                <a:off x="6563695" y="3045593"/>
                <a:ext cx="609032" cy="1725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>
                  <a:buClrTx/>
                  <a:buFontTx/>
                  <a:buNone/>
                </a:pPr>
                <a:r>
                  <a:rPr lang="tr-TR" altLang="tr-TR" sz="1270" b="1" dirty="0" smtClean="0">
                    <a:solidFill>
                      <a:srgbClr val="00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YANLIŞ</a:t>
                </a:r>
                <a:endParaRPr lang="en-US" altLang="tr-TR" sz="1270" b="1" dirty="0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eaLnBrk="1" hangingPunct="1">
                  <a:buClrTx/>
                  <a:buFontTx/>
                  <a:buNone/>
                </a:pPr>
                <a:endParaRPr lang="en-US" altLang="tr-TR" sz="1270" b="1" dirty="0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26" name="AutoShape 27"/>
            <p:cNvCxnSpPr>
              <a:cxnSpLocks noChangeShapeType="1"/>
              <a:stCxn id="28" idx="2"/>
              <a:endCxn id="54" idx="2"/>
            </p:cNvCxnSpPr>
            <p:nvPr/>
          </p:nvCxnSpPr>
          <p:spPr bwMode="auto">
            <a:xfrm rot="16200000" flipH="1">
              <a:off x="6248751" y="3810362"/>
              <a:ext cx="471554" cy="792222"/>
            </a:xfrm>
            <a:prstGeom prst="bentConnector2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7" name="Dirsek Bağlayıcısı 26"/>
            <p:cNvCxnSpPr>
              <a:stCxn id="51" idx="1"/>
              <a:endCxn id="28" idx="0"/>
            </p:cNvCxnSpPr>
            <p:nvPr/>
          </p:nvCxnSpPr>
          <p:spPr>
            <a:xfrm rot="10800000" flipV="1">
              <a:off x="6088417" y="2638564"/>
              <a:ext cx="317446" cy="879605"/>
            </a:xfrm>
            <a:prstGeom prst="bentConnector2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8" name="Rectangle 20"/>
            <p:cNvSpPr>
              <a:spLocks noChangeArrowheads="1"/>
            </p:cNvSpPr>
            <p:nvPr/>
          </p:nvSpPr>
          <p:spPr bwMode="auto">
            <a:xfrm>
              <a:off x="5517657" y="3518170"/>
              <a:ext cx="1141520" cy="45252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tr-TR" altLang="tr-TR" dirty="0" smtClean="0">
                  <a:solidFill>
                    <a:srgbClr val="002060"/>
                  </a:solidFill>
                  <a:latin typeface="+mn-lt"/>
                  <a:cs typeface="+mn-cs"/>
                </a:rPr>
                <a:t>ifadeler</a:t>
              </a:r>
              <a:endParaRPr lang="en-AU" altLang="tr-TR" dirty="0">
                <a:solidFill>
                  <a:srgbClr val="002060"/>
                </a:solidFill>
                <a:latin typeface="+mn-lt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3767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Seçme/Kontrol Yapıları…</a:t>
            </a:r>
            <a:endParaRPr lang="tr-TR" dirty="0"/>
          </a:p>
        </p:txBody>
      </p:sp>
      <p:sp>
        <p:nvSpPr>
          <p:cNvPr id="4" name="İçerik Yer Tutucusu 3"/>
          <p:cNvSpPr>
            <a:spLocks noGrp="1"/>
          </p:cNvSpPr>
          <p:nvPr>
            <p:ph idx="1"/>
          </p:nvPr>
        </p:nvSpPr>
        <p:spPr>
          <a:xfrm>
            <a:off x="179512" y="1020208"/>
            <a:ext cx="8856984" cy="5001080"/>
          </a:xfrm>
        </p:spPr>
        <p:txBody>
          <a:bodyPr>
            <a:normAutofit/>
          </a:bodyPr>
          <a:lstStyle/>
          <a:p>
            <a:pPr marL="171450" lvl="1">
              <a:spcBef>
                <a:spcPts val="750"/>
              </a:spcBef>
            </a:pPr>
            <a:r>
              <a:rPr lang="tr-TR" altLang="tr-TR" sz="2400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</a:t>
            </a:r>
            <a:r>
              <a:rPr lang="tr-TR" altLang="tr-T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/else Kontrol Yapısı</a:t>
            </a:r>
          </a:p>
          <a:p>
            <a:pPr lvl="1" algn="just">
              <a:spcBef>
                <a:spcPts val="1134"/>
              </a:spcBef>
            </a:pPr>
            <a:r>
              <a:rPr lang="tr-TR" altLang="tr-TR" sz="2400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</a:t>
            </a:r>
            <a:r>
              <a:rPr lang="tr-TR" altLang="tr-TR" sz="2400" dirty="0" smtClean="0">
                <a:solidFill>
                  <a:srgbClr val="000000"/>
                </a:solidFill>
              </a:rPr>
              <a:t> </a:t>
            </a:r>
            <a:r>
              <a:rPr lang="tr-TR" altLang="tr-TR" sz="2400" dirty="0" smtClean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tr-TR" altLang="tr-TR" sz="2400" dirty="0" smtClean="0">
                <a:solidFill>
                  <a:srgbClr val="FFC000"/>
                </a:solidFill>
              </a:rPr>
              <a:t>(</a:t>
            </a:r>
            <a:r>
              <a:rPr lang="tr-TR" altLang="tr-TR" sz="2400" dirty="0" smtClean="0">
                <a:solidFill>
                  <a:srgbClr val="000000"/>
                </a:solidFill>
              </a:rPr>
              <a:t>not</a:t>
            </a:r>
            <a:r>
              <a:rPr lang="tr-TR" altLang="tr-TR" sz="2400" dirty="0" smtClean="0">
                <a:solidFill>
                  <a:srgbClr val="0070C0"/>
                </a:solidFill>
              </a:rPr>
              <a:t>&gt;</a:t>
            </a:r>
            <a:r>
              <a:rPr lang="tr-TR" altLang="tr-TR" sz="2400" dirty="0" smtClean="0">
                <a:solidFill>
                  <a:srgbClr val="000000"/>
                </a:solidFill>
              </a:rPr>
              <a:t>65</a:t>
            </a:r>
            <a:r>
              <a:rPr lang="tr-TR" altLang="tr-TR" sz="2400" dirty="0" smtClean="0">
                <a:solidFill>
                  <a:srgbClr val="FFC000"/>
                </a:solidFill>
              </a:rPr>
              <a:t>)</a:t>
            </a:r>
            <a:r>
              <a:rPr lang="tr-TR" altLang="tr-TR" sz="2400" dirty="0" smtClean="0">
                <a:solidFill>
                  <a:srgbClr val="000000"/>
                </a:solidFill>
              </a:rPr>
              <a:t> </a:t>
            </a:r>
          </a:p>
          <a:p>
            <a:pPr marL="685800" lvl="2" indent="0" algn="just">
              <a:spcBef>
                <a:spcPts val="1134"/>
              </a:spcBef>
              <a:buNone/>
            </a:pPr>
            <a:r>
              <a:rPr lang="tr-TR" altLang="tr-TR" sz="2100" dirty="0" smtClean="0">
                <a:solidFill>
                  <a:srgbClr val="000000"/>
                </a:solidFill>
              </a:rPr>
              <a:t>   "Geçti </a:t>
            </a:r>
            <a:r>
              <a:rPr lang="tr-TR" altLang="tr-TR" sz="2100" dirty="0" smtClean="0">
                <a:solidFill>
                  <a:srgbClr val="000000"/>
                </a:solidFill>
                <a:sym typeface="Wingdings" panose="05000000000000000000" pitchFamily="2" charset="2"/>
              </a:rPr>
              <a:t></a:t>
            </a:r>
            <a:r>
              <a:rPr lang="tr-TR" altLang="tr-TR" sz="2100" dirty="0" smtClean="0">
                <a:solidFill>
                  <a:srgbClr val="000000"/>
                </a:solidFill>
              </a:rPr>
              <a:t>" </a:t>
            </a:r>
            <a:r>
              <a:rPr lang="tr-TR" altLang="tr-TR" sz="2100" dirty="0" smtClean="0">
                <a:solidFill>
                  <a:srgbClr val="7030A0"/>
                </a:solidFill>
              </a:rPr>
              <a:t>yaz</a:t>
            </a:r>
          </a:p>
          <a:p>
            <a:pPr marL="685800" lvl="2" indent="0" algn="just">
              <a:spcBef>
                <a:spcPts val="1134"/>
              </a:spcBef>
              <a:buNone/>
            </a:pPr>
            <a:r>
              <a:rPr lang="tr-TR" altLang="tr-TR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  <a:r>
              <a:rPr lang="tr-TR" altLang="tr-TR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lse</a:t>
            </a:r>
            <a:endParaRPr lang="tr-TR" altLang="tr-TR" sz="24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685800" lvl="2" indent="0" algn="just">
              <a:spcBef>
                <a:spcPts val="1134"/>
              </a:spcBef>
              <a:buNone/>
            </a:pPr>
            <a:r>
              <a:rPr lang="tr-TR" altLang="tr-TR" sz="2100" dirty="0" smtClean="0">
                <a:solidFill>
                  <a:srgbClr val="000000"/>
                </a:solidFill>
              </a:rPr>
              <a:t>   "Kaldı </a:t>
            </a:r>
            <a:r>
              <a:rPr lang="tr-TR" altLang="tr-TR" sz="2100" dirty="0" smtClean="0">
                <a:solidFill>
                  <a:srgbClr val="000000"/>
                </a:solidFill>
                <a:sym typeface="Wingdings" panose="05000000000000000000" pitchFamily="2" charset="2"/>
              </a:rPr>
              <a:t></a:t>
            </a:r>
            <a:r>
              <a:rPr lang="tr-TR" altLang="tr-TR" sz="2100" dirty="0" smtClean="0">
                <a:solidFill>
                  <a:srgbClr val="000000"/>
                </a:solidFill>
              </a:rPr>
              <a:t>" </a:t>
            </a:r>
            <a:r>
              <a:rPr lang="tr-TR" altLang="tr-TR" sz="2100" dirty="0" smtClean="0">
                <a:solidFill>
                  <a:srgbClr val="7030A0"/>
                </a:solidFill>
              </a:rPr>
              <a:t>yaz</a:t>
            </a:r>
          </a:p>
          <a:p>
            <a:pPr marL="342900" lvl="1" indent="0" algn="just">
              <a:spcBef>
                <a:spcPts val="1134"/>
              </a:spcBef>
              <a:buNone/>
            </a:pPr>
            <a:endParaRPr lang="tr-TR" altLang="tr-TR" sz="2400" dirty="0">
              <a:solidFill>
                <a:srgbClr val="7030A0"/>
              </a:solidFill>
            </a:endParaRPr>
          </a:p>
          <a:p>
            <a:pPr marL="342900" lvl="1" indent="0" algn="just">
              <a:spcBef>
                <a:spcPts val="1134"/>
              </a:spcBef>
              <a:buNone/>
            </a:pPr>
            <a:endParaRPr lang="tr-TR" altLang="tr-TR" sz="2400" dirty="0" smtClean="0">
              <a:solidFill>
                <a:srgbClr val="7030A0"/>
              </a:solidFill>
            </a:endParaRPr>
          </a:p>
          <a:p>
            <a:pPr lvl="1" algn="just">
              <a:spcBef>
                <a:spcPts val="1134"/>
              </a:spcBef>
            </a:pPr>
            <a:r>
              <a:rPr lang="tr-TR" altLang="tr-TR" sz="2400" dirty="0" smtClean="0">
                <a:solidFill>
                  <a:srgbClr val="000000"/>
                </a:solidFill>
              </a:rPr>
              <a:t>Kısa </a:t>
            </a:r>
            <a:r>
              <a:rPr lang="tr-TR" altLang="tr-TR" sz="2400" dirty="0" err="1"/>
              <a:t>if</a:t>
            </a:r>
            <a:r>
              <a:rPr lang="tr-TR" altLang="tr-TR" sz="2400" dirty="0"/>
              <a:t>/else</a:t>
            </a:r>
            <a:r>
              <a:rPr lang="tr-TR" altLang="tr-TR" sz="2400" dirty="0">
                <a:solidFill>
                  <a:srgbClr val="000000"/>
                </a:solidFill>
              </a:rPr>
              <a:t> </a:t>
            </a:r>
            <a:r>
              <a:rPr lang="tr-TR" altLang="tr-TR" sz="2400" dirty="0" smtClean="0">
                <a:solidFill>
                  <a:srgbClr val="000000"/>
                </a:solidFill>
              </a:rPr>
              <a:t>operatörü (</a:t>
            </a:r>
            <a:r>
              <a:rPr lang="en-US" altLang="tr-TR" sz="2400" dirty="0">
                <a:solidFill>
                  <a:srgbClr val="000000"/>
                </a:solidFill>
              </a:rPr>
              <a:t>Ternary conditional </a:t>
            </a:r>
            <a:r>
              <a:rPr lang="en-US" altLang="tr-TR" sz="2400" dirty="0" err="1">
                <a:solidFill>
                  <a:srgbClr val="000000"/>
                </a:solidFill>
              </a:rPr>
              <a:t>operatör</a:t>
            </a:r>
            <a:r>
              <a:rPr lang="tr-TR" altLang="tr-TR" sz="2400" dirty="0">
                <a:solidFill>
                  <a:srgbClr val="000000"/>
                </a:solidFill>
              </a:rPr>
              <a:t>)</a:t>
            </a:r>
            <a:r>
              <a:rPr lang="en-US" altLang="tr-TR" sz="2400" dirty="0">
                <a:solidFill>
                  <a:srgbClr val="000000"/>
                </a:solidFill>
              </a:rPr>
              <a:t> </a:t>
            </a:r>
            <a:r>
              <a:rPr lang="en-US" altLang="tr-T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(?:)</a:t>
            </a:r>
          </a:p>
          <a:p>
            <a:pPr lvl="1" algn="just">
              <a:spcBef>
                <a:spcPts val="1134"/>
              </a:spcBef>
            </a:pPr>
            <a:endParaRPr lang="tr-TR" altLang="tr-TR" sz="2400" dirty="0">
              <a:solidFill>
                <a:srgbClr val="7030A0"/>
              </a:solidFill>
            </a:endParaRPr>
          </a:p>
          <a:p>
            <a:pPr marL="685800" lvl="2" indent="0" algn="just">
              <a:spcBef>
                <a:spcPts val="1134"/>
              </a:spcBef>
              <a:buNone/>
            </a:pPr>
            <a:endParaRPr lang="tr-TR" altLang="tr-TR" sz="2100" dirty="0" smtClean="0">
              <a:solidFill>
                <a:srgbClr val="7030A0"/>
              </a:solidFill>
            </a:endParaRPr>
          </a:p>
          <a:p>
            <a:pPr marL="685800" lvl="2" indent="0" algn="just">
              <a:spcBef>
                <a:spcPts val="1134"/>
              </a:spcBef>
              <a:buNone/>
            </a:pPr>
            <a:endParaRPr lang="tr-TR" altLang="tr-TR" sz="2100" dirty="0" smtClean="0">
              <a:solidFill>
                <a:srgbClr val="7030A0"/>
              </a:solidFill>
            </a:endParaRPr>
          </a:p>
          <a:p>
            <a:pPr lvl="1" algn="just">
              <a:spcBef>
                <a:spcPts val="1134"/>
              </a:spcBef>
            </a:pPr>
            <a:endParaRPr lang="tr-TR" altLang="tr-TR" sz="2400" dirty="0" smtClean="0">
              <a:solidFill>
                <a:srgbClr val="7030A0"/>
              </a:solidFill>
            </a:endParaRPr>
          </a:p>
          <a:p>
            <a:pPr algn="ctr">
              <a:buClrTx/>
              <a:buNone/>
            </a:pPr>
            <a:endParaRPr lang="tr-TR" altLang="tr-TR" b="1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endParaRPr lang="tr-TR" altLang="tr-TR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endParaRPr lang="tr-TR" altLang="tr-TR" sz="2400" dirty="0" smtClean="0">
              <a:solidFill>
                <a:srgbClr val="000000"/>
              </a:solidFill>
            </a:endParaRPr>
          </a:p>
          <a:p>
            <a:pPr lvl="1"/>
            <a:endParaRPr lang="tr-TR" altLang="tr-TR" sz="2400" dirty="0">
              <a:solidFill>
                <a:srgbClr val="000000"/>
              </a:solidFill>
            </a:endParaRPr>
          </a:p>
          <a:p>
            <a:pPr lvl="1"/>
            <a:endParaRPr lang="tr-T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8" name="Grup 7"/>
          <p:cNvGrpSpPr/>
          <p:nvPr/>
        </p:nvGrpSpPr>
        <p:grpSpPr>
          <a:xfrm>
            <a:off x="5292080" y="1257933"/>
            <a:ext cx="3983736" cy="2541845"/>
            <a:chOff x="5040663" y="1617973"/>
            <a:chExt cx="3983736" cy="2541845"/>
          </a:xfrm>
        </p:grpSpPr>
        <p:grpSp>
          <p:nvGrpSpPr>
            <p:cNvPr id="12" name="Grup 11"/>
            <p:cNvGrpSpPr/>
            <p:nvPr/>
          </p:nvGrpSpPr>
          <p:grpSpPr>
            <a:xfrm>
              <a:off x="5712032" y="1617973"/>
              <a:ext cx="3312367" cy="2541845"/>
              <a:chOff x="6418643" y="2324384"/>
              <a:chExt cx="2782862" cy="2280960"/>
            </a:xfrm>
          </p:grpSpPr>
          <p:sp>
            <p:nvSpPr>
              <p:cNvPr id="17" name="Rectangle 5"/>
              <p:cNvSpPr>
                <a:spLocks noChangeArrowheads="1"/>
              </p:cNvSpPr>
              <p:nvPr/>
            </p:nvSpPr>
            <p:spPr bwMode="auto">
              <a:xfrm>
                <a:off x="7732040" y="2981160"/>
                <a:ext cx="203040" cy="276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18" name="Rectangle 6"/>
              <p:cNvSpPr>
                <a:spLocks noChangeArrowheads="1"/>
              </p:cNvSpPr>
              <p:nvPr/>
            </p:nvSpPr>
            <p:spPr bwMode="auto">
              <a:xfrm>
                <a:off x="7732040" y="2981160"/>
                <a:ext cx="203040" cy="276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19" name="Rectangle 7"/>
              <p:cNvSpPr>
                <a:spLocks noChangeArrowheads="1"/>
              </p:cNvSpPr>
              <p:nvPr/>
            </p:nvSpPr>
            <p:spPr bwMode="auto">
              <a:xfrm>
                <a:off x="7732040" y="2981160"/>
                <a:ext cx="203040" cy="276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20" name="Rectangle 8"/>
              <p:cNvSpPr>
                <a:spLocks noChangeArrowheads="1"/>
              </p:cNvSpPr>
              <p:nvPr/>
            </p:nvSpPr>
            <p:spPr bwMode="auto">
              <a:xfrm>
                <a:off x="7732040" y="2981160"/>
                <a:ext cx="203040" cy="276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21" name="Rectangle 9"/>
              <p:cNvSpPr>
                <a:spLocks noChangeArrowheads="1"/>
              </p:cNvSpPr>
              <p:nvPr/>
            </p:nvSpPr>
            <p:spPr bwMode="auto">
              <a:xfrm>
                <a:off x="6549800" y="2788200"/>
                <a:ext cx="204480" cy="276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22" name="Rectangle 10"/>
              <p:cNvSpPr>
                <a:spLocks noChangeArrowheads="1"/>
              </p:cNvSpPr>
              <p:nvPr/>
            </p:nvSpPr>
            <p:spPr bwMode="auto">
              <a:xfrm>
                <a:off x="7732040" y="2981160"/>
                <a:ext cx="203040" cy="276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23" name="Rectangle 11"/>
              <p:cNvSpPr>
                <a:spLocks noChangeArrowheads="1"/>
              </p:cNvSpPr>
              <p:nvPr/>
            </p:nvSpPr>
            <p:spPr bwMode="auto">
              <a:xfrm>
                <a:off x="7732040" y="2981160"/>
                <a:ext cx="203040" cy="276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r-TR"/>
              </a:p>
            </p:txBody>
          </p:sp>
          <p:grpSp>
            <p:nvGrpSpPr>
              <p:cNvPr id="39" name="Grup 38"/>
              <p:cNvGrpSpPr/>
              <p:nvPr/>
            </p:nvGrpSpPr>
            <p:grpSpPr>
              <a:xfrm>
                <a:off x="6916601" y="2324384"/>
                <a:ext cx="2284904" cy="2280960"/>
                <a:chOff x="3663184" y="2831640"/>
                <a:chExt cx="2284904" cy="2280960"/>
              </a:xfrm>
            </p:grpSpPr>
            <p:grpSp>
              <p:nvGrpSpPr>
                <p:cNvPr id="41" name="Grup 40"/>
                <p:cNvGrpSpPr/>
                <p:nvPr/>
              </p:nvGrpSpPr>
              <p:grpSpPr>
                <a:xfrm>
                  <a:off x="3663184" y="2831640"/>
                  <a:ext cx="1766110" cy="2280960"/>
                  <a:chOff x="4285624" y="2831640"/>
                  <a:chExt cx="1766110" cy="2280960"/>
                </a:xfrm>
              </p:grpSpPr>
              <p:grpSp>
                <p:nvGrpSpPr>
                  <p:cNvPr id="47" name="Group 17"/>
                  <p:cNvGrpSpPr>
                    <a:grpSpLocks/>
                  </p:cNvGrpSpPr>
                  <p:nvPr/>
                </p:nvGrpSpPr>
                <p:grpSpPr bwMode="auto">
                  <a:xfrm>
                    <a:off x="4285624" y="2831640"/>
                    <a:ext cx="1765440" cy="2280960"/>
                    <a:chOff x="2141" y="1492"/>
                    <a:chExt cx="1226" cy="1584"/>
                  </a:xfrm>
                </p:grpSpPr>
                <p:sp>
                  <p:nvSpPr>
                    <p:cNvPr id="51" name="AutoShape 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41" y="1873"/>
                      <a:ext cx="881" cy="510"/>
                    </a:xfrm>
                    <a:prstGeom prst="diamond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9050">
                      <a:solidFill>
                        <a:srgbClr val="002060"/>
                      </a:solidFill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rIns="0" anchor="ctr"/>
                    <a:lstStyle/>
                    <a:p>
                      <a:pPr algn="ctr"/>
                      <a:r>
                        <a:rPr lang="tr-TR" altLang="tr-TR" dirty="0" err="1" smtClean="0">
                          <a:solidFill>
                            <a:srgbClr val="002060"/>
                          </a:solidFill>
                        </a:rPr>
                        <a:t>ort</a:t>
                      </a:r>
                      <a:r>
                        <a:rPr lang="tr-TR" altLang="tr-TR" dirty="0" smtClean="0">
                          <a:solidFill>
                            <a:srgbClr val="002060"/>
                          </a:solidFill>
                        </a:rPr>
                        <a:t>&gt;=60</a:t>
                      </a:r>
                      <a:endParaRPr lang="tr-TR" altLang="tr-TR" dirty="0">
                        <a:solidFill>
                          <a:srgbClr val="002060"/>
                        </a:solidFill>
                        <a:latin typeface="+mn-lt"/>
                        <a:cs typeface="+mn-cs"/>
                      </a:endParaRPr>
                    </a:p>
                  </p:txBody>
                </p:sp>
                <p:sp>
                  <p:nvSpPr>
                    <p:cNvPr id="53" name="Oval 2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88" y="1492"/>
                      <a:ext cx="186" cy="186"/>
                    </a:xfrm>
                    <a:prstGeom prst="ellipse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9050">
                      <a:solidFill>
                        <a:srgbClr val="002060"/>
                      </a:solidFill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lang="tr-TR">
                        <a:solidFill>
                          <a:srgbClr val="002060"/>
                        </a:solidFill>
                        <a:latin typeface="+mn-lt"/>
                        <a:cs typeface="+mn-cs"/>
                      </a:endParaRPr>
                    </a:p>
                  </p:txBody>
                </p:sp>
                <p:sp>
                  <p:nvSpPr>
                    <p:cNvPr id="54" name="Oval 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77" y="2890"/>
                      <a:ext cx="186" cy="186"/>
                    </a:xfrm>
                    <a:prstGeom prst="ellipse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9050">
                      <a:solidFill>
                        <a:srgbClr val="002060"/>
                      </a:solidFill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lang="tr-TR">
                        <a:solidFill>
                          <a:srgbClr val="002060"/>
                        </a:solidFill>
                        <a:latin typeface="+mn-lt"/>
                        <a:cs typeface="+mn-cs"/>
                      </a:endParaRPr>
                    </a:p>
                  </p:txBody>
                </p:sp>
                <p:cxnSp>
                  <p:nvCxnSpPr>
                    <p:cNvPr id="55" name="AutoShape 23"/>
                    <p:cNvCxnSpPr>
                      <a:cxnSpLocks noChangeShapeType="1"/>
                      <a:stCxn id="53" idx="4"/>
                      <a:endCxn id="51" idx="0"/>
                    </p:cNvCxnSpPr>
                    <p:nvPr/>
                  </p:nvCxnSpPr>
                  <p:spPr bwMode="auto">
                    <a:xfrm>
                      <a:off x="2581" y="1678"/>
                      <a:ext cx="1" cy="195"/>
                    </a:xfrm>
                    <a:prstGeom prst="straightConnector1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9050">
                      <a:solidFill>
                        <a:srgbClr val="002060"/>
                      </a:solidFill>
                      <a:headEnd type="none" w="med" len="med"/>
                      <a:tailEnd type="triangle" w="med" len="med"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56" name="AutoShape 27"/>
                    <p:cNvCxnSpPr>
                      <a:cxnSpLocks noChangeShapeType="1"/>
                      <a:stCxn id="44" idx="2"/>
                      <a:endCxn id="54" idx="6"/>
                    </p:cNvCxnSpPr>
                    <p:nvPr/>
                  </p:nvCxnSpPr>
                  <p:spPr bwMode="auto">
                    <a:xfrm rot="5400000">
                      <a:off x="2930" y="2546"/>
                      <a:ext cx="170" cy="704"/>
                    </a:xfrm>
                    <a:prstGeom prst="bentConnector2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9050">
                      <a:solidFill>
                        <a:srgbClr val="002060"/>
                      </a:solidFill>
                      <a:headEnd type="none" w="med" len="med"/>
                      <a:tailEnd type="triangle" w="med" len="med"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cxnSp>
                <p:nvCxnSpPr>
                  <p:cNvPr id="49" name="Dirsek Bağlayıcısı 48"/>
                  <p:cNvCxnSpPr>
                    <a:stCxn id="51" idx="3"/>
                    <a:endCxn id="44" idx="0"/>
                  </p:cNvCxnSpPr>
                  <p:nvPr/>
                </p:nvCxnSpPr>
                <p:spPr>
                  <a:xfrm>
                    <a:off x="5554264" y="3747480"/>
                    <a:ext cx="497470" cy="580072"/>
                  </a:xfrm>
                  <a:prstGeom prst="bentConnector2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rgbClr val="002060"/>
                    </a:solidFill>
                    <a:headEnd type="none" w="med" len="med"/>
                    <a:tailEnd type="triangle" w="med" len="med"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sp>
              <p:nvSpPr>
                <p:cNvPr id="44" name="Rectangle 20"/>
                <p:cNvSpPr>
                  <a:spLocks noChangeArrowheads="1"/>
                </p:cNvSpPr>
                <p:nvPr/>
              </p:nvSpPr>
              <p:spPr bwMode="auto">
                <a:xfrm>
                  <a:off x="4910499" y="4327553"/>
                  <a:ext cx="1037589" cy="40608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rgbClr val="00206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r>
                    <a:rPr lang="tr-TR" altLang="tr-TR" dirty="0" smtClean="0">
                      <a:solidFill>
                        <a:srgbClr val="002060"/>
                      </a:solidFill>
                      <a:latin typeface="+mn-lt"/>
                      <a:cs typeface="+mn-cs"/>
                    </a:rPr>
                    <a:t>Yaz "Geçti"</a:t>
                  </a:r>
                  <a:endParaRPr lang="en-AU" altLang="tr-TR" dirty="0">
                    <a:solidFill>
                      <a:srgbClr val="002060"/>
                    </a:solidFill>
                    <a:latin typeface="+mn-lt"/>
                    <a:cs typeface="+mn-cs"/>
                  </a:endParaRPr>
                </a:p>
              </p:txBody>
            </p:sp>
          </p:grpSp>
          <p:sp>
            <p:nvSpPr>
              <p:cNvPr id="57" name="Rectangle 15"/>
              <p:cNvSpPr>
                <a:spLocks noChangeArrowheads="1"/>
              </p:cNvSpPr>
              <p:nvPr/>
            </p:nvSpPr>
            <p:spPr bwMode="auto">
              <a:xfrm>
                <a:off x="8193369" y="3067018"/>
                <a:ext cx="524160" cy="1832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>
                  <a:buClrTx/>
                  <a:buFontTx/>
                  <a:buNone/>
                </a:pPr>
                <a:r>
                  <a:rPr lang="tr-TR" altLang="tr-TR" sz="1270" b="1" dirty="0" smtClean="0">
                    <a:solidFill>
                      <a:srgbClr val="00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DOĞRU</a:t>
                </a:r>
                <a:endParaRPr lang="en-US" altLang="tr-TR" sz="1270" b="1" dirty="0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eaLnBrk="1" hangingPunct="1">
                  <a:buClrTx/>
                  <a:buFontTx/>
                  <a:buNone/>
                </a:pPr>
                <a:endParaRPr lang="en-US" altLang="tr-TR" sz="1270" b="1" dirty="0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Rectangle 15"/>
              <p:cNvSpPr>
                <a:spLocks noChangeArrowheads="1"/>
              </p:cNvSpPr>
              <p:nvPr/>
            </p:nvSpPr>
            <p:spPr bwMode="auto">
              <a:xfrm>
                <a:off x="6418643" y="3043573"/>
                <a:ext cx="609032" cy="1725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9pPr>
              </a:lstStyle>
              <a:p>
                <a:pPr eaLnBrk="1" hangingPunct="1">
                  <a:buClrTx/>
                  <a:buFontTx/>
                  <a:buNone/>
                </a:pPr>
                <a:r>
                  <a:rPr lang="tr-TR" altLang="tr-TR" sz="1270" b="1" dirty="0" smtClean="0">
                    <a:solidFill>
                      <a:srgbClr val="00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YANLIŞ</a:t>
                </a:r>
                <a:endParaRPr lang="en-US" altLang="tr-TR" sz="1270" b="1" dirty="0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eaLnBrk="1" hangingPunct="1">
                  <a:buClrTx/>
                  <a:buFontTx/>
                  <a:buNone/>
                </a:pPr>
                <a:endParaRPr lang="en-US" altLang="tr-TR" sz="1270" b="1" dirty="0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26" name="AutoShape 27"/>
            <p:cNvCxnSpPr>
              <a:cxnSpLocks noChangeShapeType="1"/>
              <a:stCxn id="28" idx="2"/>
              <a:endCxn id="54" idx="2"/>
            </p:cNvCxnSpPr>
            <p:nvPr/>
          </p:nvCxnSpPr>
          <p:spPr bwMode="auto">
            <a:xfrm rot="16200000" flipH="1">
              <a:off x="6135973" y="3265915"/>
              <a:ext cx="273073" cy="1216261"/>
            </a:xfrm>
            <a:prstGeom prst="bentConnector2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7" name="Dirsek Bağlayıcısı 26"/>
            <p:cNvCxnSpPr>
              <a:stCxn id="51" idx="1"/>
              <a:endCxn id="28" idx="0"/>
            </p:cNvCxnSpPr>
            <p:nvPr/>
          </p:nvCxnSpPr>
          <p:spPr>
            <a:xfrm rot="10800000" flipV="1">
              <a:off x="5664380" y="2638564"/>
              <a:ext cx="640359" cy="646419"/>
            </a:xfrm>
            <a:prstGeom prst="bentConnector2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8" name="Rectangle 20"/>
            <p:cNvSpPr>
              <a:spLocks noChangeArrowheads="1"/>
            </p:cNvSpPr>
            <p:nvPr/>
          </p:nvSpPr>
          <p:spPr bwMode="auto">
            <a:xfrm>
              <a:off x="5040663" y="3284984"/>
              <a:ext cx="1247432" cy="45252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tr-TR" altLang="tr-TR" dirty="0">
                  <a:solidFill>
                    <a:srgbClr val="002060"/>
                  </a:solidFill>
                </a:rPr>
                <a:t>Yaz </a:t>
              </a:r>
              <a:r>
                <a:rPr lang="tr-TR" altLang="tr-TR" dirty="0" smtClean="0">
                  <a:solidFill>
                    <a:srgbClr val="002060"/>
                  </a:solidFill>
                </a:rPr>
                <a:t>"Kaldı"</a:t>
              </a:r>
              <a:endParaRPr lang="en-AU" altLang="tr-TR" dirty="0">
                <a:solidFill>
                  <a:srgbClr val="002060"/>
                </a:solidFill>
              </a:endParaRPr>
            </a:p>
          </p:txBody>
        </p:sp>
      </p:grpSp>
      <p:pic>
        <p:nvPicPr>
          <p:cNvPr id="9" name="Resi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696" y="1628800"/>
            <a:ext cx="2438400" cy="10953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" name="Text Box 39"/>
          <p:cNvSpPr txBox="1">
            <a:spLocks noChangeArrowheads="1"/>
          </p:cNvSpPr>
          <p:nvPr/>
        </p:nvSpPr>
        <p:spPr bwMode="auto">
          <a:xfrm>
            <a:off x="3528008" y="5265200"/>
            <a:ext cx="1116000" cy="455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38" tIns="42452" rIns="81638" bIns="42452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spcBef>
                <a:spcPts val="567"/>
              </a:spcBef>
            </a:pPr>
            <a:r>
              <a:rPr lang="tr-TR" altLang="tr-TR" sz="1200" b="1" dirty="0">
                <a:solidFill>
                  <a:srgbClr val="0070C0"/>
                </a:solidFill>
              </a:rPr>
              <a:t>Doğru </a:t>
            </a:r>
            <a:r>
              <a:rPr lang="tr-TR" altLang="tr-TR" sz="1200" b="1" dirty="0" smtClean="0">
                <a:solidFill>
                  <a:srgbClr val="0070C0"/>
                </a:solidFill>
              </a:rPr>
              <a:t>(</a:t>
            </a:r>
            <a:r>
              <a:rPr lang="tr-TR" altLang="tr-TR" sz="1200" b="1" dirty="0" err="1">
                <a:solidFill>
                  <a:srgbClr val="0070C0"/>
                </a:solidFill>
              </a:rPr>
              <a:t>true</a:t>
            </a:r>
            <a:r>
              <a:rPr lang="tr-TR" altLang="tr-TR" sz="1200" b="1" dirty="0">
                <a:solidFill>
                  <a:srgbClr val="0070C0"/>
                </a:solidFill>
              </a:rPr>
              <a:t>) durum işlemi</a:t>
            </a:r>
          </a:p>
        </p:txBody>
      </p:sp>
      <p:sp>
        <p:nvSpPr>
          <p:cNvPr id="40" name="Text Box 40"/>
          <p:cNvSpPr txBox="1">
            <a:spLocks noChangeArrowheads="1"/>
          </p:cNvSpPr>
          <p:nvPr/>
        </p:nvSpPr>
        <p:spPr bwMode="auto">
          <a:xfrm>
            <a:off x="4844312" y="5258000"/>
            <a:ext cx="1095840" cy="639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38" tIns="42452" rIns="81638" bIns="42452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spcBef>
                <a:spcPts val="567"/>
              </a:spcBef>
            </a:pPr>
            <a:r>
              <a:rPr lang="tr-TR" altLang="tr-TR" sz="1200" b="1" dirty="0">
                <a:solidFill>
                  <a:srgbClr val="0070C0"/>
                </a:solidFill>
              </a:rPr>
              <a:t>Yanlış(</a:t>
            </a:r>
            <a:r>
              <a:rPr lang="tr-TR" altLang="tr-TR" sz="1200" b="1" dirty="0" err="1">
                <a:solidFill>
                  <a:srgbClr val="0070C0"/>
                </a:solidFill>
              </a:rPr>
              <a:t>false</a:t>
            </a:r>
            <a:r>
              <a:rPr lang="tr-TR" altLang="tr-TR" sz="1200" b="1" dirty="0">
                <a:solidFill>
                  <a:srgbClr val="0070C0"/>
                </a:solidFill>
              </a:rPr>
              <a:t>) durum işlemi</a:t>
            </a:r>
          </a:p>
        </p:txBody>
      </p:sp>
      <p:sp>
        <p:nvSpPr>
          <p:cNvPr id="42" name="Text Box 41"/>
          <p:cNvSpPr txBox="1">
            <a:spLocks noChangeArrowheads="1"/>
          </p:cNvSpPr>
          <p:nvPr/>
        </p:nvSpPr>
        <p:spPr bwMode="auto">
          <a:xfrm>
            <a:off x="3120384" y="5642480"/>
            <a:ext cx="587520" cy="316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38" tIns="42452" rIns="81638" bIns="42452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spcBef>
                <a:spcPts val="794"/>
              </a:spcBef>
            </a:pPr>
            <a:r>
              <a:rPr lang="tr-TR" altLang="tr-TR" sz="15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</a:t>
            </a:r>
            <a:endParaRPr lang="tr-TR" altLang="tr-TR" sz="15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" name="Text Box 42"/>
          <p:cNvSpPr txBox="1">
            <a:spLocks noChangeArrowheads="1"/>
          </p:cNvSpPr>
          <p:nvPr/>
        </p:nvSpPr>
        <p:spPr bwMode="auto">
          <a:xfrm>
            <a:off x="4168864" y="5625200"/>
            <a:ext cx="979200" cy="316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38" tIns="42452" rIns="81638" bIns="42452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spcBef>
                <a:spcPts val="794"/>
              </a:spcBef>
            </a:pPr>
            <a:r>
              <a:rPr lang="tr-TR" altLang="tr-TR" sz="15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else</a:t>
            </a:r>
          </a:p>
        </p:txBody>
      </p:sp>
      <p:sp>
        <p:nvSpPr>
          <p:cNvPr id="45" name="Line 43"/>
          <p:cNvSpPr>
            <a:spLocks noChangeShapeType="1"/>
          </p:cNvSpPr>
          <p:nvPr/>
        </p:nvSpPr>
        <p:spPr bwMode="auto">
          <a:xfrm>
            <a:off x="3399952" y="5229200"/>
            <a:ext cx="1440" cy="424800"/>
          </a:xfrm>
          <a:prstGeom prst="line">
            <a:avLst/>
          </a:prstGeom>
          <a:noFill/>
          <a:ln w="25400" cap="sq">
            <a:solidFill>
              <a:srgbClr val="C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tr-TR"/>
          </a:p>
        </p:txBody>
      </p:sp>
      <p:sp>
        <p:nvSpPr>
          <p:cNvPr id="48" name="Line 44"/>
          <p:cNvSpPr>
            <a:spLocks noChangeShapeType="1"/>
          </p:cNvSpPr>
          <p:nvPr/>
        </p:nvSpPr>
        <p:spPr bwMode="auto">
          <a:xfrm>
            <a:off x="4644008" y="5229200"/>
            <a:ext cx="1440" cy="446400"/>
          </a:xfrm>
          <a:prstGeom prst="line">
            <a:avLst/>
          </a:prstGeom>
          <a:noFill/>
          <a:ln w="25400" cap="sq">
            <a:solidFill>
              <a:srgbClr val="C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tr-TR"/>
          </a:p>
        </p:txBody>
      </p:sp>
      <p:sp>
        <p:nvSpPr>
          <p:cNvPr id="50" name="Text Box 45"/>
          <p:cNvSpPr txBox="1">
            <a:spLocks noChangeArrowheads="1"/>
          </p:cNvSpPr>
          <p:nvPr/>
        </p:nvSpPr>
        <p:spPr bwMode="auto">
          <a:xfrm>
            <a:off x="2157336" y="5265201"/>
            <a:ext cx="1131352" cy="270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1638" tIns="42452" rIns="81638" bIns="42452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>
              <a:spcBef>
                <a:spcPts val="567"/>
              </a:spcBef>
            </a:pPr>
            <a:r>
              <a:rPr lang="tr-TR" altLang="tr-TR" sz="1200" b="1" dirty="0">
                <a:solidFill>
                  <a:srgbClr val="0070C0"/>
                </a:solidFill>
              </a:rPr>
              <a:t>Koşul</a:t>
            </a:r>
          </a:p>
        </p:txBody>
      </p:sp>
      <p:pic>
        <p:nvPicPr>
          <p:cNvPr id="15" name="Resim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276" y="4717300"/>
            <a:ext cx="5023286" cy="4608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9953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Seçme/Kontrol Yapıları…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171450" lvl="1">
                  <a:spcBef>
                    <a:spcPts val="750"/>
                  </a:spcBef>
                </a:pPr>
                <a:r>
                  <a:rPr lang="tr-TR" altLang="tr-TR" sz="2400" b="1" dirty="0" err="1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if</a:t>
                </a:r>
                <a:r>
                  <a:rPr lang="tr-TR" altLang="tr-TR" sz="24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/else Kontrol Yapısı</a:t>
                </a:r>
              </a:p>
              <a:p>
                <a:pPr lvl="1"/>
                <a:r>
                  <a:rPr lang="tr-TR" u="sng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ÖRNEK:</a:t>
                </a:r>
                <a14:m>
                  <m:oMath xmlns:m="http://schemas.openxmlformats.org/officeDocument/2006/math">
                    <m:r>
                      <a:rPr lang="tr-TR">
                        <a:solidFill>
                          <a:srgbClr val="7030A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tr-TR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tr-TR" altLang="tr-TR" dirty="0" smtClean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[2]_nothesapla.cpp</a:t>
                </a:r>
                <a:endParaRPr lang="tr-TR" altLang="tr-TR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lvl="1"/>
                <a:endParaRPr lang="tr-TR" dirty="0"/>
              </a:p>
            </p:txBody>
          </p:sp>
        </mc:Choice>
        <mc:Fallback xmlns="">
          <p:sp>
            <p:nvSpPr>
              <p:cNvPr id="3" name="İçerik Yer Tutucus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t="-1823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844824"/>
            <a:ext cx="4712443" cy="41764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4522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Seçme/Kontrol Yapıları…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171450" lvl="1">
                  <a:spcBef>
                    <a:spcPts val="750"/>
                  </a:spcBef>
                </a:pPr>
                <a:r>
                  <a:rPr lang="tr-TR" altLang="tr-TR" sz="2400" b="1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İç İçe </a:t>
                </a:r>
                <a:r>
                  <a:rPr lang="tr-TR" altLang="tr-TR" sz="2400" b="1" dirty="0" err="1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if</a:t>
                </a:r>
                <a:r>
                  <a:rPr lang="tr-TR" altLang="tr-TR" sz="2400" b="1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/else </a:t>
                </a:r>
                <a:r>
                  <a:rPr lang="tr-TR" altLang="tr-TR" sz="24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Kontrol Yapısı</a:t>
                </a:r>
              </a:p>
              <a:p>
                <a:pPr lvl="1"/>
                <a:r>
                  <a:rPr lang="tr-TR" u="sng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ÖRNEK:</a:t>
                </a:r>
                <a14:m>
                  <m:oMath xmlns:m="http://schemas.openxmlformats.org/officeDocument/2006/math">
                    <m:r>
                      <a:rPr lang="tr-TR">
                        <a:solidFill>
                          <a:srgbClr val="7030A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tr-TR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tr-TR" altLang="tr-TR" dirty="0" smtClean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[</a:t>
                </a:r>
                <a:r>
                  <a:rPr lang="tr-TR" altLang="tr-TR" dirty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</a:t>
                </a:r>
                <a:r>
                  <a:rPr lang="tr-TR" altLang="tr-TR" dirty="0" smtClean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]_harfnotuhesapla.cpp</a:t>
                </a:r>
                <a:endParaRPr lang="tr-TR" altLang="tr-TR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lvl="1"/>
                <a:endParaRPr lang="tr-TR" dirty="0"/>
              </a:p>
            </p:txBody>
          </p:sp>
        </mc:Choice>
        <mc:Fallback xmlns="">
          <p:sp>
            <p:nvSpPr>
              <p:cNvPr id="3" name="İçerik Yer Tutucus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t="-1823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4" name="Grup 113"/>
          <p:cNvGrpSpPr/>
          <p:nvPr/>
        </p:nvGrpSpPr>
        <p:grpSpPr>
          <a:xfrm>
            <a:off x="5351826" y="1124744"/>
            <a:ext cx="3684670" cy="4823574"/>
            <a:chOff x="5351826" y="1196752"/>
            <a:chExt cx="3684670" cy="4823574"/>
          </a:xfrm>
        </p:grpSpPr>
        <p:sp>
          <p:nvSpPr>
            <p:cNvPr id="30" name="AutoShape 18"/>
            <p:cNvSpPr>
              <a:spLocks noChangeArrowheads="1"/>
            </p:cNvSpPr>
            <p:nvPr/>
          </p:nvSpPr>
          <p:spPr bwMode="auto">
            <a:xfrm>
              <a:off x="5351826" y="2863760"/>
              <a:ext cx="1510029" cy="612000"/>
            </a:xfrm>
            <a:prstGeom prst="diamon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algn="ctr"/>
              <a:r>
                <a:rPr lang="tr-TR" altLang="tr-TR" dirty="0" smtClean="0">
                  <a:solidFill>
                    <a:srgbClr val="002060"/>
                  </a:solidFill>
                </a:rPr>
                <a:t>Koşul 2</a:t>
              </a:r>
              <a:endParaRPr lang="tr-TR" altLang="tr-TR" dirty="0">
                <a:solidFill>
                  <a:srgbClr val="002060"/>
                </a:solidFill>
                <a:latin typeface="+mn-lt"/>
                <a:cs typeface="+mn-cs"/>
              </a:endParaRPr>
            </a:p>
          </p:txBody>
        </p:sp>
        <p:sp>
          <p:nvSpPr>
            <p:cNvPr id="11" name="Rectangle 5"/>
            <p:cNvSpPr>
              <a:spLocks noChangeArrowheads="1"/>
            </p:cNvSpPr>
            <p:nvPr/>
          </p:nvSpPr>
          <p:spPr bwMode="auto">
            <a:xfrm>
              <a:off x="7425320" y="1795458"/>
              <a:ext cx="241673" cy="3081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2" name="Rectangle 6"/>
            <p:cNvSpPr>
              <a:spLocks noChangeArrowheads="1"/>
            </p:cNvSpPr>
            <p:nvPr/>
          </p:nvSpPr>
          <p:spPr bwMode="auto">
            <a:xfrm>
              <a:off x="7425320" y="1795458"/>
              <a:ext cx="241673" cy="3081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7425320" y="1795458"/>
              <a:ext cx="241673" cy="3081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" name="Rectangle 8"/>
            <p:cNvSpPr>
              <a:spLocks noChangeArrowheads="1"/>
            </p:cNvSpPr>
            <p:nvPr/>
          </p:nvSpPr>
          <p:spPr bwMode="auto">
            <a:xfrm>
              <a:off x="7425320" y="1795458"/>
              <a:ext cx="241673" cy="3081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6018131" y="1580428"/>
              <a:ext cx="243387" cy="3081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7425320" y="1795458"/>
              <a:ext cx="241673" cy="3081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7" name="Rectangle 11"/>
            <p:cNvSpPr>
              <a:spLocks noChangeArrowheads="1"/>
            </p:cNvSpPr>
            <p:nvPr/>
          </p:nvSpPr>
          <p:spPr bwMode="auto">
            <a:xfrm>
              <a:off x="7425320" y="1795458"/>
              <a:ext cx="241673" cy="3081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" name="AutoShape 18"/>
            <p:cNvSpPr>
              <a:spLocks noChangeArrowheads="1"/>
            </p:cNvSpPr>
            <p:nvPr/>
          </p:nvSpPr>
          <p:spPr bwMode="auto">
            <a:xfrm>
              <a:off x="5357768" y="1792097"/>
              <a:ext cx="1510029" cy="611392"/>
            </a:xfrm>
            <a:prstGeom prst="diamon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algn="ctr"/>
              <a:r>
                <a:rPr lang="tr-TR" altLang="tr-TR" dirty="0" smtClean="0">
                  <a:solidFill>
                    <a:srgbClr val="002060"/>
                  </a:solidFill>
                </a:rPr>
                <a:t>Koşul 1</a:t>
              </a:r>
              <a:endParaRPr lang="tr-TR" altLang="tr-TR" dirty="0">
                <a:solidFill>
                  <a:srgbClr val="002060"/>
                </a:solidFill>
                <a:latin typeface="+mn-lt"/>
                <a:cs typeface="+mn-cs"/>
              </a:endParaRPr>
            </a:p>
          </p:txBody>
        </p:sp>
        <p:sp>
          <p:nvSpPr>
            <p:cNvPr id="26" name="Oval 21"/>
            <p:cNvSpPr>
              <a:spLocks noChangeArrowheads="1"/>
            </p:cNvSpPr>
            <p:nvPr/>
          </p:nvSpPr>
          <p:spPr bwMode="auto">
            <a:xfrm>
              <a:off x="5952524" y="1196752"/>
              <a:ext cx="318803" cy="29847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tr-TR">
                <a:solidFill>
                  <a:srgbClr val="002060"/>
                </a:solidFill>
                <a:latin typeface="+mn-lt"/>
                <a:cs typeface="+mn-cs"/>
              </a:endParaRPr>
            </a:p>
          </p:txBody>
        </p:sp>
        <p:sp>
          <p:nvSpPr>
            <p:cNvPr id="27" name="Oval 22"/>
            <p:cNvSpPr>
              <a:spLocks noChangeArrowheads="1"/>
            </p:cNvSpPr>
            <p:nvPr/>
          </p:nvSpPr>
          <p:spPr bwMode="auto">
            <a:xfrm>
              <a:off x="5952032" y="5721851"/>
              <a:ext cx="318803" cy="29847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tr-TR">
                <a:solidFill>
                  <a:srgbClr val="002060"/>
                </a:solidFill>
                <a:latin typeface="+mn-lt"/>
                <a:cs typeface="+mn-cs"/>
              </a:endParaRPr>
            </a:p>
          </p:txBody>
        </p:sp>
        <p:cxnSp>
          <p:nvCxnSpPr>
            <p:cNvPr id="28" name="AutoShape 23"/>
            <p:cNvCxnSpPr>
              <a:cxnSpLocks noChangeShapeType="1"/>
              <a:stCxn id="26" idx="4"/>
              <a:endCxn id="25" idx="0"/>
            </p:cNvCxnSpPr>
            <p:nvPr/>
          </p:nvCxnSpPr>
          <p:spPr bwMode="auto">
            <a:xfrm>
              <a:off x="6111925" y="1495227"/>
              <a:ext cx="1714" cy="296870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2" name="Rectangle 20"/>
            <p:cNvSpPr>
              <a:spLocks noChangeArrowheads="1"/>
            </p:cNvSpPr>
            <p:nvPr/>
          </p:nvSpPr>
          <p:spPr bwMode="auto">
            <a:xfrm>
              <a:off x="7583172" y="1927657"/>
              <a:ext cx="936104" cy="34658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tr-TR" altLang="tr-TR" dirty="0" smtClean="0">
                  <a:solidFill>
                    <a:srgbClr val="002060"/>
                  </a:solidFill>
                  <a:latin typeface="+mn-lt"/>
                  <a:cs typeface="+mn-cs"/>
                </a:rPr>
                <a:t>İşlem 1</a:t>
              </a:r>
              <a:endParaRPr lang="en-AU" altLang="tr-TR" dirty="0">
                <a:solidFill>
                  <a:srgbClr val="002060"/>
                </a:solidFill>
                <a:latin typeface="+mn-lt"/>
                <a:cs typeface="+mn-cs"/>
              </a:endParaRPr>
            </a:p>
          </p:txBody>
        </p:sp>
        <p:sp>
          <p:nvSpPr>
            <p:cNvPr id="19" name="Rectangle 15"/>
            <p:cNvSpPr>
              <a:spLocks noChangeArrowheads="1"/>
            </p:cNvSpPr>
            <p:nvPr/>
          </p:nvSpPr>
          <p:spPr bwMode="auto">
            <a:xfrm>
              <a:off x="6942131" y="1891137"/>
              <a:ext cx="623894" cy="2042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tr-TR" altLang="tr-TR" sz="1270" b="1" dirty="0" smtClean="0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DOĞRU</a:t>
              </a:r>
              <a:endParaRPr lang="en-US" altLang="tr-TR" sz="1270" b="1" dirty="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  <a:p>
              <a:pPr eaLnBrk="1" hangingPunct="1">
                <a:buClrTx/>
                <a:buFontTx/>
                <a:buNone/>
              </a:pPr>
              <a:endParaRPr lang="en-US" altLang="tr-TR" sz="1270" b="1" dirty="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Rectangle 15"/>
            <p:cNvSpPr>
              <a:spLocks noChangeArrowheads="1"/>
            </p:cNvSpPr>
            <p:nvPr/>
          </p:nvSpPr>
          <p:spPr bwMode="auto">
            <a:xfrm>
              <a:off x="6150045" y="2599432"/>
              <a:ext cx="724915" cy="192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tr-TR" altLang="tr-TR" sz="1270" b="1" dirty="0" smtClean="0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YANLIŞ</a:t>
              </a:r>
              <a:endParaRPr lang="en-US" altLang="tr-TR" sz="1270" b="1" dirty="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  <a:p>
              <a:pPr eaLnBrk="1" hangingPunct="1">
                <a:buClrTx/>
                <a:buFontTx/>
                <a:buNone/>
              </a:pPr>
              <a:endParaRPr lang="en-US" altLang="tr-TR" sz="1270" b="1" dirty="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Düz Ok Bağlayıcısı 34"/>
            <p:cNvCxnSpPr>
              <a:stCxn id="25" idx="3"/>
              <a:endCxn id="22" idx="1"/>
            </p:cNvCxnSpPr>
            <p:nvPr/>
          </p:nvCxnSpPr>
          <p:spPr>
            <a:xfrm>
              <a:off x="6867797" y="2097793"/>
              <a:ext cx="715375" cy="0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" name="Düz Ok Bağlayıcısı 39"/>
            <p:cNvCxnSpPr>
              <a:stCxn id="25" idx="2"/>
              <a:endCxn id="30" idx="0"/>
            </p:cNvCxnSpPr>
            <p:nvPr/>
          </p:nvCxnSpPr>
          <p:spPr>
            <a:xfrm flipH="1">
              <a:off x="6106841" y="2403489"/>
              <a:ext cx="5942" cy="460271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0" name="Rectangle 20"/>
            <p:cNvSpPr>
              <a:spLocks noChangeArrowheads="1"/>
            </p:cNvSpPr>
            <p:nvPr/>
          </p:nvSpPr>
          <p:spPr bwMode="auto">
            <a:xfrm>
              <a:off x="7513492" y="2986400"/>
              <a:ext cx="936104" cy="34658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tr-TR" altLang="tr-TR" dirty="0" smtClean="0">
                  <a:solidFill>
                    <a:srgbClr val="002060"/>
                  </a:solidFill>
                  <a:latin typeface="+mn-lt"/>
                  <a:cs typeface="+mn-cs"/>
                </a:rPr>
                <a:t>İşlem 2</a:t>
              </a:r>
              <a:endParaRPr lang="en-AU" altLang="tr-TR" dirty="0">
                <a:solidFill>
                  <a:srgbClr val="002060"/>
                </a:solidFill>
                <a:latin typeface="+mn-lt"/>
                <a:cs typeface="+mn-cs"/>
              </a:endParaRPr>
            </a:p>
          </p:txBody>
        </p:sp>
        <p:sp>
          <p:nvSpPr>
            <p:cNvPr id="71" name="Rectangle 15"/>
            <p:cNvSpPr>
              <a:spLocks noChangeArrowheads="1"/>
            </p:cNvSpPr>
            <p:nvPr/>
          </p:nvSpPr>
          <p:spPr bwMode="auto">
            <a:xfrm>
              <a:off x="6872451" y="2984716"/>
              <a:ext cx="623894" cy="2042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tr-TR" altLang="tr-TR" sz="1270" b="1" dirty="0" smtClean="0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DOĞRU</a:t>
              </a:r>
              <a:endParaRPr lang="en-US" altLang="tr-TR" sz="1270" b="1" dirty="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  <a:p>
              <a:pPr eaLnBrk="1" hangingPunct="1">
                <a:buClrTx/>
                <a:buFontTx/>
                <a:buNone/>
              </a:pPr>
              <a:endParaRPr lang="en-US" altLang="tr-TR" sz="1270" b="1" dirty="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2" name="Düz Ok Bağlayıcısı 71"/>
            <p:cNvCxnSpPr>
              <a:stCxn id="30" idx="3"/>
              <a:endCxn id="70" idx="1"/>
            </p:cNvCxnSpPr>
            <p:nvPr/>
          </p:nvCxnSpPr>
          <p:spPr>
            <a:xfrm flipV="1">
              <a:off x="6861855" y="3159691"/>
              <a:ext cx="651637" cy="10069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4" name="Oval 22"/>
            <p:cNvSpPr>
              <a:spLocks noChangeArrowheads="1"/>
            </p:cNvSpPr>
            <p:nvPr/>
          </p:nvSpPr>
          <p:spPr bwMode="auto">
            <a:xfrm>
              <a:off x="8711562" y="3006043"/>
              <a:ext cx="318803" cy="29847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tr-TR">
                <a:solidFill>
                  <a:srgbClr val="002060"/>
                </a:solidFill>
                <a:latin typeface="+mn-lt"/>
                <a:cs typeface="+mn-cs"/>
              </a:endParaRPr>
            </a:p>
          </p:txBody>
        </p:sp>
        <p:cxnSp>
          <p:nvCxnSpPr>
            <p:cNvPr id="82" name="Düz Ok Bağlayıcısı 81"/>
            <p:cNvCxnSpPr>
              <a:stCxn id="70" idx="3"/>
              <a:endCxn id="74" idx="2"/>
            </p:cNvCxnSpPr>
            <p:nvPr/>
          </p:nvCxnSpPr>
          <p:spPr>
            <a:xfrm flipV="1">
              <a:off x="8449596" y="3155281"/>
              <a:ext cx="261966" cy="4410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Dirsek Bağlayıcısı 85"/>
            <p:cNvCxnSpPr>
              <a:stCxn id="22" idx="3"/>
              <a:endCxn id="74" idx="0"/>
            </p:cNvCxnSpPr>
            <p:nvPr/>
          </p:nvCxnSpPr>
          <p:spPr>
            <a:xfrm>
              <a:off x="8519276" y="2100948"/>
              <a:ext cx="351688" cy="905095"/>
            </a:xfrm>
            <a:prstGeom prst="bentConnector2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Düz Ok Bağlayıcısı 86"/>
            <p:cNvCxnSpPr/>
            <p:nvPr/>
          </p:nvCxnSpPr>
          <p:spPr>
            <a:xfrm>
              <a:off x="6113639" y="3453870"/>
              <a:ext cx="0" cy="308245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1" name="Düz Ok Bağlayıcısı 90"/>
            <p:cNvCxnSpPr/>
            <p:nvPr/>
          </p:nvCxnSpPr>
          <p:spPr>
            <a:xfrm>
              <a:off x="6112873" y="3923668"/>
              <a:ext cx="0" cy="308245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2" name="Düz Ok Bağlayıcısı 91"/>
            <p:cNvCxnSpPr/>
            <p:nvPr/>
          </p:nvCxnSpPr>
          <p:spPr>
            <a:xfrm>
              <a:off x="6111189" y="3707644"/>
              <a:ext cx="0" cy="308245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prstDash val="sysDot"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3" name="AutoShape 18"/>
            <p:cNvSpPr>
              <a:spLocks noChangeArrowheads="1"/>
            </p:cNvSpPr>
            <p:nvPr/>
          </p:nvSpPr>
          <p:spPr bwMode="auto">
            <a:xfrm>
              <a:off x="5357957" y="4231913"/>
              <a:ext cx="1510029" cy="612000"/>
            </a:xfrm>
            <a:prstGeom prst="diamon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algn="ctr"/>
              <a:r>
                <a:rPr lang="tr-TR" altLang="tr-TR" dirty="0" smtClean="0">
                  <a:solidFill>
                    <a:srgbClr val="002060"/>
                  </a:solidFill>
                </a:rPr>
                <a:t>Koşul n</a:t>
              </a:r>
              <a:endParaRPr lang="tr-TR" altLang="tr-TR" dirty="0">
                <a:solidFill>
                  <a:srgbClr val="002060"/>
                </a:solidFill>
                <a:latin typeface="+mn-lt"/>
                <a:cs typeface="+mn-cs"/>
              </a:endParaRPr>
            </a:p>
          </p:txBody>
        </p:sp>
        <p:sp>
          <p:nvSpPr>
            <p:cNvPr id="94" name="Rectangle 15"/>
            <p:cNvSpPr>
              <a:spLocks noChangeArrowheads="1"/>
            </p:cNvSpPr>
            <p:nvPr/>
          </p:nvSpPr>
          <p:spPr bwMode="auto">
            <a:xfrm>
              <a:off x="6156176" y="3511833"/>
              <a:ext cx="724915" cy="192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tr-TR" altLang="tr-TR" sz="1270" b="1" dirty="0" smtClean="0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YANLIŞ</a:t>
              </a:r>
              <a:endParaRPr lang="en-US" altLang="tr-TR" sz="1270" b="1" dirty="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  <a:p>
              <a:pPr eaLnBrk="1" hangingPunct="1">
                <a:buClrTx/>
                <a:buFontTx/>
                <a:buNone/>
              </a:pPr>
              <a:endParaRPr lang="en-US" altLang="tr-TR" sz="1270" b="1" dirty="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Rectangle 20"/>
            <p:cNvSpPr>
              <a:spLocks noChangeArrowheads="1"/>
            </p:cNvSpPr>
            <p:nvPr/>
          </p:nvSpPr>
          <p:spPr bwMode="auto">
            <a:xfrm>
              <a:off x="7519623" y="4354553"/>
              <a:ext cx="936104" cy="34658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tr-TR" altLang="tr-TR" dirty="0" smtClean="0">
                  <a:solidFill>
                    <a:srgbClr val="002060"/>
                  </a:solidFill>
                  <a:latin typeface="+mn-lt"/>
                  <a:cs typeface="+mn-cs"/>
                </a:rPr>
                <a:t>İşlem n</a:t>
              </a:r>
              <a:endParaRPr lang="en-AU" altLang="tr-TR" dirty="0">
                <a:solidFill>
                  <a:srgbClr val="002060"/>
                </a:solidFill>
                <a:latin typeface="+mn-lt"/>
                <a:cs typeface="+mn-cs"/>
              </a:endParaRPr>
            </a:p>
          </p:txBody>
        </p:sp>
        <p:sp>
          <p:nvSpPr>
            <p:cNvPr id="97" name="Rectangle 15"/>
            <p:cNvSpPr>
              <a:spLocks noChangeArrowheads="1"/>
            </p:cNvSpPr>
            <p:nvPr/>
          </p:nvSpPr>
          <p:spPr bwMode="auto">
            <a:xfrm>
              <a:off x="6878582" y="4352869"/>
              <a:ext cx="623894" cy="2042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tr-TR" altLang="tr-TR" sz="1270" b="1" dirty="0" smtClean="0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DOĞRU</a:t>
              </a:r>
              <a:endParaRPr lang="en-US" altLang="tr-TR" sz="1270" b="1" dirty="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  <a:p>
              <a:pPr eaLnBrk="1" hangingPunct="1">
                <a:buClrTx/>
                <a:buFontTx/>
                <a:buNone/>
              </a:pPr>
              <a:endParaRPr lang="en-US" altLang="tr-TR" sz="1270" b="1" dirty="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8" name="Düz Ok Bağlayıcısı 97"/>
            <p:cNvCxnSpPr>
              <a:stCxn id="93" idx="3"/>
              <a:endCxn id="96" idx="1"/>
            </p:cNvCxnSpPr>
            <p:nvPr/>
          </p:nvCxnSpPr>
          <p:spPr>
            <a:xfrm flipV="1">
              <a:off x="6867986" y="4527844"/>
              <a:ext cx="651637" cy="10069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9" name="Oval 22"/>
            <p:cNvSpPr>
              <a:spLocks noChangeArrowheads="1"/>
            </p:cNvSpPr>
            <p:nvPr/>
          </p:nvSpPr>
          <p:spPr bwMode="auto">
            <a:xfrm>
              <a:off x="8717693" y="4374196"/>
              <a:ext cx="318803" cy="29847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tr-TR">
                <a:solidFill>
                  <a:srgbClr val="002060"/>
                </a:solidFill>
                <a:latin typeface="+mn-lt"/>
                <a:cs typeface="+mn-cs"/>
              </a:endParaRPr>
            </a:p>
          </p:txBody>
        </p:sp>
        <p:cxnSp>
          <p:nvCxnSpPr>
            <p:cNvPr id="100" name="Düz Ok Bağlayıcısı 99"/>
            <p:cNvCxnSpPr>
              <a:stCxn id="96" idx="3"/>
              <a:endCxn id="99" idx="2"/>
            </p:cNvCxnSpPr>
            <p:nvPr/>
          </p:nvCxnSpPr>
          <p:spPr>
            <a:xfrm flipV="1">
              <a:off x="8455727" y="4523434"/>
              <a:ext cx="261966" cy="4410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1" name="Düz Ok Bağlayıcısı 100"/>
            <p:cNvCxnSpPr>
              <a:stCxn id="93" idx="2"/>
            </p:cNvCxnSpPr>
            <p:nvPr/>
          </p:nvCxnSpPr>
          <p:spPr>
            <a:xfrm>
              <a:off x="6112972" y="4843913"/>
              <a:ext cx="0" cy="308245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" name="Düz Ok Bağlayıcısı 102"/>
            <p:cNvCxnSpPr/>
            <p:nvPr/>
          </p:nvCxnSpPr>
          <p:spPr>
            <a:xfrm>
              <a:off x="8886349" y="3295808"/>
              <a:ext cx="0" cy="396000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4" name="Düz Ok Bağlayıcısı 103"/>
            <p:cNvCxnSpPr/>
            <p:nvPr/>
          </p:nvCxnSpPr>
          <p:spPr>
            <a:xfrm>
              <a:off x="8885583" y="3943929"/>
              <a:ext cx="0" cy="432000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5" name="Düz Ok Bağlayıcısı 104"/>
            <p:cNvCxnSpPr/>
            <p:nvPr/>
          </p:nvCxnSpPr>
          <p:spPr>
            <a:xfrm>
              <a:off x="8883899" y="3635636"/>
              <a:ext cx="0" cy="308245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prstDash val="sysDot"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6" name="Rectangle 20"/>
            <p:cNvSpPr>
              <a:spLocks noChangeArrowheads="1"/>
            </p:cNvSpPr>
            <p:nvPr/>
          </p:nvSpPr>
          <p:spPr bwMode="auto">
            <a:xfrm>
              <a:off x="5642013" y="5152158"/>
              <a:ext cx="936104" cy="34658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tr-TR" altLang="tr-TR" dirty="0" smtClean="0">
                  <a:solidFill>
                    <a:srgbClr val="002060"/>
                  </a:solidFill>
                </a:rPr>
                <a:t>İşlem …</a:t>
              </a:r>
              <a:endParaRPr lang="en-AU" altLang="tr-TR" dirty="0">
                <a:solidFill>
                  <a:srgbClr val="002060"/>
                </a:solidFill>
                <a:latin typeface="+mn-lt"/>
                <a:cs typeface="+mn-cs"/>
              </a:endParaRPr>
            </a:p>
          </p:txBody>
        </p:sp>
        <p:sp>
          <p:nvSpPr>
            <p:cNvPr id="107" name="Rectangle 15"/>
            <p:cNvSpPr>
              <a:spLocks noChangeArrowheads="1"/>
            </p:cNvSpPr>
            <p:nvPr/>
          </p:nvSpPr>
          <p:spPr bwMode="auto">
            <a:xfrm>
              <a:off x="6143914" y="4869160"/>
              <a:ext cx="724915" cy="192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tr-TR" altLang="tr-TR" sz="1270" b="1" dirty="0" smtClean="0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YANLIŞ</a:t>
              </a:r>
              <a:endParaRPr lang="en-US" altLang="tr-TR" sz="1270" b="1" dirty="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  <a:p>
              <a:pPr eaLnBrk="1" hangingPunct="1">
                <a:buClrTx/>
                <a:buFontTx/>
                <a:buNone/>
              </a:pPr>
              <a:endParaRPr lang="en-US" altLang="tr-TR" sz="1270" b="1" dirty="0">
                <a:solidFill>
                  <a:srgbClr val="000000"/>
                </a:solidFill>
                <a:latin typeface="Courier New" panose="02070309020205020404" pitchFamily="49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8" name="Düz Ok Bağlayıcısı 107"/>
            <p:cNvCxnSpPr>
              <a:stCxn id="106" idx="2"/>
              <a:endCxn id="27" idx="0"/>
            </p:cNvCxnSpPr>
            <p:nvPr/>
          </p:nvCxnSpPr>
          <p:spPr>
            <a:xfrm>
              <a:off x="6110065" y="5498739"/>
              <a:ext cx="1369" cy="223112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2" name="Dirsek Bağlayıcısı 111"/>
            <p:cNvCxnSpPr>
              <a:stCxn id="99" idx="4"/>
              <a:endCxn id="27" idx="6"/>
            </p:cNvCxnSpPr>
            <p:nvPr/>
          </p:nvCxnSpPr>
          <p:spPr>
            <a:xfrm rot="5400000">
              <a:off x="6974756" y="3968750"/>
              <a:ext cx="1198418" cy="2606260"/>
            </a:xfrm>
            <a:prstGeom prst="bentConnector2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pic>
        <p:nvPicPr>
          <p:cNvPr id="113" name="Resim 1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24" y="1916832"/>
            <a:ext cx="4417148" cy="28370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35912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0" y="-171450"/>
            <a:ext cx="8893175" cy="72898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gece2uy1.cpp : </a:t>
            </a:r>
            <a:r>
              <a:rPr lang="tr-TR" sz="95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tr-TR" sz="95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file </a:t>
            </a:r>
            <a:r>
              <a:rPr lang="tr-TR" sz="95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contains</a:t>
            </a:r>
            <a:r>
              <a:rPr lang="tr-TR" sz="95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the</a:t>
            </a:r>
            <a:r>
              <a:rPr lang="tr-TR" sz="95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'main' </a:t>
            </a:r>
            <a:r>
              <a:rPr lang="tr-TR" sz="95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function</a:t>
            </a:r>
            <a:r>
              <a:rPr lang="tr-TR" sz="95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 Program </a:t>
            </a:r>
            <a:r>
              <a:rPr lang="tr-TR" sz="95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execution</a:t>
            </a:r>
            <a:r>
              <a:rPr lang="tr-TR" sz="95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begins</a:t>
            </a:r>
            <a:r>
              <a:rPr lang="tr-TR" sz="95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and</a:t>
            </a:r>
            <a:r>
              <a:rPr lang="tr-TR" sz="95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ends</a:t>
            </a:r>
            <a:r>
              <a:rPr lang="tr-TR" sz="95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there</a:t>
            </a:r>
            <a:r>
              <a:rPr lang="tr-TR" sz="95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</a:t>
            </a:r>
            <a:r>
              <a:rPr lang="tr-TR" sz="95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include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iostream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tr-TR" sz="95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main()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sayi1, sayi2, secim;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sayi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1 ?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cin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&gt;&gt;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sayi1;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sayi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2 ?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cin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&gt;&gt;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sayi2;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"\t Ne yapalım?"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"\t 1 toplama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"\t 2 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cikarma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"\t 3 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carpma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"\t 4 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bolme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"\t 5 kalan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seciminiz? (1-5)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cin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&gt;&gt;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secim;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(secim==1)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{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sayi1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+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sayi2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=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sayi1 + sayi2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(secim == 2)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{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sayi1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-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sayi2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=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sayi1 - sayi2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(secim == 3)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{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sayi1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*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sayi2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=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sayi1 * sayi2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(secim == 4)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{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tr-TR" sz="95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(sayi2 != 0)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sayi1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/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sayi2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=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tr-TR" sz="95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float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)sayi1 / sayi2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tr-TR" sz="95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sifira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bolme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olmaz"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(secim == 5)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{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sayi1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mod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sayi2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=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sayi1 % sayi2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{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please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correct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item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..."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0;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99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Seçme/Kontrol Yapıları…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171450" lvl="1">
                  <a:spcBef>
                    <a:spcPts val="750"/>
                  </a:spcBef>
                </a:pPr>
                <a:r>
                  <a:rPr lang="tr-TR" altLang="tr-TR" sz="2400" dirty="0" smtClean="0"/>
                  <a:t>Kullanılmayan ve tavsiye edilmeyen ancak geçerli olan </a:t>
                </a:r>
                <a:r>
                  <a:rPr lang="tr-TR" altLang="tr-TR" sz="2400" b="1" dirty="0" err="1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if</a:t>
                </a:r>
                <a:r>
                  <a:rPr lang="tr-TR" altLang="tr-TR" sz="2400" dirty="0" smtClean="0"/>
                  <a:t> yapıları</a:t>
                </a:r>
                <a:endParaRPr lang="tr-TR" altLang="tr-TR" sz="2400" dirty="0"/>
              </a:p>
              <a:p>
                <a:pPr marL="602104" lvl="1"/>
                <a:r>
                  <a:rPr lang="tr-TR" altLang="tr-TR" sz="2400" b="1" dirty="0" err="1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if</a:t>
                </a:r>
                <a:r>
                  <a:rPr lang="tr-TR" altLang="tr-TR" sz="24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tr-TR" altLang="tr-TR" sz="2400" b="1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(</a:t>
                </a:r>
                <a:r>
                  <a:rPr lang="tr-TR" altLang="tr-TR" sz="24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a</a:t>
                </a:r>
                <a:r>
                  <a:rPr lang="tr-TR" altLang="tr-TR" sz="2400" b="1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)</a:t>
                </a:r>
              </a:p>
              <a:p>
                <a:pPr marL="945004" lvl="2"/>
                <a:r>
                  <a:rPr lang="tr-TR" altLang="tr-TR" sz="2100" dirty="0">
                    <a:solidFill>
                      <a:srgbClr val="000000"/>
                    </a:solidFill>
                  </a:rPr>
                  <a:t>a sıfır ise </a:t>
                </a:r>
                <a:r>
                  <a:rPr lang="tr-TR" altLang="tr-TR" sz="2100" b="1" dirty="0" err="1">
                    <a:solidFill>
                      <a:srgbClr val="C00000"/>
                    </a:solidFill>
                  </a:rPr>
                  <a:t>false</a:t>
                </a:r>
                <a:r>
                  <a:rPr lang="tr-TR" altLang="tr-TR" sz="2100" dirty="0">
                    <a:solidFill>
                      <a:srgbClr val="000000"/>
                    </a:solidFill>
                  </a:rPr>
                  <a:t>, diğer tüm durumlarda </a:t>
                </a:r>
                <a:r>
                  <a:rPr lang="tr-TR" altLang="tr-TR" sz="2100" b="1" dirty="0" err="1">
                    <a:solidFill>
                      <a:srgbClr val="C00000"/>
                    </a:solidFill>
                  </a:rPr>
                  <a:t>true</a:t>
                </a:r>
                <a:endParaRPr lang="tr-TR" altLang="tr-TR" sz="2100" b="1" dirty="0">
                  <a:solidFill>
                    <a:srgbClr val="C00000"/>
                  </a:solidFill>
                </a:endParaRPr>
              </a:p>
              <a:p>
                <a:pPr marL="945004" lvl="2"/>
                <a:r>
                  <a:rPr lang="tr-TR" altLang="tr-TR" sz="2100" dirty="0" smtClean="0">
                    <a:solidFill>
                      <a:srgbClr val="000000"/>
                    </a:solidFill>
                  </a:rPr>
                  <a:t>ÖRNEK:</a:t>
                </a:r>
              </a:p>
              <a:p>
                <a:pPr marL="1287904" lvl="3">
                  <a:lnSpc>
                    <a:spcPct val="150000"/>
                  </a:lnSpc>
                </a:pPr>
                <a:r>
                  <a:rPr lang="tr-TR" altLang="tr-TR" sz="18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if</a:t>
                </a:r>
                <a:r>
                  <a:rPr lang="tr-TR" altLang="tr-TR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tr-TR" altLang="tr-TR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(0)</a:t>
                </a:r>
                <a:r>
                  <a:rPr lang="tr-TR" altLang="tr-TR" sz="1800" dirty="0" smtClean="0"/>
                  <a:t> 	 </a:t>
                </a:r>
                <a14:m>
                  <m:oMath xmlns:m="http://schemas.openxmlformats.org/officeDocument/2006/math">
                    <m:r>
                      <a:rPr lang="tr-TR" altLang="tr-T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tr-TR" altLang="tr-TR" sz="1800" dirty="0" smtClean="0"/>
                  <a:t> Her </a:t>
                </a:r>
                <a:r>
                  <a:rPr lang="tr-TR" altLang="tr-TR" sz="1800" dirty="0"/>
                  <a:t>zaman YANLIŞ (</a:t>
                </a:r>
                <a:r>
                  <a:rPr lang="tr-TR" altLang="tr-TR" sz="1800" dirty="0" err="1"/>
                  <a:t>false</a:t>
                </a:r>
                <a:r>
                  <a:rPr lang="tr-TR" altLang="tr-TR" sz="1800" dirty="0" smtClean="0"/>
                  <a:t>)</a:t>
                </a:r>
                <a:endParaRPr lang="tr-TR" altLang="tr-TR" sz="18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1287904" lvl="3">
                  <a:lnSpc>
                    <a:spcPct val="150000"/>
                  </a:lnSpc>
                </a:pPr>
                <a:r>
                  <a:rPr lang="tr-TR" altLang="tr-TR" sz="18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if</a:t>
                </a:r>
                <a:r>
                  <a:rPr lang="tr-TR" altLang="tr-TR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tr-TR" altLang="tr-TR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(10</a:t>
                </a:r>
                <a:r>
                  <a:rPr lang="tr-TR" altLang="tr-TR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)	</a:t>
                </a:r>
                <a:r>
                  <a:rPr lang="tr-TR" altLang="tr-TR" sz="1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tr-TR" altLang="tr-T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tr-TR" altLang="tr-TR" sz="1800" dirty="0" smtClean="0"/>
                  <a:t>Her </a:t>
                </a:r>
                <a:r>
                  <a:rPr lang="tr-TR" altLang="tr-TR" sz="1800" dirty="0"/>
                  <a:t>zaman DOĞRU (</a:t>
                </a:r>
                <a:r>
                  <a:rPr lang="tr-TR" altLang="tr-TR" sz="1800" dirty="0" err="1"/>
                  <a:t>true</a:t>
                </a:r>
                <a:r>
                  <a:rPr lang="tr-TR" altLang="tr-TR" sz="1800" dirty="0" smtClean="0"/>
                  <a:t>)</a:t>
                </a:r>
                <a:endParaRPr lang="tr-TR" altLang="tr-TR" sz="1800" dirty="0"/>
              </a:p>
              <a:p>
                <a:pPr marL="1287904" lvl="3">
                  <a:lnSpc>
                    <a:spcPct val="150000"/>
                  </a:lnSpc>
                </a:pPr>
                <a:r>
                  <a:rPr lang="tr-TR" altLang="tr-TR" sz="1800" dirty="0" err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if</a:t>
                </a:r>
                <a:r>
                  <a:rPr lang="tr-TR" altLang="tr-TR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(-10) </a:t>
                </a:r>
                <a:r>
                  <a:rPr lang="tr-TR" altLang="tr-TR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	</a:t>
                </a:r>
                <a:r>
                  <a:rPr lang="tr-TR" altLang="tr-TR" sz="1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tr-TR" altLang="tr-T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tr-TR" altLang="tr-TR" sz="1800" dirty="0" smtClean="0"/>
                  <a:t>Her </a:t>
                </a:r>
                <a:r>
                  <a:rPr lang="tr-TR" altLang="tr-TR" sz="1800" dirty="0"/>
                  <a:t>zaman DOĞRU (</a:t>
                </a:r>
                <a:r>
                  <a:rPr lang="tr-TR" altLang="tr-TR" sz="1800" dirty="0" err="1"/>
                  <a:t>true</a:t>
                </a:r>
                <a:r>
                  <a:rPr lang="tr-TR" altLang="tr-TR" sz="1800" dirty="0"/>
                  <a:t>)</a:t>
                </a:r>
              </a:p>
              <a:p>
                <a:pPr marL="1287904" lvl="3"/>
                <a:endParaRPr lang="tr-TR" altLang="tr-TR" sz="1800" dirty="0">
                  <a:solidFill>
                    <a:srgbClr val="000000"/>
                  </a:solidFill>
                </a:endParaRPr>
              </a:p>
              <a:p>
                <a:pPr lvl="1"/>
                <a:endParaRPr lang="tr-TR" dirty="0"/>
              </a:p>
            </p:txBody>
          </p:sp>
        </mc:Choice>
        <mc:Fallback xmlns="">
          <p:sp>
            <p:nvSpPr>
              <p:cNvPr id="3" name="İçerik Yer Tutucus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02" t="-1823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2318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Seçme/Kontrol Yapıları…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79512" y="1020208"/>
            <a:ext cx="5762355" cy="5011983"/>
          </a:xfrm>
        </p:spPr>
        <p:txBody>
          <a:bodyPr>
            <a:normAutofit/>
          </a:bodyPr>
          <a:lstStyle/>
          <a:p>
            <a:pPr marL="171450" lvl="1">
              <a:spcBef>
                <a:spcPts val="750"/>
              </a:spcBef>
            </a:pPr>
            <a:r>
              <a:rPr lang="tr-TR" altLang="tr-TR" sz="2400" u="sng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ÖRNEK:</a:t>
            </a:r>
            <a:r>
              <a:rPr lang="tr-TR" altLang="tr-TR" sz="2400" dirty="0" smtClean="0">
                <a:solidFill>
                  <a:srgbClr val="C00000"/>
                </a:solidFill>
              </a:rPr>
              <a:t> </a:t>
            </a:r>
            <a:r>
              <a:rPr lang="tr-TR" altLang="tr-TR" sz="2100" dirty="0" smtClean="0"/>
              <a:t>Klavyeden </a:t>
            </a:r>
            <a:r>
              <a:rPr lang="tr-TR" altLang="tr-TR" sz="2100" dirty="0"/>
              <a:t>okunan bir reel sayının karekökünü bulup sonucu ekrana yazan bir programı C++ programlama dili ile yazınız.</a:t>
            </a:r>
          </a:p>
          <a:p>
            <a:pPr marL="171450" lvl="1">
              <a:spcBef>
                <a:spcPts val="750"/>
              </a:spcBef>
            </a:pPr>
            <a:endParaRPr lang="tr-TR" altLang="tr-TR" sz="2400" dirty="0" smtClean="0"/>
          </a:p>
          <a:p>
            <a:pPr marL="514350" lvl="2">
              <a:spcBef>
                <a:spcPts val="750"/>
              </a:spcBef>
            </a:pPr>
            <a:endParaRPr lang="tr-TR" altLang="tr-TR" sz="2100" dirty="0"/>
          </a:p>
          <a:p>
            <a:pPr marL="1287904" lvl="3"/>
            <a:endParaRPr lang="tr-TR" altLang="tr-TR" sz="1800" dirty="0">
              <a:solidFill>
                <a:srgbClr val="000000"/>
              </a:solidFill>
            </a:endParaRPr>
          </a:p>
          <a:p>
            <a:pPr lvl="1"/>
            <a:endParaRPr lang="tr-TR" dirty="0"/>
          </a:p>
        </p:txBody>
      </p:sp>
      <p:grpSp>
        <p:nvGrpSpPr>
          <p:cNvPr id="4" name="Grup 3"/>
          <p:cNvGrpSpPr/>
          <p:nvPr/>
        </p:nvGrpSpPr>
        <p:grpSpPr>
          <a:xfrm>
            <a:off x="5689377" y="1196752"/>
            <a:ext cx="3275111" cy="4665296"/>
            <a:chOff x="5689377" y="1196752"/>
            <a:chExt cx="3275111" cy="4665296"/>
          </a:xfrm>
        </p:grpSpPr>
        <p:sp>
          <p:nvSpPr>
            <p:cNvPr id="5" name="Dikdörtgen 4"/>
            <p:cNvSpPr/>
            <p:nvPr/>
          </p:nvSpPr>
          <p:spPr>
            <a:xfrm>
              <a:off x="5689377" y="3140968"/>
              <a:ext cx="540060" cy="43204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i="1" dirty="0">
                  <a:solidFill>
                    <a:srgbClr val="002060"/>
                  </a:solidFill>
                </a:rPr>
                <a:t>x</a:t>
              </a:r>
              <a:r>
                <a:rPr lang="tr-TR" i="1" dirty="0" smtClean="0">
                  <a:solidFill>
                    <a:srgbClr val="002060"/>
                  </a:solidFill>
                </a:rPr>
                <a:t>=y</a:t>
              </a:r>
              <a:endParaRPr lang="tr-TR" i="1" dirty="0">
                <a:solidFill>
                  <a:srgbClr val="00206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Akış Çizelgesi: Karar 5"/>
                <p:cNvSpPr/>
                <p:nvPr/>
              </p:nvSpPr>
              <p:spPr>
                <a:xfrm>
                  <a:off x="6915468" y="3885915"/>
                  <a:ext cx="1147035" cy="637016"/>
                </a:xfrm>
                <a:prstGeom prst="flowChartDecision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>
                  <a:normAutofit fontScale="85000" lnSpcReduction="10000"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tr-TR" sz="16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tr-TR" sz="16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tr-TR" sz="16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tr-TR" sz="16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oMath>
                    </m:oMathPara>
                  </a14:m>
                  <a:endParaRPr lang="tr-TR" sz="16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Akış Çizelgesi: Karar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5468" y="3885915"/>
                  <a:ext cx="1147035" cy="637016"/>
                </a:xfrm>
                <a:prstGeom prst="flowChartDecision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9050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tr-T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Düz Ok Bağlayıcısı 6"/>
            <p:cNvCxnSpPr/>
            <p:nvPr/>
          </p:nvCxnSpPr>
          <p:spPr>
            <a:xfrm>
              <a:off x="7440964" y="2182289"/>
              <a:ext cx="8384" cy="324000"/>
            </a:xfrm>
            <a:prstGeom prst="straightConnector1">
              <a:avLst/>
            </a:prstGeom>
            <a:ln w="28575">
              <a:solidFill>
                <a:srgbClr val="0070C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Düz Ok Bağlayıcısı 7"/>
            <p:cNvCxnSpPr/>
            <p:nvPr/>
          </p:nvCxnSpPr>
          <p:spPr>
            <a:xfrm>
              <a:off x="8472279" y="5127359"/>
              <a:ext cx="0" cy="324000"/>
            </a:xfrm>
            <a:prstGeom prst="straightConnector1">
              <a:avLst/>
            </a:prstGeom>
            <a:ln w="28575">
              <a:solidFill>
                <a:srgbClr val="0070C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Düz Ok Bağlayıcısı 8"/>
            <p:cNvCxnSpPr/>
            <p:nvPr/>
          </p:nvCxnSpPr>
          <p:spPr>
            <a:xfrm>
              <a:off x="7464829" y="3573016"/>
              <a:ext cx="18667" cy="324000"/>
            </a:xfrm>
            <a:prstGeom prst="straightConnector1">
              <a:avLst/>
            </a:prstGeom>
            <a:ln w="28575">
              <a:solidFill>
                <a:srgbClr val="0070C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Akış Çizelgesi: Sonlandırıcı 9"/>
            <p:cNvSpPr/>
            <p:nvPr/>
          </p:nvSpPr>
          <p:spPr>
            <a:xfrm>
              <a:off x="6897289" y="1196752"/>
              <a:ext cx="1024251" cy="370839"/>
            </a:xfrm>
            <a:prstGeom prst="flowChartTerminator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rgbClr val="002060"/>
                  </a:solidFill>
                </a:rPr>
                <a:t>BAŞLA</a:t>
              </a:r>
              <a:endParaRPr lang="tr-TR" dirty="0">
                <a:solidFill>
                  <a:srgbClr val="002060"/>
                </a:solidFill>
              </a:endParaRPr>
            </a:p>
          </p:txBody>
        </p:sp>
        <p:sp>
          <p:nvSpPr>
            <p:cNvPr id="11" name="Akış Çizelgesi: Sonlandırıcı 10"/>
            <p:cNvSpPr/>
            <p:nvPr/>
          </p:nvSpPr>
          <p:spPr>
            <a:xfrm>
              <a:off x="7986118" y="5491105"/>
              <a:ext cx="978370" cy="370943"/>
            </a:xfrm>
            <a:prstGeom prst="flowChartTerminator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rgbClr val="002060"/>
                  </a:solidFill>
                </a:rPr>
                <a:t>DUR</a:t>
              </a:r>
              <a:endParaRPr lang="tr-TR" dirty="0">
                <a:solidFill>
                  <a:srgbClr val="002060"/>
                </a:solidFill>
              </a:endParaRPr>
            </a:p>
          </p:txBody>
        </p:sp>
        <p:sp>
          <p:nvSpPr>
            <p:cNvPr id="12" name="Akış Çizelgesi: Veri 11"/>
            <p:cNvSpPr/>
            <p:nvPr/>
          </p:nvSpPr>
          <p:spPr>
            <a:xfrm>
              <a:off x="6701019" y="1854407"/>
              <a:ext cx="1440160" cy="351337"/>
            </a:xfrm>
            <a:prstGeom prst="flowChartInputOutpu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i="1" dirty="0" smtClean="0">
                  <a:solidFill>
                    <a:srgbClr val="002060"/>
                  </a:solidFill>
                </a:rPr>
                <a:t>a, x, </a:t>
              </a:r>
              <a:r>
                <a:rPr lang="el-GR" i="1" dirty="0" smtClean="0">
                  <a:solidFill>
                    <a:srgbClr val="002060"/>
                  </a:solidFill>
                </a:rPr>
                <a:t>ε</a:t>
              </a:r>
              <a:endParaRPr lang="tr-TR" i="1" dirty="0">
                <a:solidFill>
                  <a:srgbClr val="00206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Dikdörtgen 12"/>
                <p:cNvSpPr/>
                <p:nvPr/>
              </p:nvSpPr>
              <p:spPr>
                <a:xfrm>
                  <a:off x="6475118" y="2536441"/>
                  <a:ext cx="1935914" cy="357768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tr-TR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tr-TR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type m:val="lin"/>
                            <m:ctrlPr>
                              <a:rPr lang="tr-TR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tr-TR" i="1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tr-TR" i="1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tr-TR" i="1" dirty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tr-TR" i="1" dirty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tr-TR" i="1" dirty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tr-TR" i="1" dirty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num>
                          <m:den>
                            <m:r>
                              <a:rPr lang="tr-TR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tr-TR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oMath>
                    </m:oMathPara>
                  </a14:m>
                  <a:endParaRPr lang="tr-TR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Dikdörtgen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5118" y="2536441"/>
                  <a:ext cx="1935914" cy="35776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tr-T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Akış Çizelgesi: Görüntüleme 13"/>
            <p:cNvSpPr/>
            <p:nvPr/>
          </p:nvSpPr>
          <p:spPr>
            <a:xfrm>
              <a:off x="8005331" y="4695311"/>
              <a:ext cx="882055" cy="432048"/>
            </a:xfrm>
            <a:prstGeom prst="flowChartDisplay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rgbClr val="002060"/>
                  </a:solidFill>
                </a:rPr>
                <a:t>y</a:t>
              </a:r>
              <a:endParaRPr lang="tr-TR" dirty="0">
                <a:solidFill>
                  <a:srgbClr val="002060"/>
                </a:solidFill>
              </a:endParaRPr>
            </a:p>
          </p:txBody>
        </p:sp>
        <p:cxnSp>
          <p:nvCxnSpPr>
            <p:cNvPr id="15" name="Dirsek Bağlayıcısı 14"/>
            <p:cNvCxnSpPr>
              <a:stCxn id="14" idx="0"/>
              <a:endCxn id="6" idx="3"/>
            </p:cNvCxnSpPr>
            <p:nvPr/>
          </p:nvCxnSpPr>
          <p:spPr>
            <a:xfrm rot="16200000" flipV="1">
              <a:off x="8008987" y="4257939"/>
              <a:ext cx="490888" cy="383856"/>
            </a:xfrm>
            <a:prstGeom prst="bentConnector2">
              <a:avLst/>
            </a:prstGeom>
            <a:ln w="28575">
              <a:solidFill>
                <a:srgbClr val="0070C0"/>
              </a:solidFill>
              <a:headEnd type="triangl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Metin kutusu 15"/>
            <p:cNvSpPr txBox="1"/>
            <p:nvPr/>
          </p:nvSpPr>
          <p:spPr>
            <a:xfrm>
              <a:off x="7859053" y="3915055"/>
              <a:ext cx="7664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600" dirty="0" smtClean="0">
                  <a:solidFill>
                    <a:srgbClr val="002060"/>
                  </a:solidFill>
                </a:rPr>
                <a:t>Evet</a:t>
              </a:r>
              <a:endParaRPr lang="tr-TR" sz="1600" dirty="0">
                <a:solidFill>
                  <a:srgbClr val="002060"/>
                </a:solidFill>
              </a:endParaRPr>
            </a:p>
          </p:txBody>
        </p:sp>
        <p:sp>
          <p:nvSpPr>
            <p:cNvPr id="17" name="Metin kutusu 16"/>
            <p:cNvSpPr txBox="1"/>
            <p:nvPr/>
          </p:nvSpPr>
          <p:spPr>
            <a:xfrm>
              <a:off x="6301598" y="3910997"/>
              <a:ext cx="7664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600" dirty="0" smtClean="0">
                  <a:solidFill>
                    <a:srgbClr val="002060"/>
                  </a:solidFill>
                </a:rPr>
                <a:t>Hayır</a:t>
              </a:r>
              <a:endParaRPr lang="tr-TR" sz="1600" dirty="0">
                <a:solidFill>
                  <a:srgbClr val="00206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Dikdörtgen 17"/>
                <p:cNvSpPr/>
                <p:nvPr/>
              </p:nvSpPr>
              <p:spPr>
                <a:xfrm>
                  <a:off x="6773494" y="3241439"/>
                  <a:ext cx="1385103" cy="34798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tr-TR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tr-TR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tr-TR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tr-TR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tr-TR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tr-TR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Dikdörtgen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73494" y="3241439"/>
                  <a:ext cx="1385103" cy="34798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tr-T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Düz Ok Bağlayıcısı 18"/>
            <p:cNvCxnSpPr/>
            <p:nvPr/>
          </p:nvCxnSpPr>
          <p:spPr>
            <a:xfrm>
              <a:off x="7409414" y="1555196"/>
              <a:ext cx="8384" cy="288000"/>
            </a:xfrm>
            <a:prstGeom prst="straightConnector1">
              <a:avLst/>
            </a:prstGeom>
            <a:ln w="28575">
              <a:solidFill>
                <a:srgbClr val="0070C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Düz Ok Bağlayıcısı 19"/>
            <p:cNvCxnSpPr/>
            <p:nvPr/>
          </p:nvCxnSpPr>
          <p:spPr>
            <a:xfrm>
              <a:off x="7447226" y="2888976"/>
              <a:ext cx="8384" cy="324000"/>
            </a:xfrm>
            <a:prstGeom prst="straightConnector1">
              <a:avLst/>
            </a:prstGeom>
            <a:ln w="28575">
              <a:solidFill>
                <a:srgbClr val="0070C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Dirsek Bağlayıcısı 20"/>
            <p:cNvCxnSpPr>
              <a:stCxn id="6" idx="1"/>
              <a:endCxn id="5" idx="2"/>
            </p:cNvCxnSpPr>
            <p:nvPr/>
          </p:nvCxnSpPr>
          <p:spPr>
            <a:xfrm rot="10800000">
              <a:off x="5959408" y="3573017"/>
              <a:ext cx="956061" cy="631407"/>
            </a:xfrm>
            <a:prstGeom prst="bentConnector2">
              <a:avLst/>
            </a:prstGeom>
            <a:ln w="28575">
              <a:solidFill>
                <a:srgbClr val="0070C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Dirsek Bağlayıcısı 21"/>
            <p:cNvCxnSpPr>
              <a:stCxn id="5" idx="0"/>
            </p:cNvCxnSpPr>
            <p:nvPr/>
          </p:nvCxnSpPr>
          <p:spPr>
            <a:xfrm rot="5400000" flipH="1" flipV="1">
              <a:off x="6288798" y="2011967"/>
              <a:ext cx="799611" cy="1458393"/>
            </a:xfrm>
            <a:prstGeom prst="bentConnector2">
              <a:avLst/>
            </a:prstGeom>
            <a:ln w="28575">
              <a:solidFill>
                <a:srgbClr val="0070C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Dikdörtgen 22"/>
          <p:cNvSpPr/>
          <p:nvPr/>
        </p:nvSpPr>
        <p:spPr>
          <a:xfrm>
            <a:off x="539552" y="2103804"/>
            <a:ext cx="2295332" cy="378565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indent="-114300">
              <a:defRPr/>
            </a:pPr>
            <a:r>
              <a:rPr lang="tr-TR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A1:</a:t>
            </a:r>
            <a:r>
              <a:rPr lang="tr-TR" sz="2000" dirty="0" smtClean="0"/>
              <a:t> Başla</a:t>
            </a:r>
          </a:p>
          <a:p>
            <a:pPr indent="-114300">
              <a:defRPr/>
            </a:pPr>
            <a:r>
              <a:rPr lang="tr-TR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A2</a:t>
            </a:r>
            <a:r>
              <a:rPr lang="tr-TR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tr-TR" sz="2000" dirty="0"/>
              <a:t> Oku (a</a:t>
            </a:r>
            <a:r>
              <a:rPr lang="tr-TR" sz="2000" dirty="0" smtClean="0"/>
              <a:t>)</a:t>
            </a:r>
          </a:p>
          <a:p>
            <a:pPr indent="-114300">
              <a:defRPr/>
            </a:pPr>
            <a:r>
              <a:rPr lang="tr-TR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A3</a:t>
            </a:r>
            <a:r>
              <a:rPr lang="tr-TR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tr-TR" sz="2000" dirty="0"/>
              <a:t> Oku (x</a:t>
            </a:r>
            <a:r>
              <a:rPr lang="tr-TR" sz="2000" dirty="0" smtClean="0"/>
              <a:t>)</a:t>
            </a:r>
          </a:p>
          <a:p>
            <a:pPr indent="-114300">
              <a:defRPr/>
            </a:pPr>
            <a:r>
              <a:rPr lang="tr-TR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A4</a:t>
            </a:r>
            <a:r>
              <a:rPr lang="tr-TR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tr-TR" sz="2000" dirty="0"/>
              <a:t> Oku (</a:t>
            </a:r>
            <a:r>
              <a:rPr lang="tr-TR" sz="2000" dirty="0">
                <a:sym typeface="Symbol"/>
              </a:rPr>
              <a:t></a:t>
            </a:r>
            <a:r>
              <a:rPr lang="tr-TR" sz="2000" dirty="0"/>
              <a:t>)	</a:t>
            </a:r>
            <a:endParaRPr lang="tr-TR" sz="2000" dirty="0" smtClean="0"/>
          </a:p>
          <a:p>
            <a:pPr indent="-114300">
              <a:defRPr/>
            </a:pPr>
            <a:r>
              <a:rPr lang="tr-TR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A5</a:t>
            </a:r>
            <a:r>
              <a:rPr lang="tr-TR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tr-TR" sz="2000" dirty="0"/>
              <a:t> b=(a-x</a:t>
            </a:r>
            <a:r>
              <a:rPr lang="tr-TR" sz="2000" baseline="30000" dirty="0"/>
              <a:t>2</a:t>
            </a:r>
            <a:r>
              <a:rPr lang="tr-TR" sz="2000" dirty="0"/>
              <a:t>)/</a:t>
            </a:r>
            <a:r>
              <a:rPr lang="tr-TR" sz="2000" dirty="0" smtClean="0"/>
              <a:t>2x</a:t>
            </a:r>
          </a:p>
          <a:p>
            <a:pPr indent="-114300">
              <a:defRPr/>
            </a:pPr>
            <a:r>
              <a:rPr lang="tr-TR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A6</a:t>
            </a:r>
            <a:r>
              <a:rPr lang="tr-TR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tr-TR" sz="2000" dirty="0"/>
              <a:t> </a:t>
            </a:r>
            <a:r>
              <a:rPr lang="tr-TR" sz="2000" dirty="0" smtClean="0"/>
              <a:t>y=</a:t>
            </a:r>
            <a:r>
              <a:rPr lang="tr-TR" sz="2000" dirty="0" err="1" smtClean="0"/>
              <a:t>x+b</a:t>
            </a:r>
            <a:endParaRPr lang="tr-TR" sz="2000" dirty="0" smtClean="0"/>
          </a:p>
          <a:p>
            <a:pPr indent="-114300">
              <a:defRPr/>
            </a:pPr>
            <a:r>
              <a:rPr lang="tr-TR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A7</a:t>
            </a:r>
            <a:r>
              <a:rPr lang="tr-TR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tr-TR" sz="2000" dirty="0"/>
              <a:t> Eğer </a:t>
            </a:r>
            <a:r>
              <a:rPr lang="tr-TR" sz="2000" dirty="0">
                <a:sym typeface="Symbol"/>
              </a:rPr>
              <a:t></a:t>
            </a:r>
            <a:r>
              <a:rPr lang="tr-TR" sz="2000" dirty="0"/>
              <a:t>b</a:t>
            </a:r>
            <a:r>
              <a:rPr lang="tr-TR" sz="2000" dirty="0">
                <a:sym typeface="Symbol"/>
              </a:rPr>
              <a:t></a:t>
            </a:r>
            <a:r>
              <a:rPr lang="tr-TR" sz="2000" dirty="0"/>
              <a:t> ise  </a:t>
            </a:r>
            <a:r>
              <a:rPr lang="tr-TR" sz="2000" dirty="0" smtClean="0"/>
              <a:t>      </a:t>
            </a:r>
          </a:p>
          <a:p>
            <a:pPr indent="-114300">
              <a:defRPr/>
            </a:pPr>
            <a:r>
              <a:rPr lang="tr-TR" sz="2000" dirty="0"/>
              <a:t> </a:t>
            </a:r>
            <a:r>
              <a:rPr lang="tr-TR" sz="2000" dirty="0" smtClean="0"/>
              <a:t>      A10’a git</a:t>
            </a:r>
          </a:p>
          <a:p>
            <a:pPr indent="-114300">
              <a:defRPr/>
            </a:pPr>
            <a:r>
              <a:rPr lang="tr-TR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A8</a:t>
            </a:r>
            <a:r>
              <a:rPr lang="tr-TR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tr-TR" sz="2000" dirty="0"/>
              <a:t> </a:t>
            </a:r>
            <a:r>
              <a:rPr lang="tr-TR" sz="2000" dirty="0" smtClean="0"/>
              <a:t>x=y</a:t>
            </a:r>
          </a:p>
          <a:p>
            <a:pPr indent="-114300">
              <a:defRPr/>
            </a:pPr>
            <a:r>
              <a:rPr lang="tr-TR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A9</a:t>
            </a:r>
            <a:r>
              <a:rPr lang="tr-TR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tr-TR" sz="2000" dirty="0"/>
              <a:t> </a:t>
            </a:r>
            <a:r>
              <a:rPr lang="tr-TR" sz="2000" dirty="0" smtClean="0"/>
              <a:t>A5’e </a:t>
            </a:r>
            <a:r>
              <a:rPr lang="tr-TR" sz="2000" dirty="0"/>
              <a:t>git	</a:t>
            </a:r>
            <a:endParaRPr lang="tr-TR" sz="2000" dirty="0" smtClean="0"/>
          </a:p>
          <a:p>
            <a:pPr indent="-114300">
              <a:defRPr/>
            </a:pPr>
            <a:r>
              <a:rPr lang="tr-TR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A10</a:t>
            </a:r>
            <a:r>
              <a:rPr lang="tr-TR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tr-TR" sz="2000" dirty="0"/>
              <a:t> Yaz (y</a:t>
            </a:r>
            <a:r>
              <a:rPr lang="tr-TR" sz="2000" dirty="0" smtClean="0"/>
              <a:t>)</a:t>
            </a:r>
          </a:p>
          <a:p>
            <a:pPr indent="-114300">
              <a:defRPr/>
            </a:pPr>
            <a:r>
              <a:rPr lang="tr-TR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A11</a:t>
            </a:r>
            <a:r>
              <a:rPr lang="tr-TR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tr-TR" sz="2000" dirty="0"/>
              <a:t> Dur		</a:t>
            </a:r>
            <a:endParaRPr lang="tr-TR" sz="2000" dirty="0" smtClean="0"/>
          </a:p>
        </p:txBody>
      </p:sp>
    </p:spTree>
    <p:extLst>
      <p:ext uri="{BB962C8B-B14F-4D97-AF65-F5344CB8AC3E}">
        <p14:creationId xmlns:p14="http://schemas.microsoft.com/office/powerpoint/2010/main" val="384210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Seçme/Kontrol Yapıları…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020208"/>
                <a:ext cx="8568952" cy="5011983"/>
              </a:xfrm>
            </p:spPr>
            <p:txBody>
              <a:bodyPr>
                <a:normAutofit/>
              </a:bodyPr>
              <a:lstStyle/>
              <a:p>
                <a:pPr marL="171450" lvl="1">
                  <a:spcBef>
                    <a:spcPts val="750"/>
                  </a:spcBef>
                </a:pPr>
                <a14:m>
                  <m:oMath xmlns:m="http://schemas.openxmlformats.org/officeDocument/2006/math">
                    <m:r>
                      <a:rPr lang="tr-TR" sz="2400">
                        <a:solidFill>
                          <a:srgbClr val="7030A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tr-TR" sz="24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tr-TR" altLang="tr-TR" sz="2400" dirty="0" smtClean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[4_1]_karekok.cpp</a:t>
                </a:r>
                <a:endParaRPr lang="tr-TR" altLang="tr-TR" sz="24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171450" lvl="1">
                  <a:spcBef>
                    <a:spcPts val="750"/>
                  </a:spcBef>
                </a:pPr>
                <a:endParaRPr lang="tr-TR" altLang="tr-TR" sz="2400" dirty="0" smtClean="0"/>
              </a:p>
              <a:p>
                <a:pPr marL="514350" lvl="2">
                  <a:spcBef>
                    <a:spcPts val="750"/>
                  </a:spcBef>
                </a:pPr>
                <a:endParaRPr lang="tr-TR" altLang="tr-TR" sz="2100" dirty="0"/>
              </a:p>
              <a:p>
                <a:pPr marL="1287904" lvl="3"/>
                <a:endParaRPr lang="tr-TR" altLang="tr-TR" sz="1800" dirty="0">
                  <a:solidFill>
                    <a:srgbClr val="000000"/>
                  </a:solidFill>
                </a:endParaRPr>
              </a:p>
              <a:p>
                <a:pPr lvl="1"/>
                <a:endParaRPr lang="tr-TR" dirty="0"/>
              </a:p>
            </p:txBody>
          </p:sp>
        </mc:Choice>
        <mc:Fallback xmlns="">
          <p:sp>
            <p:nvSpPr>
              <p:cNvPr id="3" name="İçerik Yer Tutucus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020208"/>
                <a:ext cx="8568952" cy="5011983"/>
              </a:xfrm>
              <a:blipFill>
                <a:blip r:embed="rId2"/>
                <a:stretch>
                  <a:fillRect l="-996" t="-1823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Resim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584680"/>
            <a:ext cx="7553325" cy="4419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26" name="Düz Bağlayıcı 25"/>
          <p:cNvCxnSpPr/>
          <p:nvPr/>
        </p:nvCxnSpPr>
        <p:spPr>
          <a:xfrm flipH="1">
            <a:off x="395534" y="3526199"/>
            <a:ext cx="2520282" cy="231854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Düz Bağlayıcı 30"/>
          <p:cNvCxnSpPr/>
          <p:nvPr/>
        </p:nvCxnSpPr>
        <p:spPr>
          <a:xfrm>
            <a:off x="395535" y="3429000"/>
            <a:ext cx="2520281" cy="20882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1338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37" y="1437080"/>
            <a:ext cx="7403164" cy="44076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Seçme/Kontrol Yapıları…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020208"/>
                <a:ext cx="8568952" cy="5011983"/>
              </a:xfrm>
            </p:spPr>
            <p:txBody>
              <a:bodyPr>
                <a:normAutofit/>
              </a:bodyPr>
              <a:lstStyle/>
              <a:p>
                <a:pPr marL="171450" lvl="1">
                  <a:spcBef>
                    <a:spcPts val="750"/>
                  </a:spcBef>
                </a:pPr>
                <a14:m>
                  <m:oMath xmlns:m="http://schemas.openxmlformats.org/officeDocument/2006/math">
                    <m:r>
                      <a:rPr lang="tr-TR" sz="2400">
                        <a:solidFill>
                          <a:srgbClr val="7030A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tr-TR" sz="24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tr-TR" altLang="tr-TR" sz="2400" dirty="0" smtClean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[4_2]_karekok.cpp</a:t>
                </a:r>
                <a:endParaRPr lang="tr-TR" altLang="tr-TR" sz="24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171450" lvl="1">
                  <a:spcBef>
                    <a:spcPts val="750"/>
                  </a:spcBef>
                </a:pPr>
                <a:endParaRPr lang="tr-TR" altLang="tr-TR" sz="2400" dirty="0" smtClean="0"/>
              </a:p>
              <a:p>
                <a:pPr marL="514350" lvl="2">
                  <a:spcBef>
                    <a:spcPts val="750"/>
                  </a:spcBef>
                </a:pPr>
                <a:endParaRPr lang="tr-TR" altLang="tr-TR" sz="2100" dirty="0"/>
              </a:p>
              <a:p>
                <a:pPr marL="1287904" lvl="3"/>
                <a:endParaRPr lang="tr-TR" altLang="tr-TR" sz="1800" dirty="0">
                  <a:solidFill>
                    <a:srgbClr val="000000"/>
                  </a:solidFill>
                </a:endParaRPr>
              </a:p>
              <a:p>
                <a:pPr lvl="1"/>
                <a:endParaRPr lang="tr-TR" dirty="0"/>
              </a:p>
            </p:txBody>
          </p:sp>
        </mc:Choice>
        <mc:Fallback xmlns="">
          <p:sp>
            <p:nvSpPr>
              <p:cNvPr id="3" name="İçerik Yer Tutucus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020208"/>
                <a:ext cx="8568952" cy="5011983"/>
              </a:xfrm>
              <a:blipFill>
                <a:blip r:embed="rId3"/>
                <a:stretch>
                  <a:fillRect l="-996" t="-1823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Düz Bağlayıcı 25"/>
          <p:cNvCxnSpPr/>
          <p:nvPr/>
        </p:nvCxnSpPr>
        <p:spPr>
          <a:xfrm flipH="1">
            <a:off x="1619672" y="2708920"/>
            <a:ext cx="1080120" cy="152645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Düz Bağlayıcı 7"/>
          <p:cNvCxnSpPr/>
          <p:nvPr/>
        </p:nvCxnSpPr>
        <p:spPr>
          <a:xfrm>
            <a:off x="1187624" y="3717032"/>
            <a:ext cx="432049" cy="51834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6036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Seçme/Kontrol Yapıları…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1450" lvl="1">
              <a:spcBef>
                <a:spcPts val="750"/>
              </a:spcBef>
            </a:pPr>
            <a:r>
              <a:rPr lang="tr-TR" altLang="tr-T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Çoklu Dallanma Yapısı –&gt; </a:t>
            </a:r>
            <a:r>
              <a:rPr lang="tr-TR" altLang="tr-TR" sz="2400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switch-case</a:t>
            </a:r>
            <a:endParaRPr lang="tr-TR" altLang="tr-T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" name="AutoShape 33"/>
          <p:cNvSpPr>
            <a:spLocks noChangeArrowheads="1"/>
          </p:cNvSpPr>
          <p:nvPr/>
        </p:nvSpPr>
        <p:spPr bwMode="auto">
          <a:xfrm>
            <a:off x="435911" y="1493233"/>
            <a:ext cx="2939096" cy="3671164"/>
          </a:xfrm>
          <a:prstGeom prst="roundRect">
            <a:avLst>
              <a:gd name="adj" fmla="val 16667"/>
            </a:avLst>
          </a:prstGeom>
          <a:solidFill>
            <a:schemeClr val="accent4">
              <a:alpha val="50000"/>
            </a:schemeClr>
          </a:solidFill>
          <a:ln>
            <a:noFill/>
          </a:ln>
          <a:ex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lIns="36000" tIns="42452" rIns="36000" bIns="42452" anchor="ctr"/>
          <a:lstStyle>
            <a:lvl1pPr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indent="-219075"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lvl="1"/>
            <a:r>
              <a:rPr lang="tr-TR" altLang="tr-TR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switch</a:t>
            </a:r>
            <a:r>
              <a:rPr lang="en-US" altLang="tr-TR" b="1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 ( </a:t>
            </a:r>
            <a:r>
              <a:rPr lang="tr-TR" altLang="tr-TR" b="1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değişken</a:t>
            </a:r>
            <a:r>
              <a:rPr lang="en-US" altLang="tr-TR" b="1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) </a:t>
            </a:r>
            <a:r>
              <a:rPr lang="tr-TR" altLang="tr-TR" b="1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{</a:t>
            </a:r>
            <a:r>
              <a:rPr lang="en-US" altLang="tr-TR" b="1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   </a:t>
            </a:r>
            <a:endParaRPr lang="tr-TR" altLang="tr-TR" b="1" dirty="0" smtClean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lvl="1"/>
            <a:r>
              <a:rPr lang="tr-TR" altLang="tr-TR" b="1" dirty="0" smtClean="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</a:rPr>
              <a:t>   </a:t>
            </a:r>
            <a:r>
              <a:rPr lang="tr-TR" altLang="tr-TR" b="1" dirty="0" err="1" smtClean="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</a:rPr>
              <a:t>case</a:t>
            </a:r>
            <a:r>
              <a:rPr lang="tr-TR" altLang="tr-TR" b="1" dirty="0" smtClean="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</a:rPr>
              <a:t> </a:t>
            </a:r>
            <a:r>
              <a:rPr lang="tr-TR" altLang="tr-TR" dirty="0" smtClean="0">
                <a:solidFill>
                  <a:srgbClr val="7030A0"/>
                </a:solidFill>
                <a:latin typeface="Trebuchet MS" panose="020B0603020202020204" pitchFamily="34" charset="0"/>
              </a:rPr>
              <a:t>sabit1</a:t>
            </a:r>
            <a:r>
              <a:rPr lang="tr-TR" altLang="tr-TR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:</a:t>
            </a:r>
          </a:p>
          <a:p>
            <a:pPr lvl="1"/>
            <a:r>
              <a:rPr lang="tr-TR" altLang="tr-TR" i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      ifadeler</a:t>
            </a:r>
          </a:p>
          <a:p>
            <a:pPr lvl="1"/>
            <a:r>
              <a:rPr lang="tr-TR" altLang="tr-TR" i="1" dirty="0">
                <a:solidFill>
                  <a:schemeClr val="tx1"/>
                </a:solidFill>
                <a:latin typeface="Trebuchet MS" panose="020B0603020202020204" pitchFamily="34" charset="0"/>
              </a:rPr>
              <a:t> </a:t>
            </a:r>
            <a:r>
              <a:rPr lang="tr-TR" altLang="tr-TR" i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     break;</a:t>
            </a:r>
          </a:p>
          <a:p>
            <a:pPr lvl="1"/>
            <a:r>
              <a:rPr lang="tr-TR" altLang="tr-TR" dirty="0">
                <a:solidFill>
                  <a:schemeClr val="tx1"/>
                </a:solidFill>
                <a:latin typeface="Trebuchet MS" panose="020B0603020202020204" pitchFamily="34" charset="0"/>
              </a:rPr>
              <a:t> </a:t>
            </a:r>
            <a:r>
              <a:rPr lang="tr-TR" altLang="tr-TR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  </a:t>
            </a:r>
            <a:r>
              <a:rPr lang="tr-TR" altLang="tr-TR" b="1" dirty="0" err="1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</a:rPr>
              <a:t>case</a:t>
            </a:r>
            <a:r>
              <a:rPr lang="tr-TR" altLang="tr-TR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 </a:t>
            </a:r>
            <a:r>
              <a:rPr lang="tr-TR" altLang="tr-TR" dirty="0" smtClean="0">
                <a:solidFill>
                  <a:srgbClr val="7030A0"/>
                </a:solidFill>
                <a:latin typeface="Trebuchet MS" panose="020B0603020202020204" pitchFamily="34" charset="0"/>
              </a:rPr>
              <a:t>sabit2</a:t>
            </a:r>
            <a:r>
              <a:rPr lang="tr-TR" altLang="tr-TR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:</a:t>
            </a:r>
            <a:endParaRPr lang="tr-TR" altLang="tr-TR" dirty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lvl="1"/>
            <a:r>
              <a:rPr lang="tr-TR" altLang="tr-TR" i="1" dirty="0">
                <a:solidFill>
                  <a:schemeClr val="tx1"/>
                </a:solidFill>
                <a:latin typeface="Trebuchet MS" panose="020B0603020202020204" pitchFamily="34" charset="0"/>
              </a:rPr>
              <a:t>      ifadeler</a:t>
            </a:r>
          </a:p>
          <a:p>
            <a:pPr lvl="1"/>
            <a:r>
              <a:rPr lang="tr-TR" altLang="tr-TR" i="1" dirty="0">
                <a:solidFill>
                  <a:schemeClr val="tx1"/>
                </a:solidFill>
                <a:latin typeface="Trebuchet MS" panose="020B0603020202020204" pitchFamily="34" charset="0"/>
              </a:rPr>
              <a:t>      break</a:t>
            </a:r>
            <a:r>
              <a:rPr lang="tr-TR" altLang="tr-TR" i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;</a:t>
            </a:r>
          </a:p>
          <a:p>
            <a:pPr lvl="1"/>
            <a:r>
              <a:rPr lang="tr-TR" altLang="tr-TR" sz="16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.</a:t>
            </a:r>
          </a:p>
          <a:p>
            <a:pPr lvl="1"/>
            <a:r>
              <a:rPr lang="tr-TR" altLang="tr-TR" sz="16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.</a:t>
            </a:r>
          </a:p>
          <a:p>
            <a:pPr lvl="1"/>
            <a:r>
              <a:rPr lang="tr-TR" altLang="tr-TR" sz="1600" dirty="0">
                <a:solidFill>
                  <a:schemeClr val="tx1"/>
                </a:solidFill>
                <a:latin typeface="Trebuchet MS" panose="020B0603020202020204" pitchFamily="34" charset="0"/>
              </a:rPr>
              <a:t>.</a:t>
            </a:r>
            <a:endParaRPr lang="tr-TR" altLang="tr-TR" sz="1600" dirty="0" smtClean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lvl="1"/>
            <a:r>
              <a:rPr lang="tr-TR" altLang="tr-TR" b="1" dirty="0" err="1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</a:rPr>
              <a:t>default</a:t>
            </a:r>
            <a:r>
              <a:rPr lang="tr-TR" altLang="tr-TR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:</a:t>
            </a:r>
            <a:endParaRPr lang="tr-TR" altLang="tr-TR" dirty="0" smtClean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lvl="1"/>
            <a:r>
              <a:rPr lang="tr-TR" altLang="tr-TR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   </a:t>
            </a:r>
            <a:r>
              <a:rPr lang="tr-TR" altLang="tr-TR" i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varsayılan ifadeler</a:t>
            </a:r>
            <a:r>
              <a:rPr lang="tr-TR" altLang="tr-TR" i="1" dirty="0">
                <a:solidFill>
                  <a:schemeClr val="tx1"/>
                </a:solidFill>
                <a:latin typeface="Trebuchet MS" panose="020B0603020202020204" pitchFamily="34" charset="0"/>
              </a:rPr>
              <a:t>…</a:t>
            </a:r>
          </a:p>
          <a:p>
            <a:pPr lvl="1"/>
            <a:r>
              <a:rPr lang="tr-TR" altLang="tr-TR" b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}</a:t>
            </a:r>
            <a:endParaRPr lang="tr-TR" altLang="tr-TR" b="1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39" name="Grup 38"/>
          <p:cNvGrpSpPr/>
          <p:nvPr/>
        </p:nvGrpSpPr>
        <p:grpSpPr>
          <a:xfrm>
            <a:off x="4347299" y="1268760"/>
            <a:ext cx="4440673" cy="4536504"/>
            <a:chOff x="4347299" y="1268760"/>
            <a:chExt cx="4440673" cy="4536504"/>
          </a:xfrm>
        </p:grpSpPr>
        <p:sp>
          <p:nvSpPr>
            <p:cNvPr id="11" name="Rectangle 5"/>
            <p:cNvSpPr>
              <a:spLocks noChangeArrowheads="1"/>
            </p:cNvSpPr>
            <p:nvPr/>
          </p:nvSpPr>
          <p:spPr bwMode="auto">
            <a:xfrm>
              <a:off x="7353312" y="2019755"/>
              <a:ext cx="241673" cy="3081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2" name="Rectangle 6"/>
            <p:cNvSpPr>
              <a:spLocks noChangeArrowheads="1"/>
            </p:cNvSpPr>
            <p:nvPr/>
          </p:nvSpPr>
          <p:spPr bwMode="auto">
            <a:xfrm>
              <a:off x="7353312" y="2019755"/>
              <a:ext cx="241673" cy="3081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7353312" y="2019755"/>
              <a:ext cx="241673" cy="3081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4" name="Rectangle 8"/>
            <p:cNvSpPr>
              <a:spLocks noChangeArrowheads="1"/>
            </p:cNvSpPr>
            <p:nvPr/>
          </p:nvSpPr>
          <p:spPr bwMode="auto">
            <a:xfrm>
              <a:off x="7353312" y="2019755"/>
              <a:ext cx="241673" cy="3081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5946123" y="1804725"/>
              <a:ext cx="243387" cy="3081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7353312" y="2019755"/>
              <a:ext cx="241673" cy="3081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17" name="Rectangle 11"/>
            <p:cNvSpPr>
              <a:spLocks noChangeArrowheads="1"/>
            </p:cNvSpPr>
            <p:nvPr/>
          </p:nvSpPr>
          <p:spPr bwMode="auto">
            <a:xfrm>
              <a:off x="7353312" y="2019755"/>
              <a:ext cx="241673" cy="3081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5" name="AutoShape 18"/>
            <p:cNvSpPr>
              <a:spLocks noChangeArrowheads="1"/>
            </p:cNvSpPr>
            <p:nvPr/>
          </p:nvSpPr>
          <p:spPr bwMode="auto">
            <a:xfrm>
              <a:off x="4356192" y="1850929"/>
              <a:ext cx="1944000" cy="936000"/>
            </a:xfrm>
            <a:prstGeom prst="diamon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algn="ctr"/>
              <a:r>
                <a:rPr lang="tr-TR" altLang="tr-TR" sz="1200" dirty="0" smtClean="0">
                  <a:solidFill>
                    <a:srgbClr val="002060"/>
                  </a:solidFill>
                </a:rPr>
                <a:t>Switch değişkeni birinci duruma eşitse</a:t>
              </a:r>
              <a:endParaRPr lang="tr-TR" altLang="tr-TR" sz="1200" dirty="0">
                <a:solidFill>
                  <a:srgbClr val="002060"/>
                </a:solidFill>
              </a:endParaRPr>
            </a:p>
          </p:txBody>
        </p:sp>
        <p:sp>
          <p:nvSpPr>
            <p:cNvPr id="26" name="Oval 21"/>
            <p:cNvSpPr>
              <a:spLocks noChangeArrowheads="1"/>
            </p:cNvSpPr>
            <p:nvPr/>
          </p:nvSpPr>
          <p:spPr bwMode="auto">
            <a:xfrm>
              <a:off x="5174065" y="1268760"/>
              <a:ext cx="318803" cy="29847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tr-TR">
                <a:solidFill>
                  <a:srgbClr val="002060"/>
                </a:solidFill>
                <a:latin typeface="+mn-lt"/>
                <a:cs typeface="+mn-cs"/>
              </a:endParaRPr>
            </a:p>
          </p:txBody>
        </p:sp>
        <p:sp>
          <p:nvSpPr>
            <p:cNvPr id="27" name="Oval 22"/>
            <p:cNvSpPr>
              <a:spLocks noChangeArrowheads="1"/>
            </p:cNvSpPr>
            <p:nvPr/>
          </p:nvSpPr>
          <p:spPr bwMode="auto">
            <a:xfrm>
              <a:off x="8469169" y="5471351"/>
              <a:ext cx="318803" cy="29847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tr-TR">
                <a:solidFill>
                  <a:srgbClr val="002060"/>
                </a:solidFill>
                <a:latin typeface="+mn-lt"/>
                <a:cs typeface="+mn-cs"/>
              </a:endParaRPr>
            </a:p>
          </p:txBody>
        </p:sp>
        <p:cxnSp>
          <p:nvCxnSpPr>
            <p:cNvPr id="28" name="AutoShape 23"/>
            <p:cNvCxnSpPr>
              <a:cxnSpLocks noChangeShapeType="1"/>
              <a:stCxn id="26" idx="4"/>
            </p:cNvCxnSpPr>
            <p:nvPr/>
          </p:nvCxnSpPr>
          <p:spPr bwMode="auto">
            <a:xfrm>
              <a:off x="5333466" y="1567235"/>
              <a:ext cx="1714" cy="296870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2" name="Rectangle 20"/>
            <p:cNvSpPr>
              <a:spLocks noChangeArrowheads="1"/>
            </p:cNvSpPr>
            <p:nvPr/>
          </p:nvSpPr>
          <p:spPr bwMode="auto">
            <a:xfrm>
              <a:off x="6660232" y="2146315"/>
              <a:ext cx="1512168" cy="34658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tr-TR" altLang="tr-TR" sz="1400" dirty="0" smtClean="0">
                  <a:solidFill>
                    <a:srgbClr val="002060"/>
                  </a:solidFill>
                  <a:latin typeface="+mn-lt"/>
                  <a:cs typeface="+mn-cs"/>
                </a:rPr>
                <a:t>1. durum ifadeleri</a:t>
              </a:r>
              <a:endParaRPr lang="en-AU" altLang="tr-TR" sz="1400" dirty="0">
                <a:solidFill>
                  <a:srgbClr val="002060"/>
                </a:solidFill>
                <a:latin typeface="+mn-lt"/>
                <a:cs typeface="+mn-cs"/>
              </a:endParaRPr>
            </a:p>
          </p:txBody>
        </p:sp>
        <p:cxnSp>
          <p:nvCxnSpPr>
            <p:cNvPr id="35" name="Düz Ok Bağlayıcısı 34"/>
            <p:cNvCxnSpPr>
              <a:stCxn id="25" idx="3"/>
              <a:endCxn id="22" idx="1"/>
            </p:cNvCxnSpPr>
            <p:nvPr/>
          </p:nvCxnSpPr>
          <p:spPr>
            <a:xfrm>
              <a:off x="6300192" y="2318929"/>
              <a:ext cx="360040" cy="677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" name="Düz Ok Bağlayıcısı 39"/>
            <p:cNvCxnSpPr>
              <a:stCxn id="25" idx="2"/>
              <a:endCxn id="41" idx="0"/>
            </p:cNvCxnSpPr>
            <p:nvPr/>
          </p:nvCxnSpPr>
          <p:spPr>
            <a:xfrm flipH="1">
              <a:off x="5327976" y="2786929"/>
              <a:ext cx="216" cy="210023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4" name="Oval 22"/>
            <p:cNvSpPr>
              <a:spLocks noChangeArrowheads="1"/>
            </p:cNvSpPr>
            <p:nvPr/>
          </p:nvSpPr>
          <p:spPr bwMode="auto">
            <a:xfrm>
              <a:off x="8460432" y="3319820"/>
              <a:ext cx="318803" cy="29847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tr-TR">
                <a:solidFill>
                  <a:srgbClr val="002060"/>
                </a:solidFill>
                <a:latin typeface="+mn-lt"/>
                <a:cs typeface="+mn-cs"/>
              </a:endParaRPr>
            </a:p>
          </p:txBody>
        </p:sp>
        <p:cxnSp>
          <p:nvCxnSpPr>
            <p:cNvPr id="82" name="Düz Ok Bağlayıcısı 81"/>
            <p:cNvCxnSpPr>
              <a:stCxn id="44" idx="3"/>
              <a:endCxn id="74" idx="2"/>
            </p:cNvCxnSpPr>
            <p:nvPr/>
          </p:nvCxnSpPr>
          <p:spPr>
            <a:xfrm>
              <a:off x="8172400" y="3463025"/>
              <a:ext cx="288032" cy="6033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Dirsek Bağlayıcısı 85"/>
            <p:cNvCxnSpPr>
              <a:stCxn id="22" idx="3"/>
              <a:endCxn id="74" idx="0"/>
            </p:cNvCxnSpPr>
            <p:nvPr/>
          </p:nvCxnSpPr>
          <p:spPr>
            <a:xfrm>
              <a:off x="8172400" y="2319606"/>
              <a:ext cx="447434" cy="1000214"/>
            </a:xfrm>
            <a:prstGeom prst="bentConnector2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Düz Ok Bağlayıcısı 86"/>
            <p:cNvCxnSpPr/>
            <p:nvPr/>
          </p:nvCxnSpPr>
          <p:spPr>
            <a:xfrm>
              <a:off x="5321749" y="3933056"/>
              <a:ext cx="0" cy="216000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1" name="Düz Ok Bağlayıcısı 90"/>
            <p:cNvCxnSpPr/>
            <p:nvPr/>
          </p:nvCxnSpPr>
          <p:spPr>
            <a:xfrm>
              <a:off x="5320983" y="4255507"/>
              <a:ext cx="0" cy="216000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2" name="Düz Ok Bağlayıcısı 91"/>
            <p:cNvCxnSpPr/>
            <p:nvPr/>
          </p:nvCxnSpPr>
          <p:spPr>
            <a:xfrm>
              <a:off x="5319299" y="4039483"/>
              <a:ext cx="0" cy="308245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prstDash val="sysDot"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9" name="Oval 22"/>
            <p:cNvSpPr>
              <a:spLocks noChangeArrowheads="1"/>
            </p:cNvSpPr>
            <p:nvPr/>
          </p:nvSpPr>
          <p:spPr bwMode="auto">
            <a:xfrm>
              <a:off x="8462768" y="4786709"/>
              <a:ext cx="318803" cy="29847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tr-TR">
                <a:solidFill>
                  <a:srgbClr val="002060"/>
                </a:solidFill>
                <a:latin typeface="+mn-lt"/>
                <a:cs typeface="+mn-cs"/>
              </a:endParaRPr>
            </a:p>
          </p:txBody>
        </p:sp>
        <p:cxnSp>
          <p:nvCxnSpPr>
            <p:cNvPr id="100" name="Düz Ok Bağlayıcısı 99"/>
            <p:cNvCxnSpPr>
              <a:stCxn id="46" idx="3"/>
              <a:endCxn id="99" idx="2"/>
            </p:cNvCxnSpPr>
            <p:nvPr/>
          </p:nvCxnSpPr>
          <p:spPr>
            <a:xfrm flipV="1">
              <a:off x="8172400" y="4935947"/>
              <a:ext cx="290368" cy="13119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" name="Düz Ok Bağlayıcısı 102"/>
            <p:cNvCxnSpPr>
              <a:stCxn id="74" idx="4"/>
            </p:cNvCxnSpPr>
            <p:nvPr/>
          </p:nvCxnSpPr>
          <p:spPr>
            <a:xfrm>
              <a:off x="8619834" y="3618295"/>
              <a:ext cx="0" cy="414019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4" name="Düz Ok Bağlayıcısı 103"/>
            <p:cNvCxnSpPr>
              <a:endCxn id="99" idx="0"/>
            </p:cNvCxnSpPr>
            <p:nvPr/>
          </p:nvCxnSpPr>
          <p:spPr>
            <a:xfrm>
              <a:off x="8619834" y="4347728"/>
              <a:ext cx="2336" cy="438981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5" name="Düz Ok Bağlayıcısı 104"/>
            <p:cNvCxnSpPr/>
            <p:nvPr/>
          </p:nvCxnSpPr>
          <p:spPr>
            <a:xfrm>
              <a:off x="8619834" y="4032314"/>
              <a:ext cx="0" cy="332838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prstDash val="sysDot"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8" name="Düz Ok Bağlayıcısı 107"/>
            <p:cNvCxnSpPr>
              <a:stCxn id="49" idx="3"/>
              <a:endCxn id="27" idx="2"/>
            </p:cNvCxnSpPr>
            <p:nvPr/>
          </p:nvCxnSpPr>
          <p:spPr>
            <a:xfrm flipV="1">
              <a:off x="8172400" y="5620589"/>
              <a:ext cx="296769" cy="11385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1" name="AutoShape 18"/>
            <p:cNvSpPr>
              <a:spLocks noChangeArrowheads="1"/>
            </p:cNvSpPr>
            <p:nvPr/>
          </p:nvSpPr>
          <p:spPr bwMode="auto">
            <a:xfrm>
              <a:off x="4355976" y="2996952"/>
              <a:ext cx="1944000" cy="936000"/>
            </a:xfrm>
            <a:prstGeom prst="diamon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algn="ctr"/>
              <a:r>
                <a:rPr lang="tr-TR" altLang="tr-TR" sz="1200" dirty="0" smtClean="0">
                  <a:solidFill>
                    <a:srgbClr val="002060"/>
                  </a:solidFill>
                </a:rPr>
                <a:t>Switch değişkeni ikinci duruma eşitse</a:t>
              </a:r>
              <a:endParaRPr lang="tr-TR" altLang="tr-TR" sz="1200" dirty="0">
                <a:solidFill>
                  <a:srgbClr val="002060"/>
                </a:solidFill>
              </a:endParaRPr>
            </a:p>
          </p:txBody>
        </p:sp>
        <p:sp>
          <p:nvSpPr>
            <p:cNvPr id="42" name="AutoShape 18"/>
            <p:cNvSpPr>
              <a:spLocks noChangeArrowheads="1"/>
            </p:cNvSpPr>
            <p:nvPr/>
          </p:nvSpPr>
          <p:spPr bwMode="auto">
            <a:xfrm>
              <a:off x="4347299" y="4475166"/>
              <a:ext cx="1944000" cy="936000"/>
            </a:xfrm>
            <a:prstGeom prst="diamon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algn="ctr"/>
              <a:r>
                <a:rPr lang="tr-TR" altLang="tr-TR" sz="1200" dirty="0" smtClean="0">
                  <a:solidFill>
                    <a:srgbClr val="002060"/>
                  </a:solidFill>
                </a:rPr>
                <a:t>Switch değişkeni n. duruma eşitse</a:t>
              </a:r>
              <a:endParaRPr lang="tr-TR" altLang="tr-TR" sz="1200" dirty="0">
                <a:solidFill>
                  <a:srgbClr val="002060"/>
                </a:solidFill>
              </a:endParaRPr>
            </a:p>
          </p:txBody>
        </p:sp>
        <p:sp>
          <p:nvSpPr>
            <p:cNvPr id="44" name="Rectangle 20"/>
            <p:cNvSpPr>
              <a:spLocks noChangeArrowheads="1"/>
            </p:cNvSpPr>
            <p:nvPr/>
          </p:nvSpPr>
          <p:spPr bwMode="auto">
            <a:xfrm>
              <a:off x="6660232" y="3289734"/>
              <a:ext cx="1512168" cy="34658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tr-TR" altLang="tr-TR" sz="1400" dirty="0">
                  <a:solidFill>
                    <a:srgbClr val="002060"/>
                  </a:solidFill>
                </a:rPr>
                <a:t>2</a:t>
              </a:r>
              <a:r>
                <a:rPr lang="tr-TR" altLang="tr-TR" sz="1400" dirty="0" smtClean="0">
                  <a:solidFill>
                    <a:srgbClr val="002060"/>
                  </a:solidFill>
                </a:rPr>
                <a:t>. </a:t>
              </a:r>
              <a:r>
                <a:rPr lang="tr-TR" altLang="tr-TR" sz="1400" dirty="0">
                  <a:solidFill>
                    <a:srgbClr val="002060"/>
                  </a:solidFill>
                </a:rPr>
                <a:t>d</a:t>
              </a:r>
              <a:r>
                <a:rPr lang="tr-TR" altLang="tr-TR" sz="1400" dirty="0" smtClean="0">
                  <a:solidFill>
                    <a:srgbClr val="002060"/>
                  </a:solidFill>
                </a:rPr>
                <a:t>urum ifadeleri</a:t>
              </a:r>
              <a:endParaRPr lang="en-AU" altLang="tr-TR" sz="1400" dirty="0">
                <a:solidFill>
                  <a:srgbClr val="002060"/>
                </a:solidFill>
              </a:endParaRPr>
            </a:p>
          </p:txBody>
        </p:sp>
        <p:cxnSp>
          <p:nvCxnSpPr>
            <p:cNvPr id="45" name="Düz Ok Bağlayıcısı 44"/>
            <p:cNvCxnSpPr>
              <a:endCxn id="44" idx="1"/>
            </p:cNvCxnSpPr>
            <p:nvPr/>
          </p:nvCxnSpPr>
          <p:spPr>
            <a:xfrm>
              <a:off x="6300192" y="3462348"/>
              <a:ext cx="360040" cy="677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6" name="Rectangle 20"/>
            <p:cNvSpPr>
              <a:spLocks noChangeArrowheads="1"/>
            </p:cNvSpPr>
            <p:nvPr/>
          </p:nvSpPr>
          <p:spPr bwMode="auto">
            <a:xfrm>
              <a:off x="6660105" y="4775775"/>
              <a:ext cx="1512295" cy="34658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tr-TR" altLang="tr-TR" sz="1400" dirty="0">
                  <a:solidFill>
                    <a:srgbClr val="002060"/>
                  </a:solidFill>
                </a:rPr>
                <a:t>n</a:t>
              </a:r>
              <a:r>
                <a:rPr lang="tr-TR" altLang="tr-TR" sz="1400" dirty="0" smtClean="0">
                  <a:solidFill>
                    <a:srgbClr val="002060"/>
                  </a:solidFill>
                </a:rPr>
                <a:t>. Durum ifadeleri</a:t>
              </a:r>
              <a:endParaRPr lang="en-AU" altLang="tr-TR" sz="1400" dirty="0">
                <a:solidFill>
                  <a:srgbClr val="002060"/>
                </a:solidFill>
              </a:endParaRPr>
            </a:p>
          </p:txBody>
        </p:sp>
        <p:cxnSp>
          <p:nvCxnSpPr>
            <p:cNvPr id="47" name="Düz Ok Bağlayıcısı 46"/>
            <p:cNvCxnSpPr>
              <a:endCxn id="46" idx="1"/>
            </p:cNvCxnSpPr>
            <p:nvPr/>
          </p:nvCxnSpPr>
          <p:spPr>
            <a:xfrm>
              <a:off x="6300065" y="4948389"/>
              <a:ext cx="360040" cy="677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9" name="Rectangle 20"/>
            <p:cNvSpPr>
              <a:spLocks noChangeArrowheads="1"/>
            </p:cNvSpPr>
            <p:nvPr/>
          </p:nvSpPr>
          <p:spPr bwMode="auto">
            <a:xfrm>
              <a:off x="6660232" y="5458683"/>
              <a:ext cx="1512168" cy="34658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tr-TR" altLang="tr-TR" sz="1400" dirty="0">
                  <a:solidFill>
                    <a:srgbClr val="002060"/>
                  </a:solidFill>
                </a:rPr>
                <a:t>v</a:t>
              </a:r>
              <a:r>
                <a:rPr lang="tr-TR" altLang="tr-TR" sz="1400" dirty="0" smtClean="0">
                  <a:solidFill>
                    <a:srgbClr val="002060"/>
                  </a:solidFill>
                </a:rPr>
                <a:t>arsayılan ifadeler</a:t>
              </a:r>
              <a:endParaRPr lang="en-AU" altLang="tr-TR" sz="1400" dirty="0">
                <a:solidFill>
                  <a:srgbClr val="002060"/>
                </a:solidFill>
              </a:endParaRPr>
            </a:p>
          </p:txBody>
        </p:sp>
        <p:cxnSp>
          <p:nvCxnSpPr>
            <p:cNvPr id="7" name="Dirsek Bağlayıcısı 6"/>
            <p:cNvCxnSpPr>
              <a:stCxn id="42" idx="2"/>
              <a:endCxn id="49" idx="1"/>
            </p:cNvCxnSpPr>
            <p:nvPr/>
          </p:nvCxnSpPr>
          <p:spPr>
            <a:xfrm rot="16200000" flipH="1">
              <a:off x="5879361" y="4851103"/>
              <a:ext cx="220808" cy="1340933"/>
            </a:xfrm>
            <a:prstGeom prst="bentConnector2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4" name="Düz Ok Bağlayıcısı 63"/>
            <p:cNvCxnSpPr>
              <a:stCxn id="99" idx="4"/>
              <a:endCxn id="27" idx="0"/>
            </p:cNvCxnSpPr>
            <p:nvPr/>
          </p:nvCxnSpPr>
          <p:spPr>
            <a:xfrm>
              <a:off x="8622170" y="5085184"/>
              <a:ext cx="6401" cy="386167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60" name="Satır Belirtme Çizgisi 1 59"/>
          <p:cNvSpPr/>
          <p:nvPr/>
        </p:nvSpPr>
        <p:spPr>
          <a:xfrm>
            <a:off x="2915816" y="2446016"/>
            <a:ext cx="1582332" cy="724752"/>
          </a:xfrm>
          <a:prstGeom prst="borderCallout1">
            <a:avLst>
              <a:gd name="adj1" fmla="val 49991"/>
              <a:gd name="adj2" fmla="val 473"/>
              <a:gd name="adj3" fmla="val -84335"/>
              <a:gd name="adj4" fmla="val -24639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tr-TR" dirty="0" smtClean="0">
                <a:solidFill>
                  <a:srgbClr val="C00000"/>
                </a:solidFill>
              </a:rPr>
              <a:t>Tamsayı tipinde olabilir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3" name="Satır Belirtme Çizgisi 1 82"/>
          <p:cNvSpPr/>
          <p:nvPr/>
        </p:nvSpPr>
        <p:spPr>
          <a:xfrm>
            <a:off x="2989668" y="3748585"/>
            <a:ext cx="1582332" cy="374966"/>
          </a:xfrm>
          <a:prstGeom prst="borderCallout1">
            <a:avLst>
              <a:gd name="adj1" fmla="val 49991"/>
              <a:gd name="adj2" fmla="val 473"/>
              <a:gd name="adj3" fmla="val -435147"/>
              <a:gd name="adj4" fmla="val -45553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tr-TR" b="1" strike="sngStrike" dirty="0">
                <a:solidFill>
                  <a:schemeClr val="accent6">
                    <a:lumMod val="75000"/>
                  </a:schemeClr>
                </a:solidFill>
                <a:latin typeface="Trebuchet MS" panose="020B0603020202020204" pitchFamily="34" charset="0"/>
                <a:ea typeface="SimSun" panose="02010600030101010101" pitchFamily="2" charset="-122"/>
              </a:rPr>
              <a:t>Case</a:t>
            </a:r>
            <a:r>
              <a:rPr lang="tr-TR" strike="sngStrike" dirty="0" smtClean="0">
                <a:solidFill>
                  <a:srgbClr val="C00000"/>
                </a:solidFill>
              </a:rPr>
              <a:t> </a:t>
            </a:r>
            <a:r>
              <a:rPr lang="tr-TR" strike="sngStrike" dirty="0" err="1">
                <a:solidFill>
                  <a:srgbClr val="7030A0"/>
                </a:solidFill>
                <a:latin typeface="Trebuchet MS" panose="020B0603020202020204" pitchFamily="34" charset="0"/>
                <a:ea typeface="SimSun" panose="02010600030101010101" pitchFamily="2" charset="-122"/>
              </a:rPr>
              <a:t>ort</a:t>
            </a:r>
            <a:r>
              <a:rPr lang="tr-TR" strike="sngStrike" dirty="0">
                <a:solidFill>
                  <a:srgbClr val="7030A0"/>
                </a:solidFill>
                <a:latin typeface="Trebuchet MS" panose="020B0603020202020204" pitchFamily="34" charset="0"/>
                <a:ea typeface="SimSun" panose="02010600030101010101" pitchFamily="2" charset="-122"/>
              </a:rPr>
              <a:t>&lt;50</a:t>
            </a:r>
          </a:p>
        </p:txBody>
      </p:sp>
    </p:spTree>
    <p:extLst>
      <p:ext uri="{BB962C8B-B14F-4D97-AF65-F5344CB8AC3E}">
        <p14:creationId xmlns:p14="http://schemas.microsoft.com/office/powerpoint/2010/main" val="1828320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Seçme/Kontrol Yapıları…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171450" lvl="1">
                  <a:spcBef>
                    <a:spcPts val="750"/>
                  </a:spcBef>
                </a:pPr>
                <a:r>
                  <a:rPr lang="tr-TR" altLang="tr-TR" sz="2400" b="1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Çoklu Dallanma Yapısı –&gt; </a:t>
                </a:r>
                <a:r>
                  <a:rPr lang="tr-TR" altLang="tr-TR" sz="2400" b="1" dirty="0" err="1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switch-case</a:t>
                </a:r>
                <a:endParaRPr lang="tr-TR" altLang="tr-TR" sz="2400" b="1" dirty="0" smtClean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514350" lvl="2">
                  <a:spcBef>
                    <a:spcPts val="750"/>
                  </a:spcBef>
                </a:pPr>
                <a:r>
                  <a:rPr lang="tr-TR" sz="2100" u="sng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Cambria Math" panose="02040503050406030204" pitchFamily="18" charset="0"/>
                  </a:rPr>
                  <a:t>ÖRNEK:</a:t>
                </a:r>
                <a14:m>
                  <m:oMath xmlns:m="http://schemas.openxmlformats.org/officeDocument/2006/math">
                    <m:r>
                      <a:rPr lang="tr-TR" sz="2100">
                        <a:solidFill>
                          <a:srgbClr val="7030A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tr-TR" sz="21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tr-TR" altLang="tr-TR" sz="2100" dirty="0" smtClean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[5]_dortislem.cpp</a:t>
                </a:r>
                <a:endParaRPr lang="tr-TR" altLang="tr-TR" sz="21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171450" lvl="1">
                  <a:spcBef>
                    <a:spcPts val="750"/>
                  </a:spcBef>
                </a:pPr>
                <a:endParaRPr lang="tr-TR" altLang="tr-TR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" name="İçerik Yer Tutucus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t="-1823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3" name="Resim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3" y="1916832"/>
            <a:ext cx="6307456" cy="36724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9130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Seçme/Kontrol Yapıları…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171450" lvl="1">
                  <a:spcBef>
                    <a:spcPts val="750"/>
                  </a:spcBef>
                </a:pPr>
                <a:r>
                  <a:rPr lang="tr-TR" altLang="tr-TR" sz="2400" b="1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Çoklu Dallanma Yapısı –&gt; </a:t>
                </a:r>
                <a:r>
                  <a:rPr lang="tr-TR" altLang="tr-TR" sz="2400" b="1" dirty="0" err="1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switch-case</a:t>
                </a:r>
                <a:r>
                  <a:rPr lang="tr-TR" altLang="tr-TR" sz="2400" b="1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…</a:t>
                </a:r>
              </a:p>
              <a:p>
                <a:pPr marL="514350" lvl="2">
                  <a:spcBef>
                    <a:spcPts val="750"/>
                  </a:spcBef>
                </a:pPr>
                <a:r>
                  <a:rPr lang="tr-TR" sz="2100" u="sng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Cambria Math" panose="02040503050406030204" pitchFamily="18" charset="0"/>
                  </a:rPr>
                  <a:t>ÖRNEK:</a:t>
                </a:r>
                <a14:m>
                  <m:oMath xmlns:m="http://schemas.openxmlformats.org/officeDocument/2006/math">
                    <m:r>
                      <a:rPr lang="tr-TR" sz="2100">
                        <a:solidFill>
                          <a:srgbClr val="7030A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tr-TR" sz="21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tr-TR" altLang="tr-TR" sz="2100" dirty="0" smtClean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[5]_dortislem.cpp…</a:t>
                </a:r>
              </a:p>
              <a:p>
                <a:pPr marL="857250" lvl="3">
                  <a:spcBef>
                    <a:spcPts val="750"/>
                  </a:spcBef>
                </a:pPr>
                <a:r>
                  <a:rPr lang="tr-TR" altLang="tr-TR" sz="2400" b="1" dirty="0" err="1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switch-case</a:t>
                </a:r>
                <a:r>
                  <a:rPr lang="tr-TR" altLang="tr-TR" sz="1800" dirty="0" smtClean="0">
                    <a:solidFill>
                      <a:srgbClr val="000000"/>
                    </a:solidFill>
                    <a:latin typeface="Trebuchet MS" panose="020B0603020202020204" pitchFamily="34" charset="0"/>
                  </a:rPr>
                  <a:t> </a:t>
                </a:r>
                <a:r>
                  <a:rPr lang="tr-TR" altLang="tr-TR" sz="1800" dirty="0">
                    <a:solidFill>
                      <a:srgbClr val="000000"/>
                    </a:solidFill>
                    <a:latin typeface="Trebuchet MS" panose="020B0603020202020204" pitchFamily="34" charset="0"/>
                  </a:rPr>
                  <a:t>yapısı </a:t>
                </a:r>
                <a:r>
                  <a:rPr lang="tr-TR" altLang="tr-TR" sz="2400" b="1" dirty="0" err="1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if</a:t>
                </a:r>
                <a:r>
                  <a:rPr lang="tr-TR" altLang="tr-TR" sz="24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/else</a:t>
                </a:r>
                <a:r>
                  <a:rPr lang="tr-TR" altLang="tr-TR" sz="1800" dirty="0">
                    <a:solidFill>
                      <a:srgbClr val="C00000"/>
                    </a:solidFill>
                    <a:latin typeface="Trebuchet MS" panose="020B0603020202020204" pitchFamily="34" charset="0"/>
                  </a:rPr>
                  <a:t> </a:t>
                </a:r>
                <a:r>
                  <a:rPr lang="tr-TR" altLang="tr-TR" sz="1800" dirty="0">
                    <a:solidFill>
                      <a:srgbClr val="000000"/>
                    </a:solidFill>
                    <a:latin typeface="Trebuchet MS" panose="020B0603020202020204" pitchFamily="34" charset="0"/>
                  </a:rPr>
                  <a:t>yapısı</a:t>
                </a:r>
                <a:r>
                  <a:rPr lang="tr-TR" altLang="tr-TR" sz="1800" dirty="0" smtClean="0">
                    <a:solidFill>
                      <a:srgbClr val="C00000"/>
                    </a:solidFill>
                    <a:latin typeface="Trebuchet MS" panose="020B0603020202020204" pitchFamily="34" charset="0"/>
                  </a:rPr>
                  <a:t> </a:t>
                </a:r>
                <a:r>
                  <a:rPr lang="tr-TR" altLang="tr-TR" sz="1800" dirty="0">
                    <a:solidFill>
                      <a:srgbClr val="000000"/>
                    </a:solidFill>
                    <a:latin typeface="Trebuchet MS" panose="020B0603020202020204" pitchFamily="34" charset="0"/>
                  </a:rPr>
                  <a:t>ile</a:t>
                </a:r>
                <a:r>
                  <a:rPr lang="tr-TR" altLang="tr-TR" sz="1800" dirty="0" smtClean="0">
                    <a:solidFill>
                      <a:srgbClr val="000000"/>
                    </a:solidFill>
                    <a:latin typeface="Trebuchet MS" panose="020B0603020202020204" pitchFamily="34" charset="0"/>
                  </a:rPr>
                  <a:t> de </a:t>
                </a:r>
                <a:r>
                  <a:rPr lang="tr-TR" altLang="tr-TR" sz="1800" dirty="0">
                    <a:solidFill>
                      <a:srgbClr val="000000"/>
                    </a:solidFill>
                    <a:latin typeface="Trebuchet MS" panose="020B0603020202020204" pitchFamily="34" charset="0"/>
                  </a:rPr>
                  <a:t>gerçekleştirilebilir.</a:t>
                </a:r>
              </a:p>
              <a:p>
                <a:pPr marL="857250" lvl="3">
                  <a:spcBef>
                    <a:spcPts val="750"/>
                  </a:spcBef>
                </a:pPr>
                <a:endParaRPr lang="tr-TR" altLang="tr-TR" sz="1800" dirty="0" smtClean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857250" lvl="3">
                  <a:spcBef>
                    <a:spcPts val="750"/>
                  </a:spcBef>
                </a:pPr>
                <a:endParaRPr lang="tr-TR" altLang="tr-TR" sz="18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171450" lvl="1">
                  <a:spcBef>
                    <a:spcPts val="750"/>
                  </a:spcBef>
                </a:pPr>
                <a:endParaRPr lang="tr-TR" altLang="tr-TR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" name="İçerik Yer Tutucus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t="-1823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856" y="2348880"/>
            <a:ext cx="6800520" cy="27363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5524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0" y="323850"/>
            <a:ext cx="9036050" cy="65055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gece2uy1.cpp : </a:t>
            </a:r>
            <a:r>
              <a:rPr lang="tr-TR" sz="95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tr-TR" sz="95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file </a:t>
            </a:r>
            <a:r>
              <a:rPr lang="tr-TR" sz="95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contains</a:t>
            </a:r>
            <a:r>
              <a:rPr lang="tr-TR" sz="95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the</a:t>
            </a:r>
            <a:r>
              <a:rPr lang="tr-TR" sz="95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'main' </a:t>
            </a:r>
            <a:r>
              <a:rPr lang="tr-TR" sz="95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function</a:t>
            </a:r>
            <a:r>
              <a:rPr lang="tr-TR" sz="95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 Program </a:t>
            </a:r>
            <a:r>
              <a:rPr lang="tr-TR" sz="95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execution</a:t>
            </a:r>
            <a:r>
              <a:rPr lang="tr-TR" sz="95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begins</a:t>
            </a:r>
            <a:r>
              <a:rPr lang="tr-TR" sz="95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and</a:t>
            </a:r>
            <a:r>
              <a:rPr lang="tr-TR" sz="95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ends</a:t>
            </a:r>
            <a:r>
              <a:rPr lang="tr-TR" sz="95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there</a:t>
            </a:r>
            <a:r>
              <a:rPr lang="tr-TR" sz="95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</a:t>
            </a:r>
            <a:r>
              <a:rPr lang="tr-TR" sz="95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include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iostream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tr-TR" sz="95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main()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sayi1, sayi2, secim;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sayi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1 ?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cin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&gt;&gt;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sayi1;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sayi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2 ?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cin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&gt;&gt;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sayi2;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"\t Ne yapalım?"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"\t 1 toplama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"\t 2 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cikarma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"\t 3 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carpma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"\t 4 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bolme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"\t 5 kalan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seciminiz? (1-5)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cin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&gt;&gt;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secim;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switch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(secim )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{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tr-TR" sz="95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1: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sayi1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+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sayi2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=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sayi1 + sayi2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	</a:t>
            </a:r>
            <a:r>
              <a:rPr lang="tr-TR" sz="95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tr-TR" sz="95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2: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sayi1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-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sayi2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=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sayi1 - sayi2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	</a:t>
            </a:r>
            <a:r>
              <a:rPr lang="tr-TR" sz="95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tr-TR" sz="95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3: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sayi1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*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sayi2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=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sayi1 * sayi2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	</a:t>
            </a:r>
            <a:r>
              <a:rPr lang="tr-TR" sz="95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tr-TR" sz="95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4: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	</a:t>
            </a:r>
            <a:r>
              <a:rPr lang="tr-TR" sz="95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(sayi2 != 0)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	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sayi1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/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sayi2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=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tr-TR" sz="95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float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)sayi1 / sayi2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	</a:t>
            </a:r>
            <a:r>
              <a:rPr lang="tr-TR" sz="95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	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sifira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bolme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olmaz"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	</a:t>
            </a:r>
            <a:r>
              <a:rPr lang="tr-TR" sz="95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tr-TR" sz="95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5: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sayi1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mod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sayi2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= 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sayi1 % sayi2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	</a:t>
            </a:r>
            <a:r>
              <a:rPr lang="tr-TR" sz="95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</a:t>
            </a:r>
            <a:r>
              <a:rPr lang="tr-TR" sz="95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default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	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please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select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correct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item</a:t>
            </a:r>
            <a:r>
              <a:rPr lang="tr-TR" sz="95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..."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tr-TR" sz="95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}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tr-TR" sz="95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0;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defRPr/>
            </a:pPr>
            <a:r>
              <a:rPr lang="tr-TR" sz="95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tr-TR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184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Döngü Yapısı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1450" lvl="1">
              <a:spcBef>
                <a:spcPts val="750"/>
              </a:spcBef>
            </a:pPr>
            <a:r>
              <a:rPr lang="tr-TR" altLang="tr-TR" sz="2400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endParaRPr lang="tr-TR" altLang="tr-T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lvl="2">
              <a:spcBef>
                <a:spcPts val="750"/>
              </a:spcBef>
            </a:pPr>
            <a:r>
              <a:rPr lang="tr-TR" altLang="tr-TR" sz="2000" dirty="0" smtClean="0">
                <a:solidFill>
                  <a:srgbClr val="000000"/>
                </a:solidFill>
              </a:rPr>
              <a:t>Programın </a:t>
            </a:r>
            <a:r>
              <a:rPr lang="tr-TR" altLang="tr-TR" sz="2000" dirty="0">
                <a:solidFill>
                  <a:srgbClr val="000000"/>
                </a:solidFill>
              </a:rPr>
              <a:t>bir parçasını sabit sayıda çalıştırır. </a:t>
            </a:r>
            <a:endParaRPr lang="tr-TR" altLang="tr-TR" sz="2000" dirty="0" smtClean="0">
              <a:solidFill>
                <a:srgbClr val="000000"/>
              </a:solidFill>
            </a:endParaRPr>
          </a:p>
          <a:p>
            <a:pPr marL="514350" lvl="2">
              <a:spcBef>
                <a:spcPts val="750"/>
              </a:spcBef>
            </a:pPr>
            <a:r>
              <a:rPr lang="tr-TR" altLang="tr-TR" sz="2000" dirty="0" smtClean="0">
                <a:solidFill>
                  <a:srgbClr val="000000"/>
                </a:solidFill>
              </a:rPr>
              <a:t>Koşul </a:t>
            </a:r>
            <a:r>
              <a:rPr lang="tr-TR" altLang="tr-TR" sz="2000" dirty="0">
                <a:solidFill>
                  <a:srgbClr val="000000"/>
                </a:solidFill>
              </a:rPr>
              <a:t>sınaması çevrime girmeden </a:t>
            </a:r>
            <a:r>
              <a:rPr lang="tr-TR" altLang="tr-TR" sz="2000" dirty="0" smtClean="0">
                <a:solidFill>
                  <a:srgbClr val="000000"/>
                </a:solidFill>
              </a:rPr>
              <a:t>yapılır.</a:t>
            </a:r>
          </a:p>
          <a:p>
            <a:pPr marL="514350" lvl="2">
              <a:spcBef>
                <a:spcPts val="750"/>
              </a:spcBef>
            </a:pPr>
            <a:r>
              <a:rPr lang="tr-TR" altLang="tr-TR" sz="2000" dirty="0" smtClean="0">
                <a:solidFill>
                  <a:srgbClr val="000000"/>
                </a:solidFill>
              </a:rPr>
              <a:t>Döngüye </a:t>
            </a:r>
            <a:r>
              <a:rPr lang="tr-TR" altLang="tr-TR" sz="2000" dirty="0">
                <a:solidFill>
                  <a:srgbClr val="000000"/>
                </a:solidFill>
              </a:rPr>
              <a:t>girmeden önce sayaç başlangıç değeri alır ve daha sonra koşula bakılır. </a:t>
            </a:r>
            <a:endParaRPr lang="tr-TR" altLang="tr-TR" sz="2000" dirty="0" smtClean="0">
              <a:solidFill>
                <a:srgbClr val="000000"/>
              </a:solidFill>
            </a:endParaRPr>
          </a:p>
          <a:p>
            <a:pPr marL="514350" lvl="2">
              <a:spcBef>
                <a:spcPts val="750"/>
              </a:spcBef>
            </a:pPr>
            <a:r>
              <a:rPr lang="tr-TR" altLang="tr-TR" sz="2000" dirty="0" smtClean="0">
                <a:solidFill>
                  <a:srgbClr val="000000"/>
                </a:solidFill>
              </a:rPr>
              <a:t>Döngü </a:t>
            </a:r>
            <a:r>
              <a:rPr lang="tr-TR" altLang="tr-TR" sz="2000" dirty="0">
                <a:solidFill>
                  <a:srgbClr val="000000"/>
                </a:solidFill>
              </a:rPr>
              <a:t>içerisindeki işlemler yapıldıktan sonra sayaç üçüncü parametrenin durumuna göre değiştirilir (artırılır/eksiltilir).</a:t>
            </a:r>
          </a:p>
          <a:p>
            <a:pPr marL="514350" lvl="2">
              <a:spcBef>
                <a:spcPts val="750"/>
              </a:spcBef>
            </a:pPr>
            <a:endParaRPr lang="tr-TR" altLang="tr-TR" sz="21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71450" lvl="1">
              <a:spcBef>
                <a:spcPts val="750"/>
              </a:spcBef>
            </a:pPr>
            <a:endParaRPr lang="tr-TR" altLang="tr-T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AutoShape 33"/>
          <p:cNvSpPr>
            <a:spLocks noChangeArrowheads="1"/>
          </p:cNvSpPr>
          <p:nvPr/>
        </p:nvSpPr>
        <p:spPr bwMode="auto">
          <a:xfrm>
            <a:off x="755576" y="3645024"/>
            <a:ext cx="5052673" cy="1008112"/>
          </a:xfrm>
          <a:prstGeom prst="roundRect">
            <a:avLst>
              <a:gd name="adj" fmla="val 16667"/>
            </a:avLst>
          </a:prstGeom>
          <a:solidFill>
            <a:schemeClr val="accent4">
              <a:alpha val="50000"/>
            </a:schemeClr>
          </a:solidFill>
          <a:ln>
            <a:noFill/>
          </a:ln>
          <a:ex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lIns="36000" tIns="42452" rIns="36000" bIns="42452" anchor="ctr"/>
          <a:lstStyle>
            <a:lvl1pPr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indent="-219075"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r>
              <a:rPr lang="tr-TR" altLang="tr-TR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for</a:t>
            </a:r>
            <a:r>
              <a:rPr lang="en-US" altLang="tr-TR" b="1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 ( </a:t>
            </a:r>
            <a:r>
              <a:rPr lang="tr-TR" altLang="tr-TR" b="1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başlatma; koşul </a:t>
            </a:r>
            <a:r>
              <a:rPr lang="tr-TR" altLang="tr-TR" b="1" dirty="0" err="1" smtClean="0">
                <a:solidFill>
                  <a:srgbClr val="0070C0"/>
                </a:solidFill>
                <a:latin typeface="Trebuchet MS" panose="020B0603020202020204" pitchFamily="34" charset="0"/>
              </a:rPr>
              <a:t>testi;artırma</a:t>
            </a:r>
            <a:r>
              <a:rPr lang="tr-TR" altLang="tr-TR" b="1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/azaltma </a:t>
            </a:r>
            <a:r>
              <a:rPr lang="en-US" altLang="tr-TR" b="1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) </a:t>
            </a:r>
            <a:r>
              <a:rPr lang="tr-TR" altLang="tr-TR" b="1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{</a:t>
            </a:r>
            <a:r>
              <a:rPr lang="en-US" altLang="tr-TR" b="1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   </a:t>
            </a:r>
            <a:endParaRPr lang="tr-TR" altLang="tr-TR" b="1" dirty="0" smtClean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r>
              <a:rPr lang="tr-TR" altLang="tr-TR" i="1" dirty="0">
                <a:solidFill>
                  <a:schemeClr val="tx1"/>
                </a:solidFill>
                <a:latin typeface="Trebuchet MS" panose="020B0603020202020204" pitchFamily="34" charset="0"/>
              </a:rPr>
              <a:t> </a:t>
            </a:r>
            <a:r>
              <a:rPr lang="tr-TR" altLang="tr-TR" i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     ifade(</a:t>
            </a:r>
            <a:r>
              <a:rPr lang="tr-TR" altLang="tr-TR" i="1" dirty="0" err="1" smtClean="0">
                <a:solidFill>
                  <a:schemeClr val="tx1"/>
                </a:solidFill>
                <a:latin typeface="Trebuchet MS" panose="020B0603020202020204" pitchFamily="34" charset="0"/>
              </a:rPr>
              <a:t>ler</a:t>
            </a:r>
            <a:r>
              <a:rPr lang="tr-TR" altLang="tr-TR" i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)</a:t>
            </a:r>
          </a:p>
          <a:p>
            <a:r>
              <a:rPr lang="tr-TR" altLang="tr-TR" b="1" dirty="0">
                <a:solidFill>
                  <a:srgbClr val="000000"/>
                </a:solidFill>
                <a:latin typeface="Trebuchet MS" panose="020B0603020202020204" pitchFamily="34" charset="0"/>
              </a:rPr>
              <a:t>}  </a:t>
            </a:r>
            <a:r>
              <a:rPr lang="tr-TR" altLang="tr-TR" i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 </a:t>
            </a:r>
            <a:endParaRPr lang="tr-TR" altLang="tr-TR" b="1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31" name="Grup 30"/>
          <p:cNvGrpSpPr/>
          <p:nvPr/>
        </p:nvGrpSpPr>
        <p:grpSpPr>
          <a:xfrm>
            <a:off x="4932040" y="4080150"/>
            <a:ext cx="3867723" cy="1869130"/>
            <a:chOff x="4518445" y="3718694"/>
            <a:chExt cx="3867723" cy="1869130"/>
          </a:xfrm>
        </p:grpSpPr>
        <p:grpSp>
          <p:nvGrpSpPr>
            <p:cNvPr id="5" name="Grup 4"/>
            <p:cNvGrpSpPr/>
            <p:nvPr/>
          </p:nvGrpSpPr>
          <p:grpSpPr>
            <a:xfrm>
              <a:off x="4518445" y="3718694"/>
              <a:ext cx="3867723" cy="1869130"/>
              <a:chOff x="4019224" y="3319800"/>
              <a:chExt cx="2711520" cy="1748160"/>
            </a:xfrm>
          </p:grpSpPr>
          <p:grpSp>
            <p:nvGrpSpPr>
              <p:cNvPr id="6" name="Group 17"/>
              <p:cNvGrpSpPr>
                <a:grpSpLocks/>
              </p:cNvGrpSpPr>
              <p:nvPr/>
            </p:nvGrpSpPr>
            <p:grpSpPr bwMode="auto">
              <a:xfrm>
                <a:off x="4019224" y="3319800"/>
                <a:ext cx="2711520" cy="1748160"/>
                <a:chOff x="1956" y="1831"/>
                <a:chExt cx="1883" cy="1214"/>
              </a:xfrm>
            </p:grpSpPr>
            <p:sp>
              <p:nvSpPr>
                <p:cNvPr id="8" name="AutoShape 18"/>
                <p:cNvSpPr>
                  <a:spLocks noChangeArrowheads="1"/>
                </p:cNvSpPr>
                <p:nvPr/>
              </p:nvSpPr>
              <p:spPr bwMode="auto">
                <a:xfrm>
                  <a:off x="1956" y="2291"/>
                  <a:ext cx="1288" cy="363"/>
                </a:xfrm>
                <a:prstGeom prst="flowChartPreparation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rgbClr val="00206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anchor="ctr"/>
                <a:lstStyle/>
                <a:p>
                  <a:pPr algn="ctr"/>
                  <a:r>
                    <a:rPr lang="tr-TR" altLang="tr-TR" sz="1400" dirty="0" smtClean="0">
                      <a:solidFill>
                        <a:srgbClr val="002060"/>
                      </a:solidFill>
                      <a:latin typeface="+mn-lt"/>
                      <a:cs typeface="+mn-cs"/>
                    </a:rPr>
                    <a:t>Başlatma; koşul testi; artırma/azalma</a:t>
                  </a:r>
                  <a:endParaRPr lang="tr-TR" altLang="tr-TR" sz="1400" dirty="0">
                    <a:solidFill>
                      <a:srgbClr val="002060"/>
                    </a:solidFill>
                    <a:latin typeface="+mn-lt"/>
                    <a:cs typeface="+mn-cs"/>
                  </a:endParaRPr>
                </a:p>
              </p:txBody>
            </p:sp>
            <p:sp>
              <p:nvSpPr>
                <p:cNvPr id="9" name="Rectangle 20"/>
                <p:cNvSpPr>
                  <a:spLocks noChangeArrowheads="1"/>
                </p:cNvSpPr>
                <p:nvPr/>
              </p:nvSpPr>
              <p:spPr bwMode="auto">
                <a:xfrm>
                  <a:off x="3384" y="2350"/>
                  <a:ext cx="455" cy="236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rgbClr val="00206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r>
                    <a:rPr lang="tr-TR" altLang="tr-TR" sz="1600" dirty="0" smtClean="0">
                      <a:solidFill>
                        <a:srgbClr val="002060"/>
                      </a:solidFill>
                      <a:latin typeface="+mn-lt"/>
                      <a:cs typeface="+mn-cs"/>
                    </a:rPr>
                    <a:t>işlemler</a:t>
                  </a:r>
                  <a:endParaRPr lang="en-AU" altLang="tr-TR" sz="1600" dirty="0">
                    <a:solidFill>
                      <a:srgbClr val="002060"/>
                    </a:solidFill>
                    <a:latin typeface="+mn-lt"/>
                    <a:cs typeface="+mn-cs"/>
                  </a:endParaRPr>
                </a:p>
              </p:txBody>
            </p:sp>
            <p:sp>
              <p:nvSpPr>
                <p:cNvPr id="10" name="Oval 21"/>
                <p:cNvSpPr>
                  <a:spLocks noChangeArrowheads="1"/>
                </p:cNvSpPr>
                <p:nvPr/>
              </p:nvSpPr>
              <p:spPr bwMode="auto">
                <a:xfrm>
                  <a:off x="2508" y="1831"/>
                  <a:ext cx="186" cy="186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rgbClr val="00206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lang="tr-TR">
                    <a:solidFill>
                      <a:srgbClr val="002060"/>
                    </a:solidFill>
                    <a:latin typeface="+mn-lt"/>
                    <a:cs typeface="+mn-cs"/>
                  </a:endParaRPr>
                </a:p>
              </p:txBody>
            </p:sp>
            <p:sp>
              <p:nvSpPr>
                <p:cNvPr id="11" name="Oval 22"/>
                <p:cNvSpPr>
                  <a:spLocks noChangeArrowheads="1"/>
                </p:cNvSpPr>
                <p:nvPr/>
              </p:nvSpPr>
              <p:spPr bwMode="auto">
                <a:xfrm>
                  <a:off x="2505" y="2859"/>
                  <a:ext cx="186" cy="186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rgbClr val="00206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lang="tr-TR">
                    <a:solidFill>
                      <a:srgbClr val="002060"/>
                    </a:solidFill>
                    <a:latin typeface="+mn-lt"/>
                    <a:cs typeface="+mn-cs"/>
                  </a:endParaRPr>
                </a:p>
              </p:txBody>
            </p:sp>
            <p:cxnSp>
              <p:nvCxnSpPr>
                <p:cNvPr id="12" name="AutoShape 23"/>
                <p:cNvCxnSpPr>
                  <a:cxnSpLocks noChangeShapeType="1"/>
                  <a:stCxn id="10" idx="4"/>
                  <a:endCxn id="8" idx="0"/>
                </p:cNvCxnSpPr>
                <p:nvPr/>
              </p:nvCxnSpPr>
              <p:spPr bwMode="auto">
                <a:xfrm flipH="1">
                  <a:off x="2600" y="2017"/>
                  <a:ext cx="1" cy="274"/>
                </a:xfrm>
                <a:prstGeom prst="straightConnector1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rgbClr val="002060"/>
                  </a:solidFill>
                  <a:headEnd type="none" w="med" len="med"/>
                  <a:tailEnd type="triangl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cxnSp>
            <p:nvCxnSpPr>
              <p:cNvPr id="7" name="Dirsek Bağlayıcısı 6"/>
              <p:cNvCxnSpPr>
                <a:endCxn id="9" idx="0"/>
              </p:cNvCxnSpPr>
              <p:nvPr/>
            </p:nvCxnSpPr>
            <p:spPr>
              <a:xfrm>
                <a:off x="4960984" y="3771959"/>
                <a:ext cx="1442160" cy="295201"/>
              </a:xfrm>
              <a:prstGeom prst="bentConnector2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rgbClr val="002060"/>
                </a:solidFill>
                <a:headEnd type="triangl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16" name="AutoShape 23"/>
            <p:cNvCxnSpPr>
              <a:cxnSpLocks noChangeShapeType="1"/>
              <a:stCxn id="8" idx="3"/>
              <a:endCxn id="9" idx="1"/>
            </p:cNvCxnSpPr>
            <p:nvPr/>
          </p:nvCxnSpPr>
          <p:spPr bwMode="auto">
            <a:xfrm flipV="1">
              <a:off x="7164025" y="4699447"/>
              <a:ext cx="287563" cy="6929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4" name="AutoShape 23"/>
            <p:cNvCxnSpPr>
              <a:cxnSpLocks noChangeShapeType="1"/>
              <a:stCxn id="8" idx="2"/>
              <a:endCxn id="11" idx="0"/>
            </p:cNvCxnSpPr>
            <p:nvPr/>
          </p:nvCxnSpPr>
          <p:spPr bwMode="auto">
            <a:xfrm flipH="1">
              <a:off x="5837127" y="4985822"/>
              <a:ext cx="4108" cy="315628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616266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1450" lvl="1">
              <a:spcBef>
                <a:spcPts val="750"/>
              </a:spcBef>
            </a:pPr>
            <a:r>
              <a:rPr lang="tr-TR" altLang="tr-TR" sz="2400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tr-TR" altLang="tr-T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…</a:t>
            </a:r>
            <a:endParaRPr lang="tr-TR" altLang="tr-T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lvl="2">
              <a:spcBef>
                <a:spcPts val="750"/>
              </a:spcBef>
            </a:pPr>
            <a:r>
              <a:rPr lang="tr-TR" altLang="tr-TR" sz="2000" dirty="0" smtClean="0">
                <a:solidFill>
                  <a:srgbClr val="000000"/>
                </a:solidFill>
              </a:rPr>
              <a:t>Tek ifadeli </a:t>
            </a:r>
            <a:r>
              <a:rPr lang="tr-TR" altLang="tr-TR" sz="2000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tr-TR" altLang="tr-TR" sz="2000" dirty="0" smtClean="0">
                <a:solidFill>
                  <a:srgbClr val="000000"/>
                </a:solidFill>
              </a:rPr>
              <a:t> döngüsü</a:t>
            </a:r>
          </a:p>
          <a:p>
            <a:pPr marL="514350" lvl="2">
              <a:spcBef>
                <a:spcPts val="750"/>
              </a:spcBef>
            </a:pPr>
            <a:endParaRPr lang="tr-TR" altLang="tr-TR" sz="2000" dirty="0">
              <a:solidFill>
                <a:srgbClr val="000000"/>
              </a:solidFill>
            </a:endParaRPr>
          </a:p>
          <a:p>
            <a:pPr marL="514350" lvl="2">
              <a:spcBef>
                <a:spcPts val="750"/>
              </a:spcBef>
            </a:pPr>
            <a:endParaRPr lang="tr-TR" altLang="tr-TR" sz="2000" dirty="0" smtClean="0">
              <a:solidFill>
                <a:srgbClr val="000000"/>
              </a:solidFill>
            </a:endParaRPr>
          </a:p>
          <a:p>
            <a:pPr marL="514350" lvl="2">
              <a:spcBef>
                <a:spcPts val="750"/>
              </a:spcBef>
            </a:pPr>
            <a:endParaRPr lang="tr-TR" altLang="tr-TR" sz="2000" dirty="0" smtClean="0">
              <a:solidFill>
                <a:srgbClr val="000000"/>
              </a:solidFill>
            </a:endParaRPr>
          </a:p>
          <a:p>
            <a:pPr marL="514350" lvl="2">
              <a:spcBef>
                <a:spcPts val="750"/>
              </a:spcBef>
            </a:pPr>
            <a:endParaRPr lang="tr-TR" altLang="tr-TR" sz="2000" dirty="0">
              <a:solidFill>
                <a:srgbClr val="000000"/>
              </a:solidFill>
            </a:endParaRPr>
          </a:p>
          <a:p>
            <a:pPr marL="514350" lvl="2">
              <a:spcBef>
                <a:spcPts val="750"/>
              </a:spcBef>
            </a:pPr>
            <a:endParaRPr lang="tr-TR" altLang="tr-TR" sz="2000" dirty="0" smtClean="0">
              <a:solidFill>
                <a:srgbClr val="000000"/>
              </a:solidFill>
            </a:endParaRPr>
          </a:p>
          <a:p>
            <a:pPr marL="514350" lvl="2">
              <a:spcBef>
                <a:spcPts val="750"/>
              </a:spcBef>
            </a:pPr>
            <a:r>
              <a:rPr lang="tr-TR" altLang="tr-TR" sz="2000" dirty="0" smtClean="0">
                <a:solidFill>
                  <a:srgbClr val="000000"/>
                </a:solidFill>
              </a:rPr>
              <a:t>Birden çok ifadeden oluşan </a:t>
            </a:r>
            <a:r>
              <a:rPr lang="tr-TR" altLang="tr-TR" sz="2000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tr-TR" altLang="tr-TR" sz="2000" dirty="0" smtClean="0">
                <a:solidFill>
                  <a:srgbClr val="000000"/>
                </a:solidFill>
              </a:rPr>
              <a:t> döngüsü</a:t>
            </a:r>
          </a:p>
          <a:p>
            <a:pPr marL="514350" lvl="2">
              <a:spcBef>
                <a:spcPts val="750"/>
              </a:spcBef>
            </a:pPr>
            <a:endParaRPr lang="tr-TR" altLang="tr-TR" sz="21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71450" lvl="1">
              <a:spcBef>
                <a:spcPts val="750"/>
              </a:spcBef>
            </a:pPr>
            <a:endParaRPr lang="tr-TR" altLang="tr-T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Döngü Yapısı…</a:t>
            </a:r>
            <a:endParaRPr lang="tr-TR" dirty="0"/>
          </a:p>
        </p:txBody>
      </p:sp>
      <p:grpSp>
        <p:nvGrpSpPr>
          <p:cNvPr id="45" name="Grup 44"/>
          <p:cNvGrpSpPr/>
          <p:nvPr/>
        </p:nvGrpSpPr>
        <p:grpSpPr>
          <a:xfrm>
            <a:off x="827584" y="1844824"/>
            <a:ext cx="5544616" cy="1458022"/>
            <a:chOff x="827584" y="1844824"/>
            <a:chExt cx="5544616" cy="1458022"/>
          </a:xfrm>
        </p:grpSpPr>
        <p:sp>
          <p:nvSpPr>
            <p:cNvPr id="20" name="Text Box 45"/>
            <p:cNvSpPr txBox="1">
              <a:spLocks noChangeArrowheads="1"/>
            </p:cNvSpPr>
            <p:nvPr/>
          </p:nvSpPr>
          <p:spPr bwMode="auto">
            <a:xfrm>
              <a:off x="3616412" y="1844824"/>
              <a:ext cx="2755788" cy="2703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1638" tIns="42452" rIns="81638" bIns="42452">
              <a:spAutoFit/>
            </a:bodyPr>
            <a:lstStyle>
              <a:lvl1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>
                <a:spcBef>
                  <a:spcPts val="567"/>
                </a:spcBef>
              </a:pPr>
              <a:r>
                <a:rPr lang="tr-TR" altLang="tr-TR" sz="1200" b="1" dirty="0" smtClean="0">
                  <a:solidFill>
                    <a:srgbClr val="0070C0"/>
                  </a:solidFill>
                </a:rPr>
                <a:t>Sayaç başlangıç değeri</a:t>
              </a:r>
              <a:endParaRPr lang="tr-TR" altLang="tr-TR" sz="1200" b="1" dirty="0">
                <a:solidFill>
                  <a:srgbClr val="0070C0"/>
                </a:solidFill>
              </a:endParaRPr>
            </a:p>
          </p:txBody>
        </p:sp>
        <p:pic>
          <p:nvPicPr>
            <p:cNvPr id="13" name="Resim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7584" y="2645621"/>
              <a:ext cx="2667000" cy="65722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cxnSp>
          <p:nvCxnSpPr>
            <p:cNvPr id="22" name="Düz Ok Bağlayıcısı 21"/>
            <p:cNvCxnSpPr>
              <a:stCxn id="20" idx="1"/>
            </p:cNvCxnSpPr>
            <p:nvPr/>
          </p:nvCxnSpPr>
          <p:spPr>
            <a:xfrm flipH="1">
              <a:off x="1547664" y="1980024"/>
              <a:ext cx="2068748" cy="8816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Düz Bağlayıcı 25"/>
            <p:cNvCxnSpPr/>
            <p:nvPr/>
          </p:nvCxnSpPr>
          <p:spPr>
            <a:xfrm>
              <a:off x="1547664" y="1980131"/>
              <a:ext cx="0" cy="710927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Düz Ok Bağlayıcısı 29"/>
            <p:cNvCxnSpPr>
              <a:stCxn id="33" idx="1"/>
            </p:cNvCxnSpPr>
            <p:nvPr/>
          </p:nvCxnSpPr>
          <p:spPr>
            <a:xfrm flipH="1" flipV="1">
              <a:off x="2339752" y="2204864"/>
              <a:ext cx="1276660" cy="8817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Düz Bağlayıcı 31"/>
            <p:cNvCxnSpPr/>
            <p:nvPr/>
          </p:nvCxnSpPr>
          <p:spPr>
            <a:xfrm>
              <a:off x="2339752" y="2204972"/>
              <a:ext cx="0" cy="486086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 Box 45"/>
            <p:cNvSpPr txBox="1">
              <a:spLocks noChangeArrowheads="1"/>
            </p:cNvSpPr>
            <p:nvPr/>
          </p:nvSpPr>
          <p:spPr bwMode="auto">
            <a:xfrm>
              <a:off x="3616412" y="2078481"/>
              <a:ext cx="2755788" cy="2703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1638" tIns="42452" rIns="81638" bIns="42452">
              <a:spAutoFit/>
            </a:bodyPr>
            <a:lstStyle>
              <a:lvl1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>
                <a:spcBef>
                  <a:spcPts val="567"/>
                </a:spcBef>
              </a:pPr>
              <a:r>
                <a:rPr lang="tr-TR" altLang="tr-TR" sz="1200" b="1" dirty="0" smtClean="0">
                  <a:solidFill>
                    <a:srgbClr val="0070C0"/>
                  </a:solidFill>
                </a:rPr>
                <a:t>Koşul</a:t>
              </a:r>
              <a:endParaRPr lang="tr-TR" altLang="tr-TR" sz="1200" b="1" dirty="0">
                <a:solidFill>
                  <a:srgbClr val="0070C0"/>
                </a:solidFill>
              </a:endParaRPr>
            </a:p>
          </p:txBody>
        </p:sp>
        <p:sp>
          <p:nvSpPr>
            <p:cNvPr id="34" name="Text Box 45"/>
            <p:cNvSpPr txBox="1">
              <a:spLocks noChangeArrowheads="1"/>
            </p:cNvSpPr>
            <p:nvPr/>
          </p:nvSpPr>
          <p:spPr bwMode="auto">
            <a:xfrm>
              <a:off x="3616412" y="2294505"/>
              <a:ext cx="2755788" cy="2703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81638" tIns="42452" rIns="81638" bIns="42452">
              <a:spAutoFit/>
            </a:bodyPr>
            <a:lstStyle>
              <a:lvl1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  <a:defRPr>
                  <a:solidFill>
                    <a:srgbClr val="FFFFFF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>
                <a:spcBef>
                  <a:spcPts val="567"/>
                </a:spcBef>
              </a:pPr>
              <a:r>
                <a:rPr lang="tr-TR" altLang="tr-TR" sz="1200" b="1" dirty="0" smtClean="0">
                  <a:solidFill>
                    <a:srgbClr val="0070C0"/>
                  </a:solidFill>
                </a:rPr>
                <a:t>Arttırma ifadesi</a:t>
              </a:r>
              <a:endParaRPr lang="tr-TR" altLang="tr-TR" sz="1200" b="1" dirty="0">
                <a:solidFill>
                  <a:srgbClr val="0070C0"/>
                </a:solidFill>
              </a:endParaRPr>
            </a:p>
          </p:txBody>
        </p:sp>
        <p:cxnSp>
          <p:nvCxnSpPr>
            <p:cNvPr id="35" name="Düz Ok Bağlayıcısı 34"/>
            <p:cNvCxnSpPr>
              <a:stCxn id="34" idx="1"/>
            </p:cNvCxnSpPr>
            <p:nvPr/>
          </p:nvCxnSpPr>
          <p:spPr>
            <a:xfrm flipH="1">
              <a:off x="3059832" y="2429705"/>
              <a:ext cx="556580" cy="336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Düz Bağlayıcı 35"/>
            <p:cNvCxnSpPr/>
            <p:nvPr/>
          </p:nvCxnSpPr>
          <p:spPr>
            <a:xfrm>
              <a:off x="3059832" y="2430041"/>
              <a:ext cx="0" cy="269726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6" name="Resim 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444" y="4231357"/>
            <a:ext cx="3238500" cy="1285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0564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Döngü Yapısı…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171450" lvl="1">
                  <a:spcBef>
                    <a:spcPts val="750"/>
                  </a:spcBef>
                </a:pPr>
                <a:r>
                  <a:rPr lang="tr-TR" altLang="tr-TR" sz="2400" b="1" dirty="0" err="1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For</a:t>
                </a:r>
                <a:r>
                  <a:rPr lang="tr-TR" altLang="tr-TR" sz="2400" b="1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…</a:t>
                </a:r>
              </a:p>
              <a:p>
                <a:pPr marL="514350" lvl="2">
                  <a:spcBef>
                    <a:spcPts val="750"/>
                  </a:spcBef>
                </a:pPr>
                <a:r>
                  <a:rPr lang="tr-TR" sz="2100" u="sng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Cambria Math" panose="02040503050406030204" pitchFamily="18" charset="0"/>
                  </a:rPr>
                  <a:t>ÖRNEK:</a:t>
                </a:r>
                <a14:m>
                  <m:oMath xmlns:m="http://schemas.openxmlformats.org/officeDocument/2006/math">
                    <m:r>
                      <a:rPr lang="tr-TR" sz="2100">
                        <a:solidFill>
                          <a:srgbClr val="7030A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tr-TR" sz="21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tr-TR" altLang="tr-TR" sz="2100" dirty="0" smtClean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[</a:t>
                </a:r>
                <a:r>
                  <a:rPr lang="tr-TR" altLang="tr-TR" sz="2100" dirty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5</a:t>
                </a:r>
                <a:r>
                  <a:rPr lang="tr-TR" altLang="tr-TR" sz="2100" dirty="0" smtClean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]_for.cpp</a:t>
                </a:r>
                <a:endParaRPr lang="tr-TR" altLang="tr-TR" sz="21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171450" lvl="1">
                  <a:spcBef>
                    <a:spcPts val="750"/>
                  </a:spcBef>
                </a:pPr>
                <a:endParaRPr lang="tr-TR" altLang="tr-TR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" name="İçerik Yer Tutucus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t="-1823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890213"/>
            <a:ext cx="6480720" cy="41310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23520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Döngü Yapısı…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171450" lvl="1">
                  <a:spcBef>
                    <a:spcPts val="750"/>
                  </a:spcBef>
                </a:pPr>
                <a:r>
                  <a:rPr lang="tr-TR" altLang="tr-TR" sz="2400" b="1" dirty="0" err="1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For</a:t>
                </a:r>
                <a:r>
                  <a:rPr lang="tr-TR" altLang="tr-TR" sz="2400" b="1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…</a:t>
                </a:r>
              </a:p>
              <a:p>
                <a:pPr marL="514350" lvl="2">
                  <a:spcBef>
                    <a:spcPts val="750"/>
                  </a:spcBef>
                </a:pPr>
                <a:r>
                  <a:rPr lang="tr-TR" sz="2100" u="sng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Cambria Math" panose="02040503050406030204" pitchFamily="18" charset="0"/>
                  </a:rPr>
                  <a:t>ÖRNEK:</a:t>
                </a:r>
                <a14:m>
                  <m:oMath xmlns:m="http://schemas.openxmlformats.org/officeDocument/2006/math">
                    <m:r>
                      <a:rPr lang="tr-TR" sz="2100">
                        <a:solidFill>
                          <a:srgbClr val="7030A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tr-TR" sz="21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tr-TR" altLang="tr-TR" sz="2100" dirty="0" smtClean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[6]_for_sayilar.cpp</a:t>
                </a:r>
                <a:endParaRPr lang="tr-TR" altLang="tr-TR" sz="21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171450" lvl="1">
                  <a:spcBef>
                    <a:spcPts val="750"/>
                  </a:spcBef>
                </a:pPr>
                <a:endParaRPr lang="tr-TR" altLang="tr-TR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" name="İçerik Yer Tutucus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t="-1823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844824"/>
            <a:ext cx="6979890" cy="40830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8540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Döngü Yapısı…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79512" y="1020208"/>
            <a:ext cx="9073008" cy="5011983"/>
          </a:xfrm>
        </p:spPr>
        <p:txBody>
          <a:bodyPr>
            <a:normAutofit/>
          </a:bodyPr>
          <a:lstStyle/>
          <a:p>
            <a:pPr marL="171450" lvl="1">
              <a:spcBef>
                <a:spcPts val="750"/>
              </a:spcBef>
            </a:pPr>
            <a:r>
              <a:rPr lang="tr-TR" altLang="tr-TR" sz="2400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tr-TR" altLang="tr-T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…</a:t>
            </a:r>
          </a:p>
          <a:p>
            <a:pPr marL="514350" lvl="2">
              <a:spcBef>
                <a:spcPts val="750"/>
              </a:spcBef>
            </a:pPr>
            <a:r>
              <a:rPr lang="tr-TR" altLang="tr-TR" sz="2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mbria Math" panose="02040503050406030204" pitchFamily="18" charset="0"/>
              </a:rPr>
              <a:t>Kullanım Örnekleri ve Özel Durumlar</a:t>
            </a:r>
          </a:p>
          <a:p>
            <a:pPr marL="857250" lvl="3">
              <a:lnSpc>
                <a:spcPct val="150000"/>
              </a:lnSpc>
              <a:spcBef>
                <a:spcPts val="750"/>
              </a:spcBef>
            </a:pPr>
            <a:r>
              <a:rPr lang="tr-TR" altLang="tr-TR" sz="18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altLang="tr-TR" sz="1800" b="1" dirty="0">
                <a:solidFill>
                  <a:srgbClr val="000000"/>
                </a:solidFill>
              </a:rPr>
              <a:t> ( </a:t>
            </a:r>
            <a:r>
              <a:rPr lang="tr-TR" altLang="tr-TR" sz="1800" b="1" dirty="0" err="1" smtClean="0">
                <a:solidFill>
                  <a:srgbClr val="0070C0"/>
                </a:solidFill>
              </a:rPr>
              <a:t>int</a:t>
            </a:r>
            <a:r>
              <a:rPr lang="tr-TR" altLang="tr-TR" sz="1800" b="1" dirty="0" smtClean="0">
                <a:solidFill>
                  <a:srgbClr val="0070C0"/>
                </a:solidFill>
              </a:rPr>
              <a:t> i=1; i&lt;=10; i++ </a:t>
            </a:r>
            <a:r>
              <a:rPr lang="en-US" altLang="tr-TR" sz="1800" b="1" dirty="0">
                <a:solidFill>
                  <a:srgbClr val="000000"/>
                </a:solidFill>
              </a:rPr>
              <a:t>) </a:t>
            </a:r>
            <a:endParaRPr lang="tr-TR" altLang="tr-TR" sz="1800" b="1" dirty="0" smtClean="0">
              <a:solidFill>
                <a:srgbClr val="000000"/>
              </a:solidFill>
            </a:endParaRPr>
          </a:p>
          <a:p>
            <a:pPr marL="857250" lvl="3">
              <a:lnSpc>
                <a:spcPct val="150000"/>
              </a:lnSpc>
              <a:spcBef>
                <a:spcPts val="750"/>
              </a:spcBef>
            </a:pPr>
            <a:r>
              <a:rPr lang="tr-TR" altLang="tr-TR" sz="18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altLang="tr-TR" sz="1800" b="1" dirty="0">
                <a:solidFill>
                  <a:srgbClr val="000000"/>
                </a:solidFill>
              </a:rPr>
              <a:t> ( </a:t>
            </a:r>
            <a:r>
              <a:rPr lang="tr-TR" altLang="tr-TR" sz="1800" b="1" dirty="0" err="1">
                <a:solidFill>
                  <a:srgbClr val="0070C0"/>
                </a:solidFill>
              </a:rPr>
              <a:t>int</a:t>
            </a:r>
            <a:r>
              <a:rPr lang="tr-TR" altLang="tr-TR" sz="1800" b="1" dirty="0">
                <a:solidFill>
                  <a:srgbClr val="0070C0"/>
                </a:solidFill>
              </a:rPr>
              <a:t> i=1; i&lt;=10; i</a:t>
            </a:r>
            <a:r>
              <a:rPr lang="tr-TR" altLang="tr-TR" sz="1800" b="1" dirty="0" smtClean="0">
                <a:solidFill>
                  <a:srgbClr val="0070C0"/>
                </a:solidFill>
              </a:rPr>
              <a:t>+=2 </a:t>
            </a:r>
            <a:r>
              <a:rPr lang="en-US" altLang="tr-TR" sz="1800" b="1" dirty="0">
                <a:solidFill>
                  <a:srgbClr val="000000"/>
                </a:solidFill>
              </a:rPr>
              <a:t>) </a:t>
            </a:r>
            <a:endParaRPr lang="tr-TR" altLang="tr-TR" sz="1800" b="1" dirty="0">
              <a:solidFill>
                <a:srgbClr val="000000"/>
              </a:solidFill>
            </a:endParaRPr>
          </a:p>
          <a:p>
            <a:pPr marL="857250" lvl="3">
              <a:lnSpc>
                <a:spcPct val="150000"/>
              </a:lnSpc>
              <a:spcBef>
                <a:spcPts val="750"/>
              </a:spcBef>
            </a:pPr>
            <a:r>
              <a:rPr lang="tr-TR" altLang="tr-TR" sz="18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altLang="tr-TR" sz="1800" b="1" dirty="0">
                <a:solidFill>
                  <a:srgbClr val="000000"/>
                </a:solidFill>
              </a:rPr>
              <a:t> ( </a:t>
            </a:r>
            <a:r>
              <a:rPr lang="tr-TR" altLang="tr-TR" sz="1800" b="1" dirty="0" err="1">
                <a:solidFill>
                  <a:srgbClr val="0070C0"/>
                </a:solidFill>
              </a:rPr>
              <a:t>int</a:t>
            </a:r>
            <a:r>
              <a:rPr lang="tr-TR" altLang="tr-TR" sz="1800" b="1" dirty="0">
                <a:solidFill>
                  <a:srgbClr val="0070C0"/>
                </a:solidFill>
              </a:rPr>
              <a:t> </a:t>
            </a:r>
            <a:r>
              <a:rPr lang="tr-TR" altLang="tr-TR" sz="1800" b="1" dirty="0" smtClean="0">
                <a:solidFill>
                  <a:srgbClr val="0070C0"/>
                </a:solidFill>
              </a:rPr>
              <a:t>i=10; </a:t>
            </a:r>
            <a:r>
              <a:rPr lang="tr-TR" altLang="tr-TR" sz="1800" b="1" dirty="0">
                <a:solidFill>
                  <a:srgbClr val="0070C0"/>
                </a:solidFill>
              </a:rPr>
              <a:t>i</a:t>
            </a:r>
            <a:r>
              <a:rPr lang="tr-TR" altLang="tr-TR" sz="1800" b="1" dirty="0" smtClean="0">
                <a:solidFill>
                  <a:srgbClr val="0070C0"/>
                </a:solidFill>
              </a:rPr>
              <a:t>&lt;=50; </a:t>
            </a:r>
            <a:r>
              <a:rPr lang="tr-TR" altLang="tr-TR" sz="1800" b="1" dirty="0">
                <a:solidFill>
                  <a:srgbClr val="0070C0"/>
                </a:solidFill>
              </a:rPr>
              <a:t>i++ </a:t>
            </a:r>
            <a:r>
              <a:rPr lang="en-US" altLang="tr-TR" sz="1800" b="1" dirty="0">
                <a:solidFill>
                  <a:srgbClr val="000000"/>
                </a:solidFill>
              </a:rPr>
              <a:t>) </a:t>
            </a:r>
            <a:endParaRPr lang="tr-TR" altLang="tr-TR" sz="1800" b="1" dirty="0">
              <a:solidFill>
                <a:srgbClr val="000000"/>
              </a:solidFill>
            </a:endParaRPr>
          </a:p>
          <a:p>
            <a:pPr marL="857250" lvl="3">
              <a:lnSpc>
                <a:spcPct val="150000"/>
              </a:lnSpc>
              <a:spcBef>
                <a:spcPts val="750"/>
              </a:spcBef>
            </a:pPr>
            <a:r>
              <a:rPr lang="tr-TR" altLang="tr-TR" sz="18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altLang="tr-TR" sz="1800" b="1" dirty="0">
                <a:solidFill>
                  <a:srgbClr val="000000"/>
                </a:solidFill>
              </a:rPr>
              <a:t> ( </a:t>
            </a:r>
            <a:r>
              <a:rPr lang="tr-TR" altLang="tr-TR" sz="1800" b="1" dirty="0" err="1">
                <a:solidFill>
                  <a:srgbClr val="0070C0"/>
                </a:solidFill>
              </a:rPr>
              <a:t>int</a:t>
            </a:r>
            <a:r>
              <a:rPr lang="tr-TR" altLang="tr-TR" sz="1800" b="1" dirty="0">
                <a:solidFill>
                  <a:srgbClr val="0070C0"/>
                </a:solidFill>
              </a:rPr>
              <a:t> </a:t>
            </a:r>
            <a:r>
              <a:rPr lang="tr-TR" altLang="tr-TR" sz="1800" b="1" dirty="0" smtClean="0">
                <a:solidFill>
                  <a:srgbClr val="0070C0"/>
                </a:solidFill>
              </a:rPr>
              <a:t>i=50; </a:t>
            </a:r>
            <a:r>
              <a:rPr lang="tr-TR" altLang="tr-TR" sz="1800" b="1" dirty="0">
                <a:solidFill>
                  <a:srgbClr val="0070C0"/>
                </a:solidFill>
              </a:rPr>
              <a:t>i</a:t>
            </a:r>
            <a:r>
              <a:rPr lang="tr-TR" altLang="tr-TR" sz="1800" b="1" dirty="0" smtClean="0">
                <a:solidFill>
                  <a:srgbClr val="0070C0"/>
                </a:solidFill>
              </a:rPr>
              <a:t>&lt;=10; i-- </a:t>
            </a:r>
            <a:r>
              <a:rPr lang="en-US" altLang="tr-TR" sz="1800" b="1" dirty="0">
                <a:solidFill>
                  <a:srgbClr val="000000"/>
                </a:solidFill>
              </a:rPr>
              <a:t>) </a:t>
            </a:r>
            <a:endParaRPr lang="tr-TR" altLang="tr-TR" sz="1800" b="1" dirty="0" smtClean="0">
              <a:solidFill>
                <a:srgbClr val="000000"/>
              </a:solidFill>
            </a:endParaRPr>
          </a:p>
          <a:p>
            <a:pPr marL="857250" lvl="3">
              <a:lnSpc>
                <a:spcPct val="150000"/>
              </a:lnSpc>
              <a:spcBef>
                <a:spcPts val="750"/>
              </a:spcBef>
            </a:pPr>
            <a:r>
              <a:rPr lang="tr-TR" altLang="tr-TR" sz="18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altLang="tr-TR" sz="1800" b="1" dirty="0">
                <a:solidFill>
                  <a:srgbClr val="000000"/>
                </a:solidFill>
              </a:rPr>
              <a:t> ( </a:t>
            </a:r>
            <a:r>
              <a:rPr lang="tr-TR" altLang="tr-TR" sz="1800" b="1" dirty="0" smtClean="0">
                <a:solidFill>
                  <a:srgbClr val="0070C0"/>
                </a:solidFill>
              </a:rPr>
              <a:t>; </a:t>
            </a:r>
            <a:r>
              <a:rPr lang="tr-TR" altLang="tr-TR" sz="1800" b="1" dirty="0">
                <a:solidFill>
                  <a:srgbClr val="0070C0"/>
                </a:solidFill>
              </a:rPr>
              <a:t>i&lt;=10</a:t>
            </a:r>
            <a:r>
              <a:rPr lang="tr-TR" altLang="tr-TR" sz="1800" b="1" dirty="0" smtClean="0">
                <a:solidFill>
                  <a:srgbClr val="0070C0"/>
                </a:solidFill>
              </a:rPr>
              <a:t>; i++ </a:t>
            </a:r>
            <a:r>
              <a:rPr lang="en-US" altLang="tr-TR" sz="1800" b="1" dirty="0">
                <a:solidFill>
                  <a:srgbClr val="000000"/>
                </a:solidFill>
              </a:rPr>
              <a:t>)</a:t>
            </a:r>
            <a:r>
              <a:rPr lang="tr-TR" altLang="tr-TR" sz="1800" b="1" dirty="0">
                <a:solidFill>
                  <a:srgbClr val="000000"/>
                </a:solidFill>
              </a:rPr>
              <a:t>		</a:t>
            </a:r>
            <a:r>
              <a:rPr lang="tr-TR" altLang="tr-TR" sz="1800" b="1" dirty="0" smtClean="0">
                <a:solidFill>
                  <a:schemeClr val="accent6">
                    <a:lumMod val="75000"/>
                  </a:schemeClr>
                </a:solidFill>
              </a:rPr>
              <a:t>// başlangıç değeri daha önce atanmış olmalı</a:t>
            </a:r>
            <a:r>
              <a:rPr lang="en-US" altLang="tr-TR" sz="1800" b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endParaRPr lang="tr-TR" altLang="tr-TR" sz="1800" b="1" dirty="0">
              <a:solidFill>
                <a:srgbClr val="000000"/>
              </a:solidFill>
            </a:endParaRPr>
          </a:p>
          <a:p>
            <a:pPr marL="857250" lvl="3">
              <a:lnSpc>
                <a:spcPct val="150000"/>
              </a:lnSpc>
              <a:spcBef>
                <a:spcPts val="750"/>
              </a:spcBef>
            </a:pPr>
            <a:r>
              <a:rPr lang="tr-TR" altLang="tr-TR" sz="18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altLang="tr-TR" sz="1800" b="1" dirty="0">
                <a:solidFill>
                  <a:srgbClr val="000000"/>
                </a:solidFill>
              </a:rPr>
              <a:t> ( </a:t>
            </a:r>
            <a:r>
              <a:rPr lang="tr-TR" altLang="tr-TR" sz="1800" b="1" dirty="0" err="1">
                <a:solidFill>
                  <a:srgbClr val="0070C0"/>
                </a:solidFill>
              </a:rPr>
              <a:t>int</a:t>
            </a:r>
            <a:r>
              <a:rPr lang="tr-TR" altLang="tr-TR" sz="1800" b="1" dirty="0">
                <a:solidFill>
                  <a:srgbClr val="0070C0"/>
                </a:solidFill>
              </a:rPr>
              <a:t> </a:t>
            </a:r>
            <a:r>
              <a:rPr lang="tr-TR" altLang="tr-TR" sz="1800" b="1" dirty="0" smtClean="0">
                <a:solidFill>
                  <a:srgbClr val="0070C0"/>
                </a:solidFill>
              </a:rPr>
              <a:t>i=2; </a:t>
            </a:r>
            <a:r>
              <a:rPr lang="tr-TR" altLang="tr-TR" sz="1800" b="1" dirty="0">
                <a:solidFill>
                  <a:srgbClr val="0070C0"/>
                </a:solidFill>
              </a:rPr>
              <a:t>i&lt;=10</a:t>
            </a:r>
            <a:r>
              <a:rPr lang="tr-TR" altLang="tr-TR" sz="1800" b="1" dirty="0" smtClean="0">
                <a:solidFill>
                  <a:srgbClr val="0070C0"/>
                </a:solidFill>
              </a:rPr>
              <a:t>; </a:t>
            </a:r>
            <a:r>
              <a:rPr lang="en-US" altLang="tr-TR" sz="1800" b="1" dirty="0" smtClean="0">
                <a:solidFill>
                  <a:srgbClr val="000000"/>
                </a:solidFill>
              </a:rPr>
              <a:t>)</a:t>
            </a:r>
            <a:r>
              <a:rPr lang="tr-TR" altLang="tr-TR" sz="1800" b="1" dirty="0" smtClean="0">
                <a:solidFill>
                  <a:srgbClr val="000000"/>
                </a:solidFill>
              </a:rPr>
              <a:t>		</a:t>
            </a:r>
            <a:r>
              <a:rPr lang="tr-TR" altLang="tr-TR" sz="1800" b="1" dirty="0" smtClean="0">
                <a:solidFill>
                  <a:schemeClr val="accent6">
                    <a:lumMod val="75000"/>
                  </a:schemeClr>
                </a:solidFill>
              </a:rPr>
              <a:t>// i döngü sayacı döngü içinde değiştirilmeli</a:t>
            </a:r>
            <a:r>
              <a:rPr lang="en-US" altLang="tr-TR" sz="1800" b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endParaRPr lang="tr-TR" altLang="tr-TR" sz="1800" b="1" dirty="0" smtClean="0">
              <a:solidFill>
                <a:srgbClr val="000000"/>
              </a:solidFill>
            </a:endParaRPr>
          </a:p>
          <a:p>
            <a:pPr marL="857250" lvl="3">
              <a:lnSpc>
                <a:spcPct val="150000"/>
              </a:lnSpc>
              <a:spcBef>
                <a:spcPts val="750"/>
              </a:spcBef>
            </a:pPr>
            <a:r>
              <a:rPr lang="tr-TR" altLang="tr-TR" sz="18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altLang="tr-TR" sz="1800" b="1" dirty="0">
                <a:solidFill>
                  <a:srgbClr val="000000"/>
                </a:solidFill>
              </a:rPr>
              <a:t> </a:t>
            </a:r>
            <a:r>
              <a:rPr lang="en-US" altLang="tr-TR" sz="1800" b="1" dirty="0" smtClean="0">
                <a:solidFill>
                  <a:srgbClr val="000000"/>
                </a:solidFill>
              </a:rPr>
              <a:t>(</a:t>
            </a:r>
            <a:r>
              <a:rPr lang="en-US" altLang="tr-TR" sz="1800" b="1" dirty="0" err="1">
                <a:solidFill>
                  <a:srgbClr val="0070C0"/>
                </a:solidFill>
              </a:rPr>
              <a:t>int</a:t>
            </a:r>
            <a:r>
              <a:rPr lang="en-US" altLang="tr-TR" sz="1800" b="1" dirty="0">
                <a:solidFill>
                  <a:srgbClr val="0070C0"/>
                </a:solidFill>
              </a:rPr>
              <a:t> </a:t>
            </a:r>
            <a:r>
              <a:rPr lang="en-US" altLang="tr-TR" sz="1800" b="1" dirty="0" err="1">
                <a:solidFill>
                  <a:srgbClr val="0070C0"/>
                </a:solidFill>
              </a:rPr>
              <a:t>i</a:t>
            </a:r>
            <a:r>
              <a:rPr lang="en-US" altLang="tr-TR" sz="1800" b="1" dirty="0">
                <a:solidFill>
                  <a:srgbClr val="0070C0"/>
                </a:solidFill>
              </a:rPr>
              <a:t> = 0, j = 0;  j + </a:t>
            </a:r>
            <a:r>
              <a:rPr lang="en-US" altLang="tr-TR" sz="1800" b="1" dirty="0" err="1">
                <a:solidFill>
                  <a:srgbClr val="0070C0"/>
                </a:solidFill>
              </a:rPr>
              <a:t>i</a:t>
            </a:r>
            <a:r>
              <a:rPr lang="en-US" altLang="tr-TR" sz="1800" b="1" dirty="0">
                <a:solidFill>
                  <a:srgbClr val="0070C0"/>
                </a:solidFill>
              </a:rPr>
              <a:t> &lt;= 10; </a:t>
            </a:r>
            <a:r>
              <a:rPr lang="en-US" altLang="tr-TR" sz="1800" b="1" dirty="0" err="1">
                <a:solidFill>
                  <a:srgbClr val="0070C0"/>
                </a:solidFill>
              </a:rPr>
              <a:t>j++</a:t>
            </a:r>
            <a:r>
              <a:rPr lang="en-US" altLang="tr-TR" sz="1800" b="1" dirty="0">
                <a:solidFill>
                  <a:srgbClr val="0070C0"/>
                </a:solidFill>
              </a:rPr>
              <a:t>, </a:t>
            </a:r>
            <a:r>
              <a:rPr lang="en-US" altLang="tr-TR" sz="1800" b="1" dirty="0" err="1">
                <a:solidFill>
                  <a:srgbClr val="0070C0"/>
                </a:solidFill>
              </a:rPr>
              <a:t>i</a:t>
            </a:r>
            <a:r>
              <a:rPr lang="en-US" altLang="tr-TR" sz="1800" b="1" dirty="0">
                <a:solidFill>
                  <a:srgbClr val="0070C0"/>
                </a:solidFill>
              </a:rPr>
              <a:t>++</a:t>
            </a:r>
            <a:r>
              <a:rPr lang="tr-TR" altLang="tr-TR" sz="1800" b="1" dirty="0" smtClean="0">
                <a:solidFill>
                  <a:srgbClr val="0070C0"/>
                </a:solidFill>
              </a:rPr>
              <a:t> </a:t>
            </a:r>
            <a:r>
              <a:rPr lang="en-US" altLang="tr-TR" sz="1800" b="1" dirty="0" smtClean="0">
                <a:solidFill>
                  <a:srgbClr val="000000"/>
                </a:solidFill>
              </a:rPr>
              <a:t>)</a:t>
            </a:r>
            <a:endParaRPr lang="tr-TR" altLang="tr-TR" sz="1800" b="1" dirty="0" smtClean="0">
              <a:solidFill>
                <a:srgbClr val="000000"/>
              </a:solidFill>
            </a:endParaRPr>
          </a:p>
          <a:p>
            <a:pPr marL="857250" lvl="3">
              <a:spcBef>
                <a:spcPts val="750"/>
              </a:spcBef>
            </a:pPr>
            <a:endParaRPr lang="tr-TR" altLang="tr-TR" sz="1600" dirty="0" smtClean="0">
              <a:solidFill>
                <a:srgbClr val="00664D"/>
              </a:solidFill>
            </a:endParaRPr>
          </a:p>
          <a:p>
            <a:pPr marL="857250" lvl="3">
              <a:spcBef>
                <a:spcPts val="750"/>
              </a:spcBef>
            </a:pPr>
            <a:endParaRPr lang="tr-TR" altLang="tr-TR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mbria Math" panose="02040503050406030204" pitchFamily="18" charset="0"/>
            </a:endParaRPr>
          </a:p>
          <a:p>
            <a:pPr marL="857250" lvl="3">
              <a:spcBef>
                <a:spcPts val="750"/>
              </a:spcBef>
            </a:pPr>
            <a:endParaRPr lang="tr-TR" altLang="tr-TR" sz="2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26124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Döngü Yapısı…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79512" y="1020208"/>
            <a:ext cx="9073008" cy="5011983"/>
          </a:xfrm>
        </p:spPr>
        <p:txBody>
          <a:bodyPr>
            <a:normAutofit/>
          </a:bodyPr>
          <a:lstStyle/>
          <a:p>
            <a:pPr marL="171450" lvl="1">
              <a:spcBef>
                <a:spcPts val="750"/>
              </a:spcBef>
            </a:pPr>
            <a:r>
              <a:rPr lang="tr-TR" altLang="tr-TR" sz="2400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tr-TR" altLang="tr-T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…</a:t>
            </a:r>
          </a:p>
          <a:p>
            <a:pPr marL="514350" lvl="2">
              <a:spcBef>
                <a:spcPts val="750"/>
              </a:spcBef>
            </a:pPr>
            <a:r>
              <a:rPr lang="tr-TR" altLang="tr-TR" sz="2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mbria Math" panose="02040503050406030204" pitchFamily="18" charset="0"/>
              </a:rPr>
              <a:t>Kullanım Örnekleri ve Özel Durumlar…</a:t>
            </a:r>
          </a:p>
          <a:p>
            <a:pPr marL="857250" lvl="3">
              <a:lnSpc>
                <a:spcPct val="150000"/>
              </a:lnSpc>
              <a:spcBef>
                <a:spcPts val="750"/>
              </a:spcBef>
            </a:pPr>
            <a:r>
              <a:rPr lang="tr-TR" altLang="tr-TR" sz="1800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altLang="tr-TR" sz="1800" b="1" dirty="0" smtClean="0">
                <a:solidFill>
                  <a:srgbClr val="000000"/>
                </a:solidFill>
              </a:rPr>
              <a:t> (</a:t>
            </a:r>
            <a:r>
              <a:rPr lang="tr-TR" altLang="tr-TR" sz="1800" b="1" dirty="0" smtClean="0">
                <a:solidFill>
                  <a:srgbClr val="0070C0"/>
                </a:solidFill>
              </a:rPr>
              <a:t>;;</a:t>
            </a:r>
            <a:r>
              <a:rPr lang="en-US" altLang="tr-TR" sz="1800" b="1" dirty="0" smtClean="0">
                <a:solidFill>
                  <a:srgbClr val="000000"/>
                </a:solidFill>
              </a:rPr>
              <a:t>)</a:t>
            </a:r>
            <a:r>
              <a:rPr lang="tr-TR" altLang="tr-TR" sz="1800" b="1" dirty="0" smtClean="0">
                <a:solidFill>
                  <a:srgbClr val="000000"/>
                </a:solidFill>
              </a:rPr>
              <a:t>		</a:t>
            </a:r>
            <a:r>
              <a:rPr lang="tr-TR" altLang="tr-TR" sz="1800" b="1" dirty="0" smtClean="0">
                <a:solidFill>
                  <a:schemeClr val="accent6">
                    <a:lumMod val="75000"/>
                  </a:schemeClr>
                </a:solidFill>
              </a:rPr>
              <a:t>// </a:t>
            </a:r>
            <a:r>
              <a:rPr lang="tr-TR" altLang="tr-TR" sz="1800" b="1" dirty="0">
                <a:solidFill>
                  <a:schemeClr val="accent6">
                    <a:lumMod val="75000"/>
                  </a:schemeClr>
                </a:solidFill>
              </a:rPr>
              <a:t>sonsuz </a:t>
            </a:r>
            <a:r>
              <a:rPr lang="tr-TR" altLang="tr-TR" sz="1800" b="1" dirty="0" smtClean="0">
                <a:solidFill>
                  <a:schemeClr val="accent6">
                    <a:lumMod val="75000"/>
                  </a:schemeClr>
                </a:solidFill>
              </a:rPr>
              <a:t>döngü</a:t>
            </a:r>
            <a:endParaRPr lang="tr-TR" altLang="tr-TR" sz="1800" dirty="0">
              <a:solidFill>
                <a:srgbClr val="00664D"/>
              </a:solidFill>
            </a:endParaRPr>
          </a:p>
          <a:p>
            <a:pPr marL="857250" lvl="3">
              <a:lnSpc>
                <a:spcPct val="150000"/>
              </a:lnSpc>
              <a:spcBef>
                <a:spcPts val="750"/>
              </a:spcBef>
            </a:pPr>
            <a:r>
              <a:rPr lang="tr-TR" altLang="tr-TR" sz="18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altLang="tr-TR" sz="1800" b="1" dirty="0">
                <a:solidFill>
                  <a:srgbClr val="000000"/>
                </a:solidFill>
              </a:rPr>
              <a:t> (</a:t>
            </a:r>
            <a:r>
              <a:rPr lang="tr-TR" altLang="tr-TR" sz="1800" b="1" dirty="0" smtClean="0">
                <a:solidFill>
                  <a:srgbClr val="0070C0"/>
                </a:solidFill>
              </a:rPr>
              <a:t>;1;</a:t>
            </a:r>
            <a:r>
              <a:rPr lang="en-US" altLang="tr-TR" sz="1800" b="1" dirty="0" smtClean="0">
                <a:solidFill>
                  <a:srgbClr val="000000"/>
                </a:solidFill>
              </a:rPr>
              <a:t>)</a:t>
            </a:r>
            <a:r>
              <a:rPr lang="tr-TR" altLang="tr-TR" sz="1800" b="1" dirty="0" smtClean="0">
                <a:solidFill>
                  <a:srgbClr val="000000"/>
                </a:solidFill>
              </a:rPr>
              <a:t>		</a:t>
            </a:r>
            <a:r>
              <a:rPr lang="tr-TR" altLang="tr-TR" sz="1800" b="1" dirty="0" smtClean="0">
                <a:solidFill>
                  <a:schemeClr val="accent6">
                    <a:lumMod val="75000"/>
                  </a:schemeClr>
                </a:solidFill>
              </a:rPr>
              <a:t>// </a:t>
            </a:r>
            <a:r>
              <a:rPr lang="tr-TR" altLang="tr-TR" sz="1800" b="1" dirty="0">
                <a:solidFill>
                  <a:schemeClr val="accent6">
                    <a:lumMod val="75000"/>
                  </a:schemeClr>
                </a:solidFill>
              </a:rPr>
              <a:t>sonsuz döngü </a:t>
            </a:r>
            <a:r>
              <a:rPr lang="tr-TR" altLang="tr-TR" sz="1800" b="1" dirty="0" smtClean="0">
                <a:solidFill>
                  <a:schemeClr val="accent6">
                    <a:lumMod val="75000"/>
                  </a:schemeClr>
                </a:solidFill>
              </a:rPr>
              <a:t>– 0’dan </a:t>
            </a:r>
            <a:r>
              <a:rPr lang="tr-TR" altLang="tr-TR" sz="1800" b="1" dirty="0">
                <a:solidFill>
                  <a:schemeClr val="accent6">
                    <a:lumMod val="75000"/>
                  </a:schemeClr>
                </a:solidFill>
              </a:rPr>
              <a:t>farklı bir sayı (1’in bir özelliği yok</a:t>
            </a:r>
            <a:r>
              <a:rPr lang="tr-TR" altLang="tr-TR" sz="1800" b="1" dirty="0" smtClean="0">
                <a:solidFill>
                  <a:schemeClr val="accent6">
                    <a:lumMod val="75000"/>
                  </a:schemeClr>
                </a:solidFill>
              </a:rPr>
              <a:t>)</a:t>
            </a:r>
            <a:endParaRPr lang="tr-TR" altLang="tr-TR" sz="1800" dirty="0">
              <a:solidFill>
                <a:srgbClr val="00664D"/>
              </a:solidFill>
            </a:endParaRPr>
          </a:p>
          <a:p>
            <a:pPr marL="857250" lvl="3">
              <a:lnSpc>
                <a:spcPct val="150000"/>
              </a:lnSpc>
              <a:spcBef>
                <a:spcPts val="750"/>
              </a:spcBef>
            </a:pPr>
            <a:r>
              <a:rPr lang="tr-TR" altLang="tr-TR" sz="18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altLang="tr-TR" sz="1800" b="1" dirty="0">
                <a:solidFill>
                  <a:srgbClr val="000000"/>
                </a:solidFill>
              </a:rPr>
              <a:t> (</a:t>
            </a:r>
            <a:r>
              <a:rPr lang="tr-TR" altLang="tr-TR" sz="1800" b="1" dirty="0" smtClean="0">
                <a:solidFill>
                  <a:srgbClr val="0070C0"/>
                </a:solidFill>
              </a:rPr>
              <a:t>;-9;</a:t>
            </a:r>
            <a:r>
              <a:rPr lang="en-US" altLang="tr-TR" sz="1800" b="1" dirty="0" smtClean="0">
                <a:solidFill>
                  <a:srgbClr val="000000"/>
                </a:solidFill>
              </a:rPr>
              <a:t>)</a:t>
            </a:r>
            <a:r>
              <a:rPr lang="tr-TR" altLang="tr-TR" sz="1800" b="1" dirty="0" smtClean="0">
                <a:solidFill>
                  <a:srgbClr val="000000"/>
                </a:solidFill>
              </a:rPr>
              <a:t>		</a:t>
            </a:r>
            <a:r>
              <a:rPr lang="tr-TR" altLang="tr-TR" sz="1800" b="1" dirty="0" smtClean="0">
                <a:solidFill>
                  <a:schemeClr val="accent6">
                    <a:lumMod val="75000"/>
                  </a:schemeClr>
                </a:solidFill>
              </a:rPr>
              <a:t>// </a:t>
            </a:r>
            <a:r>
              <a:rPr lang="tr-TR" altLang="tr-TR" sz="1800" b="1" dirty="0">
                <a:solidFill>
                  <a:schemeClr val="accent6">
                    <a:lumMod val="75000"/>
                  </a:schemeClr>
                </a:solidFill>
              </a:rPr>
              <a:t>sonsuz döngü – 0’dan farklı bir sayı </a:t>
            </a:r>
            <a:r>
              <a:rPr lang="tr-TR" altLang="tr-TR" sz="1800" b="1" dirty="0" smtClean="0">
                <a:solidFill>
                  <a:schemeClr val="accent6">
                    <a:lumMod val="75000"/>
                  </a:schemeClr>
                </a:solidFill>
              </a:rPr>
              <a:t>(-9’un </a:t>
            </a:r>
            <a:r>
              <a:rPr lang="tr-TR" altLang="tr-TR" sz="1800" b="1" dirty="0">
                <a:solidFill>
                  <a:schemeClr val="accent6">
                    <a:lumMod val="75000"/>
                  </a:schemeClr>
                </a:solidFill>
              </a:rPr>
              <a:t>bir özelliği yok</a:t>
            </a:r>
            <a:r>
              <a:rPr lang="tr-TR" altLang="tr-TR" sz="1800" b="1" dirty="0" smtClean="0">
                <a:solidFill>
                  <a:schemeClr val="accent6">
                    <a:lumMod val="75000"/>
                  </a:schemeClr>
                </a:solidFill>
              </a:rPr>
              <a:t>)</a:t>
            </a:r>
            <a:endParaRPr lang="tr-TR" altLang="tr-TR" sz="1800" dirty="0">
              <a:solidFill>
                <a:srgbClr val="00664D"/>
              </a:solidFill>
            </a:endParaRPr>
          </a:p>
          <a:p>
            <a:pPr marL="857250" lvl="3">
              <a:lnSpc>
                <a:spcPct val="150000"/>
              </a:lnSpc>
              <a:spcBef>
                <a:spcPts val="750"/>
              </a:spcBef>
            </a:pPr>
            <a:r>
              <a:rPr lang="tr-TR" altLang="tr-TR" sz="18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altLang="tr-TR" sz="1800" b="1" dirty="0">
                <a:solidFill>
                  <a:srgbClr val="000000"/>
                </a:solidFill>
              </a:rPr>
              <a:t> (</a:t>
            </a:r>
            <a:r>
              <a:rPr lang="tr-TR" altLang="tr-TR" sz="1800" b="1" dirty="0" smtClean="0">
                <a:solidFill>
                  <a:srgbClr val="0070C0"/>
                </a:solidFill>
              </a:rPr>
              <a:t>;0;</a:t>
            </a:r>
            <a:r>
              <a:rPr lang="en-US" altLang="tr-TR" sz="1800" b="1" dirty="0">
                <a:solidFill>
                  <a:srgbClr val="000000"/>
                </a:solidFill>
              </a:rPr>
              <a:t>)</a:t>
            </a:r>
            <a:r>
              <a:rPr lang="tr-TR" altLang="tr-TR" sz="1800" b="1" dirty="0">
                <a:solidFill>
                  <a:srgbClr val="000000"/>
                </a:solidFill>
              </a:rPr>
              <a:t>		</a:t>
            </a:r>
            <a:r>
              <a:rPr lang="tr-TR" altLang="tr-TR" sz="1800" b="1" dirty="0" smtClean="0">
                <a:solidFill>
                  <a:schemeClr val="accent6">
                    <a:lumMod val="75000"/>
                  </a:schemeClr>
                </a:solidFill>
              </a:rPr>
              <a:t>// girilmez döngü</a:t>
            </a:r>
            <a:endParaRPr lang="tr-TR" altLang="tr-TR" sz="1800" dirty="0">
              <a:solidFill>
                <a:srgbClr val="00664D"/>
              </a:solidFill>
            </a:endParaRPr>
          </a:p>
          <a:p>
            <a:pPr marL="857250" lvl="3">
              <a:lnSpc>
                <a:spcPct val="150000"/>
              </a:lnSpc>
              <a:spcBef>
                <a:spcPts val="750"/>
              </a:spcBef>
            </a:pPr>
            <a:r>
              <a:rPr lang="tr-TR" altLang="tr-TR" sz="18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altLang="tr-TR" sz="1800" b="1" dirty="0">
                <a:solidFill>
                  <a:srgbClr val="000000"/>
                </a:solidFill>
              </a:rPr>
              <a:t> (</a:t>
            </a:r>
            <a:r>
              <a:rPr lang="tr-TR" altLang="tr-TR" sz="1800" b="1" dirty="0" smtClean="0">
                <a:solidFill>
                  <a:srgbClr val="0070C0"/>
                </a:solidFill>
              </a:rPr>
              <a:t>;a;</a:t>
            </a:r>
            <a:r>
              <a:rPr lang="en-US" altLang="tr-TR" sz="1800" b="1" dirty="0">
                <a:solidFill>
                  <a:srgbClr val="000000"/>
                </a:solidFill>
              </a:rPr>
              <a:t>)</a:t>
            </a:r>
            <a:r>
              <a:rPr lang="tr-TR" altLang="tr-TR" sz="1800" b="1" dirty="0">
                <a:solidFill>
                  <a:srgbClr val="000000"/>
                </a:solidFill>
              </a:rPr>
              <a:t>		</a:t>
            </a:r>
            <a:r>
              <a:rPr lang="tr-TR" altLang="tr-TR" sz="1800" b="1" dirty="0" smtClean="0">
                <a:solidFill>
                  <a:schemeClr val="accent6">
                    <a:lumMod val="75000"/>
                  </a:schemeClr>
                </a:solidFill>
              </a:rPr>
              <a:t>// değişkene bağlı döngü</a:t>
            </a:r>
            <a:endParaRPr lang="tr-TR" altLang="tr-TR" sz="1800" dirty="0">
              <a:solidFill>
                <a:srgbClr val="00664D"/>
              </a:solidFill>
            </a:endParaRPr>
          </a:p>
          <a:p>
            <a:pPr marL="857250" lvl="3">
              <a:lnSpc>
                <a:spcPct val="150000"/>
              </a:lnSpc>
              <a:spcBef>
                <a:spcPts val="750"/>
              </a:spcBef>
            </a:pPr>
            <a:r>
              <a:rPr lang="tr-TR" altLang="tr-TR" sz="18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altLang="tr-TR" sz="1800" b="1" dirty="0">
                <a:solidFill>
                  <a:srgbClr val="000000"/>
                </a:solidFill>
              </a:rPr>
              <a:t> (</a:t>
            </a:r>
            <a:r>
              <a:rPr lang="tr-TR" altLang="tr-TR" sz="1800" b="1" dirty="0" smtClean="0">
                <a:solidFill>
                  <a:srgbClr val="0070C0"/>
                </a:solidFill>
              </a:rPr>
              <a:t>;a=3;</a:t>
            </a:r>
            <a:r>
              <a:rPr lang="en-US" altLang="tr-TR" sz="1800" b="1" dirty="0">
                <a:solidFill>
                  <a:srgbClr val="000000"/>
                </a:solidFill>
              </a:rPr>
              <a:t>)</a:t>
            </a:r>
            <a:r>
              <a:rPr lang="tr-TR" altLang="tr-TR" sz="1800" b="1" dirty="0">
                <a:solidFill>
                  <a:srgbClr val="000000"/>
                </a:solidFill>
              </a:rPr>
              <a:t>		</a:t>
            </a:r>
            <a:r>
              <a:rPr lang="tr-TR" altLang="tr-TR" sz="1800" b="1" dirty="0" smtClean="0">
                <a:solidFill>
                  <a:schemeClr val="accent6">
                    <a:lumMod val="75000"/>
                  </a:schemeClr>
                </a:solidFill>
              </a:rPr>
              <a:t>// tehlikeli form</a:t>
            </a:r>
            <a:endParaRPr lang="tr-TR" altLang="tr-TR" sz="1800" dirty="0" smtClean="0">
              <a:solidFill>
                <a:srgbClr val="00664D"/>
              </a:solidFill>
            </a:endParaRPr>
          </a:p>
          <a:p>
            <a:pPr marL="857250" lvl="3">
              <a:spcBef>
                <a:spcPts val="750"/>
              </a:spcBef>
            </a:pPr>
            <a:endParaRPr lang="tr-TR" altLang="tr-TR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mbria Math" panose="02040503050406030204" pitchFamily="18" charset="0"/>
            </a:endParaRPr>
          </a:p>
          <a:p>
            <a:pPr marL="857250" lvl="3">
              <a:spcBef>
                <a:spcPts val="750"/>
              </a:spcBef>
            </a:pPr>
            <a:endParaRPr lang="tr-TR" altLang="tr-TR" sz="2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72709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Döngü Yapısı…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171450" lvl="1">
                  <a:spcBef>
                    <a:spcPts val="750"/>
                  </a:spcBef>
                </a:pPr>
                <a:r>
                  <a:rPr lang="tr-TR" altLang="tr-TR" sz="2400" b="1" dirty="0" err="1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For</a:t>
                </a:r>
                <a:r>
                  <a:rPr lang="tr-TR" altLang="tr-TR" sz="2400" b="1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…</a:t>
                </a:r>
              </a:p>
              <a:p>
                <a:pPr marL="514350" lvl="2">
                  <a:spcBef>
                    <a:spcPts val="750"/>
                  </a:spcBef>
                </a:pPr>
                <a:r>
                  <a:rPr lang="tr-TR" sz="2400" u="sng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Cambria Math" panose="02040503050406030204" pitchFamily="18" charset="0"/>
                  </a:rPr>
                  <a:t>ÖRNEK:</a:t>
                </a:r>
              </a:p>
              <a:p>
                <a:pPr marL="857250" lvl="3">
                  <a:spcBef>
                    <a:spcPts val="750"/>
                  </a:spcBef>
                </a:pPr>
                <a:r>
                  <a:rPr lang="tr-TR" sz="2200" dirty="0" smtClean="0">
                    <a:ea typeface="Cambria Math" panose="02040503050406030204" pitchFamily="18" charset="0"/>
                  </a:rPr>
                  <a:t>1’den 10’a kadar olan sayıları toplayan program</a:t>
                </a:r>
              </a:p>
              <a:p>
                <a:pPr marL="857250" lvl="3">
                  <a:spcBef>
                    <a:spcPts val="750"/>
                  </a:spcBef>
                </a:pPr>
                <a14:m>
                  <m:oMath xmlns:m="http://schemas.openxmlformats.org/officeDocument/2006/math">
                    <m:r>
                      <a:rPr lang="tr-TR" sz="2200">
                        <a:solidFill>
                          <a:srgbClr val="7030A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tr-TR" sz="2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tr-TR" altLang="tr-TR" sz="2200" dirty="0" smtClean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[7]_for_toplam.cpp</a:t>
                </a:r>
                <a:endParaRPr lang="tr-TR" altLang="tr-TR" sz="22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171450" lvl="1">
                  <a:spcBef>
                    <a:spcPts val="750"/>
                  </a:spcBef>
                </a:pPr>
                <a:endParaRPr lang="tr-TR" altLang="tr-TR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" name="İçerik Yer Tutucus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t="-1823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2779762"/>
            <a:ext cx="4629150" cy="16573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14272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Döngü Yapısı…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171450" lvl="1">
                  <a:spcBef>
                    <a:spcPts val="750"/>
                  </a:spcBef>
                </a:pPr>
                <a:r>
                  <a:rPr lang="tr-TR" altLang="tr-TR" sz="2400" b="1" dirty="0" err="1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For</a:t>
                </a:r>
                <a:r>
                  <a:rPr lang="tr-TR" altLang="tr-TR" sz="2400" b="1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…</a:t>
                </a:r>
              </a:p>
              <a:p>
                <a:pPr marL="514350" lvl="2">
                  <a:spcBef>
                    <a:spcPts val="750"/>
                  </a:spcBef>
                </a:pPr>
                <a:r>
                  <a:rPr lang="tr-TR" sz="2400" u="sng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Cambria Math" panose="02040503050406030204" pitchFamily="18" charset="0"/>
                  </a:rPr>
                  <a:t>ÖRNEK:</a:t>
                </a:r>
              </a:p>
              <a:p>
                <a:pPr marL="857250" lvl="3">
                  <a:spcBef>
                    <a:spcPts val="750"/>
                  </a:spcBef>
                </a:pPr>
                <a:r>
                  <a:rPr lang="tr-TR" sz="2200" dirty="0" smtClean="0">
                    <a:ea typeface="Cambria Math" panose="02040503050406030204" pitchFamily="18" charset="0"/>
                  </a:rPr>
                  <a:t>Faktöriyel hesaplayan program</a:t>
                </a:r>
              </a:p>
              <a:p>
                <a:pPr marL="857250" lvl="3">
                  <a:spcBef>
                    <a:spcPts val="750"/>
                  </a:spcBef>
                </a:pPr>
                <a14:m>
                  <m:oMath xmlns:m="http://schemas.openxmlformats.org/officeDocument/2006/math">
                    <m:r>
                      <a:rPr lang="tr-TR" sz="2200">
                        <a:solidFill>
                          <a:srgbClr val="7030A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tr-TR" sz="2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tr-TR" altLang="tr-TR" sz="2200" dirty="0" smtClean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[8]_for_faktoriyel.cpp</a:t>
                </a:r>
                <a:endParaRPr lang="tr-TR" altLang="tr-TR" sz="22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171450" lvl="1">
                  <a:spcBef>
                    <a:spcPts val="750"/>
                  </a:spcBef>
                </a:pPr>
                <a:endParaRPr lang="tr-TR" altLang="tr-TR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" name="İçerik Yer Tutucus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t="-1823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2780928"/>
            <a:ext cx="4572000" cy="2562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7379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Dikdörtgen 1"/>
          <p:cNvSpPr>
            <a:spLocks noChangeArrowheads="1"/>
          </p:cNvSpPr>
          <p:nvPr/>
        </p:nvSpPr>
        <p:spPr bwMode="auto">
          <a:xfrm>
            <a:off x="179388" y="260350"/>
            <a:ext cx="8677275" cy="430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7000"/>
              </a:lnSpc>
            </a:pPr>
            <a:r>
              <a:rPr lang="tr-TR" altLang="tr-TR" sz="1600">
                <a:solidFill>
                  <a:srgbClr val="80808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#include</a:t>
            </a:r>
            <a:r>
              <a:rPr lang="tr-TR" altLang="tr-TR" sz="160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tr-TR" altLang="tr-TR" sz="1600">
                <a:solidFill>
                  <a:srgbClr val="A31515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&lt;iostream&gt;</a:t>
            </a:r>
            <a:endParaRPr lang="tr-TR" altLang="tr-TR" sz="16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tr-TR" altLang="tr-TR" sz="1600">
                <a:solidFill>
                  <a:srgbClr val="80808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#include</a:t>
            </a:r>
            <a:r>
              <a:rPr lang="tr-TR" altLang="tr-TR" sz="160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tr-TR" altLang="tr-TR" sz="1600">
                <a:solidFill>
                  <a:srgbClr val="A31515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&lt;iomanip&gt;</a:t>
            </a:r>
            <a:endParaRPr lang="tr-TR" altLang="tr-TR" sz="16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tr-TR" altLang="tr-TR" sz="160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using</a:t>
            </a:r>
            <a:r>
              <a:rPr lang="tr-TR" altLang="tr-TR" sz="160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tr-TR" altLang="tr-TR" sz="160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namespace</a:t>
            </a:r>
            <a:r>
              <a:rPr lang="tr-TR" altLang="tr-TR" sz="160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std;</a:t>
            </a:r>
            <a:endParaRPr lang="tr-TR" altLang="tr-TR" sz="16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tr-TR" altLang="tr-TR" sz="160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tr-TR" altLang="tr-TR" sz="160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main()</a:t>
            </a:r>
            <a:endParaRPr lang="tr-TR" altLang="tr-TR" sz="16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tr-TR" altLang="tr-TR" sz="160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tr-TR" altLang="tr-TR" sz="16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tr-TR" altLang="tr-TR" sz="160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tr-TR" altLang="tr-TR" sz="160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tr-TR" altLang="tr-TR" sz="160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tr-TR" altLang="tr-TR" sz="160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tr-TR" altLang="tr-TR" sz="160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 = 1; i &lt;= 10; i++)</a:t>
            </a:r>
            <a:endParaRPr lang="tr-TR" altLang="tr-TR" sz="16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tr-TR" altLang="tr-TR" sz="160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{</a:t>
            </a:r>
            <a:endParaRPr lang="tr-TR" altLang="tr-TR" sz="16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tr-TR" altLang="tr-TR" sz="160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system(</a:t>
            </a:r>
            <a:r>
              <a:rPr lang="tr-TR" altLang="tr-TR" sz="1600">
                <a:solidFill>
                  <a:srgbClr val="A31515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"cls");</a:t>
            </a:r>
            <a:endParaRPr lang="tr-TR" altLang="tr-TR" sz="16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tr-TR" altLang="tr-TR" sz="160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tr-TR" altLang="tr-TR" sz="160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tr-TR" altLang="tr-TR" sz="160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tr-TR" altLang="tr-TR" sz="1600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tr-TR" altLang="tr-TR" sz="160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j = 0; j &lt;= 10; j++)</a:t>
            </a:r>
            <a:endParaRPr lang="tr-TR" altLang="tr-TR" sz="16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tr-TR" altLang="tr-TR" sz="160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{</a:t>
            </a:r>
            <a:endParaRPr lang="tr-TR" altLang="tr-TR" sz="16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tr-TR" altLang="tr-TR" sz="160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cout &lt;&lt;setw(2)&lt;&lt; i &lt;&lt; </a:t>
            </a:r>
            <a:r>
              <a:rPr lang="tr-TR" altLang="tr-TR" sz="1600">
                <a:solidFill>
                  <a:srgbClr val="A31515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"*"</a:t>
            </a:r>
            <a:r>
              <a:rPr lang="tr-TR" altLang="tr-TR" sz="160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&lt;&lt;setw(2)&lt;&lt; j &lt;&lt; </a:t>
            </a:r>
            <a:r>
              <a:rPr lang="tr-TR" altLang="tr-TR" sz="1600">
                <a:solidFill>
                  <a:srgbClr val="A31515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"="</a:t>
            </a:r>
            <a:r>
              <a:rPr lang="tr-TR" altLang="tr-TR" sz="160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&lt;&lt;setw(3)&lt;&lt; i * j &lt;&lt; endl;</a:t>
            </a:r>
            <a:endParaRPr lang="tr-TR" altLang="tr-TR" sz="16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tr-TR" altLang="tr-TR" sz="160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}</a:t>
            </a:r>
            <a:endParaRPr lang="tr-TR" altLang="tr-TR" sz="16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tr-TR" altLang="tr-TR" sz="160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cout &lt;&lt; </a:t>
            </a:r>
            <a:r>
              <a:rPr lang="tr-TR" altLang="tr-TR" sz="1600">
                <a:solidFill>
                  <a:srgbClr val="A31515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"\n *******************\n"</a:t>
            </a:r>
            <a:r>
              <a:rPr lang="tr-TR" altLang="tr-TR" sz="160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tr-TR" altLang="tr-TR" sz="16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tr-TR" altLang="tr-TR" sz="160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system(</a:t>
            </a:r>
            <a:r>
              <a:rPr lang="tr-TR" altLang="tr-TR" sz="1600">
                <a:solidFill>
                  <a:srgbClr val="A31515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"pause"</a:t>
            </a:r>
            <a:r>
              <a:rPr lang="tr-TR" altLang="tr-TR" sz="160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tr-TR" altLang="tr-TR" sz="16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tr-TR" altLang="tr-TR" sz="160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}</a:t>
            </a:r>
            <a:endParaRPr lang="tr-TR" altLang="tr-TR" sz="16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altLang="tr-TR" sz="160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tr-TR" altLang="tr-TR" sz="16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7587" name="Resi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505" b="38866"/>
          <a:stretch>
            <a:fillRect/>
          </a:stretch>
        </p:blipFill>
        <p:spPr bwMode="auto">
          <a:xfrm>
            <a:off x="4067175" y="4005263"/>
            <a:ext cx="3600450" cy="236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0564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Döngü Yapısı…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1450" lvl="1">
              <a:spcBef>
                <a:spcPts val="750"/>
              </a:spcBef>
            </a:pPr>
            <a:r>
              <a:rPr lang="tr-TR" altLang="tr-TR" sz="2400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</a:t>
            </a:r>
            <a:endParaRPr lang="tr-TR" altLang="tr-TR" sz="24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lvl="2" algn="just">
              <a:spcBef>
                <a:spcPts val="750"/>
              </a:spcBef>
            </a:pPr>
            <a:r>
              <a:rPr lang="tr-TR" altLang="tr-TR" sz="2200" dirty="0" err="1" smtClean="0">
                <a:solidFill>
                  <a:srgbClr val="000000"/>
                </a:solidFill>
              </a:rPr>
              <a:t>For</a:t>
            </a:r>
            <a:r>
              <a:rPr lang="tr-TR" altLang="tr-TR" sz="2200" dirty="0" smtClean="0">
                <a:solidFill>
                  <a:srgbClr val="000000"/>
                </a:solidFill>
              </a:rPr>
              <a:t> </a:t>
            </a:r>
            <a:r>
              <a:rPr lang="tr-TR" altLang="tr-TR" sz="2200" dirty="0">
                <a:solidFill>
                  <a:srgbClr val="000000"/>
                </a:solidFill>
              </a:rPr>
              <a:t>döngüsü bir işi belli bir sayıda tekrarlamaya </a:t>
            </a:r>
            <a:r>
              <a:rPr lang="tr-TR" altLang="tr-TR" sz="2200" dirty="0" smtClean="0">
                <a:solidFill>
                  <a:srgbClr val="000000"/>
                </a:solidFill>
              </a:rPr>
              <a:t>yararken </a:t>
            </a:r>
            <a:r>
              <a:rPr lang="tr-TR" altLang="tr-TR" sz="2200" dirty="0" err="1" smtClean="0">
                <a:solidFill>
                  <a:srgbClr val="0070C0"/>
                </a:solidFill>
              </a:rPr>
              <a:t>while</a:t>
            </a:r>
            <a:r>
              <a:rPr lang="tr-TR" altLang="tr-TR" sz="2200" dirty="0" smtClean="0">
                <a:solidFill>
                  <a:srgbClr val="0070C0"/>
                </a:solidFill>
              </a:rPr>
              <a:t> </a:t>
            </a:r>
            <a:r>
              <a:rPr lang="tr-TR" altLang="tr-TR" sz="2200" dirty="0" smtClean="0">
                <a:solidFill>
                  <a:srgbClr val="000000"/>
                </a:solidFill>
              </a:rPr>
              <a:t>döngüsünde </a:t>
            </a:r>
            <a:r>
              <a:rPr lang="tr-TR" altLang="tr-TR" sz="2200" dirty="0">
                <a:solidFill>
                  <a:srgbClr val="000000"/>
                </a:solidFill>
              </a:rPr>
              <a:t>ise döngüye girmeden ne kadar tekrarlamanın yapılacağı </a:t>
            </a:r>
            <a:r>
              <a:rPr lang="tr-TR" altLang="tr-TR" sz="2200" dirty="0" smtClean="0">
                <a:solidFill>
                  <a:srgbClr val="000000"/>
                </a:solidFill>
              </a:rPr>
              <a:t>bilinmez.</a:t>
            </a:r>
          </a:p>
          <a:p>
            <a:pPr marL="514350" lvl="2">
              <a:spcBef>
                <a:spcPts val="750"/>
              </a:spcBef>
            </a:pPr>
            <a:r>
              <a:rPr lang="tr-TR" altLang="tr-TR" sz="2200" dirty="0" smtClean="0">
                <a:solidFill>
                  <a:srgbClr val="000000"/>
                </a:solidFill>
              </a:rPr>
              <a:t>Bu </a:t>
            </a:r>
            <a:r>
              <a:rPr lang="tr-TR" altLang="tr-TR" sz="2200" dirty="0">
                <a:solidFill>
                  <a:srgbClr val="000000"/>
                </a:solidFill>
              </a:rPr>
              <a:t>döngüde de koşul sınaması çevrime girmeden yapılır. </a:t>
            </a:r>
            <a:endParaRPr lang="tr-TR" altLang="tr-TR" sz="2200" dirty="0" smtClean="0">
              <a:solidFill>
                <a:srgbClr val="000000"/>
              </a:solidFill>
            </a:endParaRPr>
          </a:p>
          <a:p>
            <a:pPr marL="514350" lvl="2" algn="just">
              <a:spcBef>
                <a:spcPts val="750"/>
              </a:spcBef>
            </a:pPr>
            <a:r>
              <a:rPr lang="tr-TR" altLang="tr-TR" sz="2200" dirty="0" smtClean="0">
                <a:solidFill>
                  <a:srgbClr val="000000"/>
                </a:solidFill>
              </a:rPr>
              <a:t>Koşul </a:t>
            </a:r>
            <a:r>
              <a:rPr lang="tr-TR" altLang="tr-TR" sz="2200" dirty="0">
                <a:solidFill>
                  <a:srgbClr val="000000"/>
                </a:solidFill>
              </a:rPr>
              <a:t>tek bir karşılaştırmadan oluşabileceği gibi birden çok koşulun mantıksal operatörler ile birleştirilmesi ile de oluşturulabilir. </a:t>
            </a:r>
          </a:p>
          <a:p>
            <a:pPr marL="514350" lvl="2">
              <a:spcBef>
                <a:spcPts val="750"/>
              </a:spcBef>
            </a:pPr>
            <a:endParaRPr lang="tr-TR" altLang="tr-TR" sz="22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71450" lvl="1">
              <a:spcBef>
                <a:spcPts val="750"/>
              </a:spcBef>
            </a:pPr>
            <a:endParaRPr lang="tr-TR" altLang="tr-T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AutoShape 33"/>
          <p:cNvSpPr>
            <a:spLocks noChangeArrowheads="1"/>
          </p:cNvSpPr>
          <p:nvPr/>
        </p:nvSpPr>
        <p:spPr bwMode="auto">
          <a:xfrm>
            <a:off x="827584" y="3789040"/>
            <a:ext cx="2016224" cy="1008112"/>
          </a:xfrm>
          <a:prstGeom prst="roundRect">
            <a:avLst>
              <a:gd name="adj" fmla="val 16667"/>
            </a:avLst>
          </a:prstGeom>
          <a:solidFill>
            <a:schemeClr val="accent4">
              <a:alpha val="50000"/>
            </a:schemeClr>
          </a:solidFill>
          <a:ln>
            <a:noFill/>
          </a:ln>
          <a:ex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lIns="36000" tIns="42452" rIns="36000" bIns="42452" anchor="ctr"/>
          <a:lstStyle>
            <a:lvl1pPr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indent="-219075"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r>
              <a:rPr lang="tr-TR" altLang="tr-TR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while</a:t>
            </a:r>
            <a:r>
              <a:rPr lang="en-US" altLang="tr-TR" b="1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 ( </a:t>
            </a:r>
            <a:r>
              <a:rPr lang="tr-TR" altLang="tr-TR" b="1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koşul </a:t>
            </a:r>
            <a:r>
              <a:rPr lang="en-US" altLang="tr-TR" b="1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) </a:t>
            </a:r>
            <a:r>
              <a:rPr lang="tr-TR" altLang="tr-TR" b="1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{</a:t>
            </a:r>
            <a:r>
              <a:rPr lang="en-US" altLang="tr-TR" b="1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   </a:t>
            </a:r>
            <a:endParaRPr lang="tr-TR" altLang="tr-TR" b="1" dirty="0" smtClean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r>
              <a:rPr lang="tr-TR" altLang="tr-TR" i="1" dirty="0">
                <a:solidFill>
                  <a:schemeClr val="tx1"/>
                </a:solidFill>
                <a:latin typeface="Trebuchet MS" panose="020B0603020202020204" pitchFamily="34" charset="0"/>
              </a:rPr>
              <a:t> </a:t>
            </a:r>
            <a:r>
              <a:rPr lang="tr-TR" altLang="tr-TR" i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     ifade(</a:t>
            </a:r>
            <a:r>
              <a:rPr lang="tr-TR" altLang="tr-TR" i="1" dirty="0" err="1" smtClean="0">
                <a:solidFill>
                  <a:schemeClr val="tx1"/>
                </a:solidFill>
                <a:latin typeface="Trebuchet MS" panose="020B0603020202020204" pitchFamily="34" charset="0"/>
              </a:rPr>
              <a:t>ler</a:t>
            </a:r>
            <a:r>
              <a:rPr lang="tr-TR" altLang="tr-TR" i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)</a:t>
            </a:r>
          </a:p>
          <a:p>
            <a:r>
              <a:rPr lang="tr-TR" altLang="tr-TR" b="1" dirty="0">
                <a:solidFill>
                  <a:srgbClr val="000000"/>
                </a:solidFill>
                <a:latin typeface="Trebuchet MS" panose="020B0603020202020204" pitchFamily="34" charset="0"/>
              </a:rPr>
              <a:t>}  </a:t>
            </a:r>
            <a:endParaRPr lang="tr-TR" altLang="tr-TR" b="1" dirty="0" smtClean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14" name="Grup 13"/>
          <p:cNvGrpSpPr/>
          <p:nvPr/>
        </p:nvGrpSpPr>
        <p:grpSpPr>
          <a:xfrm>
            <a:off x="3131840" y="3792118"/>
            <a:ext cx="2951628" cy="1869130"/>
            <a:chOff x="5698475" y="3501008"/>
            <a:chExt cx="2951628" cy="1869130"/>
          </a:xfrm>
        </p:grpSpPr>
        <p:grpSp>
          <p:nvGrpSpPr>
            <p:cNvPr id="31" name="Grup 30"/>
            <p:cNvGrpSpPr/>
            <p:nvPr/>
          </p:nvGrpSpPr>
          <p:grpSpPr>
            <a:xfrm>
              <a:off x="5698475" y="3501008"/>
              <a:ext cx="2951628" cy="1869130"/>
              <a:chOff x="5192158" y="3718694"/>
              <a:chExt cx="2951628" cy="1869130"/>
            </a:xfrm>
          </p:grpSpPr>
          <p:grpSp>
            <p:nvGrpSpPr>
              <p:cNvPr id="5" name="Grup 4"/>
              <p:cNvGrpSpPr/>
              <p:nvPr/>
            </p:nvGrpSpPr>
            <p:grpSpPr>
              <a:xfrm>
                <a:off x="5192158" y="3718694"/>
                <a:ext cx="2951628" cy="1869130"/>
                <a:chOff x="4491544" y="3319800"/>
                <a:chExt cx="2069280" cy="1748160"/>
              </a:xfrm>
            </p:grpSpPr>
            <p:grpSp>
              <p:nvGrpSpPr>
                <p:cNvPr id="6" name="Group 17"/>
                <p:cNvGrpSpPr>
                  <a:grpSpLocks/>
                </p:cNvGrpSpPr>
                <p:nvPr/>
              </p:nvGrpSpPr>
              <p:grpSpPr bwMode="auto">
                <a:xfrm>
                  <a:off x="4491544" y="3319800"/>
                  <a:ext cx="2069280" cy="1748160"/>
                  <a:chOff x="2284" y="1831"/>
                  <a:chExt cx="1437" cy="1214"/>
                </a:xfrm>
              </p:grpSpPr>
              <p:sp>
                <p:nvSpPr>
                  <p:cNvPr id="8" name="AutoShape 18"/>
                  <p:cNvSpPr>
                    <a:spLocks noChangeArrowheads="1"/>
                  </p:cNvSpPr>
                  <p:nvPr/>
                </p:nvSpPr>
                <p:spPr bwMode="auto">
                  <a:xfrm>
                    <a:off x="2284" y="2291"/>
                    <a:ext cx="623" cy="363"/>
                  </a:xfrm>
                  <a:prstGeom prst="flowChartDecision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rgbClr val="002060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rIns="0" anchor="ctr"/>
                  <a:lstStyle/>
                  <a:p>
                    <a:pPr algn="ctr"/>
                    <a:r>
                      <a:rPr lang="tr-TR" altLang="tr-TR" sz="1600" dirty="0" smtClean="0">
                        <a:solidFill>
                          <a:srgbClr val="002060"/>
                        </a:solidFill>
                        <a:latin typeface="+mn-lt"/>
                        <a:cs typeface="+mn-cs"/>
                      </a:rPr>
                      <a:t>Koşul</a:t>
                    </a:r>
                    <a:endParaRPr lang="tr-TR" altLang="tr-TR" sz="1600" dirty="0">
                      <a:solidFill>
                        <a:srgbClr val="002060"/>
                      </a:solidFill>
                      <a:latin typeface="+mn-lt"/>
                      <a:cs typeface="+mn-cs"/>
                    </a:endParaRPr>
                  </a:p>
                </p:txBody>
              </p:sp>
              <p:sp>
                <p:nvSpPr>
                  <p:cNvPr id="9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3266" y="2350"/>
                    <a:ext cx="455" cy="236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rgbClr val="002060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r>
                      <a:rPr lang="tr-TR" altLang="tr-TR" sz="1600" dirty="0" smtClean="0">
                        <a:solidFill>
                          <a:srgbClr val="002060"/>
                        </a:solidFill>
                        <a:latin typeface="+mn-lt"/>
                        <a:cs typeface="+mn-cs"/>
                      </a:rPr>
                      <a:t>işlemler</a:t>
                    </a:r>
                    <a:endParaRPr lang="en-AU" altLang="tr-TR" sz="1600" dirty="0">
                      <a:solidFill>
                        <a:srgbClr val="002060"/>
                      </a:solidFill>
                      <a:latin typeface="+mn-lt"/>
                      <a:cs typeface="+mn-cs"/>
                    </a:endParaRPr>
                  </a:p>
                </p:txBody>
              </p:sp>
              <p:sp>
                <p:nvSpPr>
                  <p:cNvPr id="10" name="Oval 21"/>
                  <p:cNvSpPr>
                    <a:spLocks noChangeArrowheads="1"/>
                  </p:cNvSpPr>
                  <p:nvPr/>
                </p:nvSpPr>
                <p:spPr bwMode="auto">
                  <a:xfrm>
                    <a:off x="2508" y="1831"/>
                    <a:ext cx="186" cy="186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rgbClr val="002060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lang="tr-TR">
                      <a:solidFill>
                        <a:srgbClr val="002060"/>
                      </a:solidFill>
                      <a:latin typeface="+mn-lt"/>
                      <a:cs typeface="+mn-cs"/>
                    </a:endParaRPr>
                  </a:p>
                </p:txBody>
              </p:sp>
              <p:sp>
                <p:nvSpPr>
                  <p:cNvPr id="11" name="Oval 22"/>
                  <p:cNvSpPr>
                    <a:spLocks noChangeArrowheads="1"/>
                  </p:cNvSpPr>
                  <p:nvPr/>
                </p:nvSpPr>
                <p:spPr bwMode="auto">
                  <a:xfrm>
                    <a:off x="2509" y="2859"/>
                    <a:ext cx="186" cy="186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rgbClr val="002060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lang="tr-TR">
                      <a:solidFill>
                        <a:srgbClr val="002060"/>
                      </a:solidFill>
                      <a:latin typeface="+mn-lt"/>
                      <a:cs typeface="+mn-cs"/>
                    </a:endParaRPr>
                  </a:p>
                </p:txBody>
              </p:sp>
              <p:cxnSp>
                <p:nvCxnSpPr>
                  <p:cNvPr id="12" name="AutoShape 23"/>
                  <p:cNvCxnSpPr>
                    <a:cxnSpLocks noChangeShapeType="1"/>
                    <a:stCxn id="10" idx="4"/>
                    <a:endCxn id="8" idx="0"/>
                  </p:cNvCxnSpPr>
                  <p:nvPr/>
                </p:nvCxnSpPr>
                <p:spPr bwMode="auto">
                  <a:xfrm flipH="1">
                    <a:off x="2600" y="2017"/>
                    <a:ext cx="1" cy="274"/>
                  </a:xfrm>
                  <a:prstGeom prst="straightConnector1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rgbClr val="002060"/>
                    </a:solidFill>
                    <a:headEnd type="none" w="med" len="med"/>
                    <a:tailEnd type="triangle" w="med" len="med"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cxnSp>
              <p:nvCxnSpPr>
                <p:cNvPr id="7" name="Dirsek Bağlayıcısı 6"/>
                <p:cNvCxnSpPr>
                  <a:endCxn id="9" idx="0"/>
                </p:cNvCxnSpPr>
                <p:nvPr/>
              </p:nvCxnSpPr>
              <p:spPr>
                <a:xfrm>
                  <a:off x="4960984" y="3771959"/>
                  <a:ext cx="1272240" cy="295201"/>
                </a:xfrm>
                <a:prstGeom prst="bentConnector2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rgbClr val="002060"/>
                  </a:solidFill>
                  <a:headEnd type="triangl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cxnSp>
            <p:nvCxnSpPr>
              <p:cNvPr id="16" name="AutoShape 23"/>
              <p:cNvCxnSpPr>
                <a:cxnSpLocks noChangeShapeType="1"/>
                <a:stCxn id="8" idx="3"/>
                <a:endCxn id="9" idx="1"/>
              </p:cNvCxnSpPr>
              <p:nvPr/>
            </p:nvCxnSpPr>
            <p:spPr bwMode="auto">
              <a:xfrm flipV="1">
                <a:off x="6471813" y="4699448"/>
                <a:ext cx="737394" cy="6929"/>
              </a:xfrm>
              <a:prstGeom prst="straightConnector1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rgbClr val="002060"/>
                </a:solidFill>
                <a:headEnd type="none" w="med" len="med"/>
                <a:tailEnd type="triangl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4" name="AutoShape 23"/>
              <p:cNvCxnSpPr>
                <a:cxnSpLocks noChangeShapeType="1"/>
                <a:stCxn id="8" idx="2"/>
                <a:endCxn id="11" idx="0"/>
              </p:cNvCxnSpPr>
              <p:nvPr/>
            </p:nvCxnSpPr>
            <p:spPr bwMode="auto">
              <a:xfrm flipH="1">
                <a:off x="5837127" y="4985822"/>
                <a:ext cx="4108" cy="315628"/>
              </a:xfrm>
              <a:prstGeom prst="straightConnector1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rgbClr val="002060"/>
                </a:solidFill>
                <a:headEnd type="none" w="med" len="med"/>
                <a:tailEnd type="triangl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7" name="Metin kutusu 16"/>
            <p:cNvSpPr txBox="1"/>
            <p:nvPr/>
          </p:nvSpPr>
          <p:spPr>
            <a:xfrm>
              <a:off x="6849400" y="4220049"/>
              <a:ext cx="766428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500" dirty="0" smtClean="0">
                  <a:solidFill>
                    <a:srgbClr val="002060"/>
                  </a:solidFill>
                </a:rPr>
                <a:t>Doğru</a:t>
              </a:r>
              <a:endParaRPr lang="tr-TR" sz="1500" dirty="0">
                <a:solidFill>
                  <a:srgbClr val="002060"/>
                </a:solidFill>
              </a:endParaRPr>
            </a:p>
          </p:txBody>
        </p:sp>
        <p:sp>
          <p:nvSpPr>
            <p:cNvPr id="18" name="Metin kutusu 17"/>
            <p:cNvSpPr txBox="1"/>
            <p:nvPr/>
          </p:nvSpPr>
          <p:spPr>
            <a:xfrm>
              <a:off x="6233621" y="4753086"/>
              <a:ext cx="766428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500" dirty="0" smtClean="0">
                  <a:solidFill>
                    <a:srgbClr val="002060"/>
                  </a:solidFill>
                </a:rPr>
                <a:t>Yanlış</a:t>
              </a:r>
              <a:endParaRPr lang="tr-TR" sz="1500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21" name="Grup 20"/>
          <p:cNvGrpSpPr/>
          <p:nvPr/>
        </p:nvGrpSpPr>
        <p:grpSpPr>
          <a:xfrm>
            <a:off x="6626800" y="3710764"/>
            <a:ext cx="2193672" cy="1656597"/>
            <a:chOff x="695747" y="2150489"/>
            <a:chExt cx="2193672" cy="1656597"/>
          </a:xfrm>
        </p:grpSpPr>
        <p:pic>
          <p:nvPicPr>
            <p:cNvPr id="22" name="Resim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5747" y="2521211"/>
              <a:ext cx="1847850" cy="128587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grpSp>
          <p:nvGrpSpPr>
            <p:cNvPr id="23" name="Grup 22"/>
            <p:cNvGrpSpPr/>
            <p:nvPr/>
          </p:nvGrpSpPr>
          <p:grpSpPr>
            <a:xfrm>
              <a:off x="1691680" y="2150489"/>
              <a:ext cx="1197739" cy="413742"/>
              <a:chOff x="1691680" y="2150489"/>
              <a:chExt cx="1197739" cy="413742"/>
            </a:xfrm>
          </p:grpSpPr>
          <p:sp>
            <p:nvSpPr>
              <p:cNvPr id="25" name="Text Box 45"/>
              <p:cNvSpPr txBox="1">
                <a:spLocks noChangeArrowheads="1"/>
              </p:cNvSpPr>
              <p:nvPr/>
            </p:nvSpPr>
            <p:spPr bwMode="auto">
              <a:xfrm>
                <a:off x="2221863" y="2150489"/>
                <a:ext cx="667556" cy="2703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81638" tIns="42452" rIns="81638" bIns="42452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9pPr>
              </a:lstStyle>
              <a:p>
                <a:pPr>
                  <a:spcBef>
                    <a:spcPts val="567"/>
                  </a:spcBef>
                </a:pPr>
                <a:r>
                  <a:rPr lang="tr-TR" altLang="tr-TR" sz="1200" b="1" dirty="0" smtClean="0">
                    <a:solidFill>
                      <a:srgbClr val="0070C0"/>
                    </a:solidFill>
                  </a:rPr>
                  <a:t>Koşul</a:t>
                </a:r>
                <a:endParaRPr lang="tr-TR" altLang="tr-TR" sz="1200" b="1" dirty="0">
                  <a:solidFill>
                    <a:srgbClr val="0070C0"/>
                  </a:solidFill>
                </a:endParaRPr>
              </a:p>
            </p:txBody>
          </p:sp>
          <p:cxnSp>
            <p:nvCxnSpPr>
              <p:cNvPr id="26" name="Düz Ok Bağlayıcısı 25"/>
              <p:cNvCxnSpPr/>
              <p:nvPr/>
            </p:nvCxnSpPr>
            <p:spPr>
              <a:xfrm flipH="1">
                <a:off x="1691680" y="2294505"/>
                <a:ext cx="576064" cy="0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Düz Bağlayıcı 26"/>
              <p:cNvCxnSpPr/>
              <p:nvPr/>
            </p:nvCxnSpPr>
            <p:spPr>
              <a:xfrm>
                <a:off x="1691680" y="2294505"/>
                <a:ext cx="0" cy="269726"/>
              </a:xfrm>
              <a:prstGeom prst="line">
                <a:avLst/>
              </a:prstGeom>
              <a:ln w="28575">
                <a:solidFill>
                  <a:srgbClr val="C0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07371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Döngü Yapısı…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171450" lvl="1">
                  <a:spcBef>
                    <a:spcPts val="750"/>
                  </a:spcBef>
                </a:pPr>
                <a:r>
                  <a:rPr lang="tr-TR" altLang="tr-TR" sz="2400" b="1" dirty="0" err="1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While</a:t>
                </a:r>
                <a:r>
                  <a:rPr lang="tr-TR" altLang="tr-TR" sz="2400" b="1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…</a:t>
                </a:r>
              </a:p>
              <a:p>
                <a:pPr marL="514350" lvl="2">
                  <a:spcBef>
                    <a:spcPts val="750"/>
                  </a:spcBef>
                </a:pPr>
                <a:r>
                  <a:rPr lang="tr-TR" sz="2100" u="sng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Cambria Math" panose="02040503050406030204" pitchFamily="18" charset="0"/>
                  </a:rPr>
                  <a:t>ÖRNEK:</a:t>
                </a:r>
                <a14:m>
                  <m:oMath xmlns:m="http://schemas.openxmlformats.org/officeDocument/2006/math">
                    <m:r>
                      <a:rPr lang="tr-TR" sz="2100">
                        <a:solidFill>
                          <a:srgbClr val="7030A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tr-TR" sz="21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tr-TR" altLang="tr-TR" sz="2100" dirty="0" smtClean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[</a:t>
                </a:r>
                <a:r>
                  <a:rPr lang="tr-TR" altLang="tr-TR" sz="2100" dirty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9</a:t>
                </a:r>
                <a:r>
                  <a:rPr lang="tr-TR" altLang="tr-TR" sz="2100" dirty="0" smtClean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]_while.cpp</a:t>
                </a:r>
                <a:endParaRPr lang="tr-TR" altLang="tr-TR" sz="21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171450" lvl="1">
                  <a:spcBef>
                    <a:spcPts val="750"/>
                  </a:spcBef>
                </a:pPr>
                <a:endParaRPr lang="tr-TR" altLang="tr-TR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" name="İçerik Yer Tutucus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t="-1823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988840"/>
            <a:ext cx="7286625" cy="20383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44298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Döngü Yapısı…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171450" lvl="1">
                  <a:spcBef>
                    <a:spcPts val="750"/>
                  </a:spcBef>
                </a:pPr>
                <a:r>
                  <a:rPr lang="tr-TR" altLang="tr-TR" sz="2400" b="1" dirty="0" err="1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While</a:t>
                </a:r>
                <a:r>
                  <a:rPr lang="tr-TR" altLang="tr-TR" sz="2400" b="1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…</a:t>
                </a:r>
              </a:p>
              <a:p>
                <a:pPr marL="514350" lvl="2" algn="just">
                  <a:spcBef>
                    <a:spcPts val="750"/>
                  </a:spcBef>
                </a:pPr>
                <a:r>
                  <a:rPr lang="tr-TR" sz="2100" u="sng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Cambria Math" panose="02040503050406030204" pitchFamily="18" charset="0"/>
                  </a:rPr>
                  <a:t>ÖRNEK:</a:t>
                </a:r>
                <a:r>
                  <a:rPr lang="tr-TR" sz="2100" dirty="0" smtClean="0">
                    <a:ea typeface="Cambria Math" panose="02040503050406030204" pitchFamily="18" charset="0"/>
                  </a:rPr>
                  <a:t> Klavyeden girilen tek ve çift sayıları toplayıp toplamlarını ve ortalamasını ekrana yazdıran program</a:t>
                </a:r>
                <a:endParaRPr lang="tr-TR" sz="21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lvl="2">
                  <a:spcBef>
                    <a:spcPts val="750"/>
                  </a:spcBef>
                </a:pPr>
                <a14:m>
                  <m:oMath xmlns:m="http://schemas.openxmlformats.org/officeDocument/2006/math">
                    <m:r>
                      <a:rPr lang="tr-TR" sz="2100">
                        <a:solidFill>
                          <a:srgbClr val="7030A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tr-TR" sz="21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tr-TR" altLang="tr-TR" sz="2100" dirty="0" smtClean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[</a:t>
                </a:r>
                <a:r>
                  <a:rPr lang="tr-TR" altLang="tr-TR" sz="2100" dirty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10]_while_sayilar.cpp</a:t>
                </a:r>
              </a:p>
              <a:p>
                <a:pPr marL="171450" lvl="1">
                  <a:spcBef>
                    <a:spcPts val="750"/>
                  </a:spcBef>
                </a:pPr>
                <a:endParaRPr lang="tr-TR" altLang="tr-TR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" name="İçerik Yer Tutucus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71" t="-1823" r="-763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2564904"/>
            <a:ext cx="2520280" cy="34830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66866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Döngü Yapısı…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171450" lvl="1">
                  <a:spcBef>
                    <a:spcPts val="750"/>
                  </a:spcBef>
                </a:pPr>
                <a:r>
                  <a:rPr lang="tr-TR" altLang="tr-TR" sz="2400" b="1" dirty="0" err="1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While</a:t>
                </a:r>
                <a:r>
                  <a:rPr lang="tr-TR" altLang="tr-TR" sz="2400" b="1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…</a:t>
                </a:r>
              </a:p>
              <a:p>
                <a:pPr marL="514350" lvl="2" algn="just">
                  <a:spcBef>
                    <a:spcPts val="750"/>
                  </a:spcBef>
                </a:pPr>
                <a:r>
                  <a:rPr lang="tr-TR" sz="2100" u="sng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Cambria Math" panose="02040503050406030204" pitchFamily="18" charset="0"/>
                  </a:rPr>
                  <a:t>ÖRNEK:</a:t>
                </a:r>
                <a:r>
                  <a:rPr lang="tr-TR" sz="2100" dirty="0">
                    <a:ea typeface="Cambria Math" panose="02040503050406030204" pitchFamily="18" charset="0"/>
                  </a:rPr>
                  <a:t> </a:t>
                </a:r>
                <a:r>
                  <a:rPr lang="tr-TR" sz="2100" dirty="0" smtClean="0">
                    <a:ea typeface="Cambria Math" panose="02040503050406030204" pitchFamily="18" charset="0"/>
                  </a:rPr>
                  <a:t>Dördüncü </a:t>
                </a:r>
                <a:r>
                  <a:rPr lang="tr-TR" sz="2100" dirty="0">
                    <a:ea typeface="Cambria Math" panose="02040503050406030204" pitchFamily="18" charset="0"/>
                  </a:rPr>
                  <a:t>kuvvet değeri 10000'den küçük olan sayıları </a:t>
                </a:r>
                <a:r>
                  <a:rPr lang="tr-TR" sz="2100" dirty="0" smtClean="0">
                    <a:ea typeface="Cambria Math" panose="02040503050406030204" pitchFamily="18" charset="0"/>
                  </a:rPr>
                  <a:t>ve kuvvet değerlerini ekrana yazdıran program</a:t>
                </a:r>
                <a:endParaRPr lang="tr-TR" sz="21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lvl="2">
                  <a:spcBef>
                    <a:spcPts val="750"/>
                  </a:spcBef>
                </a:pPr>
                <a14:m>
                  <m:oMath xmlns:m="http://schemas.openxmlformats.org/officeDocument/2006/math">
                    <m:r>
                      <a:rPr lang="tr-TR" sz="2100">
                        <a:solidFill>
                          <a:srgbClr val="7030A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tr-TR" sz="21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tr-TR" altLang="tr-TR" sz="2100" dirty="0" smtClean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[11]_while_kok.cpp</a:t>
                </a:r>
                <a:endParaRPr lang="tr-TR" altLang="tr-TR" sz="21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171450" lvl="1">
                  <a:spcBef>
                    <a:spcPts val="750"/>
                  </a:spcBef>
                </a:pPr>
                <a:endParaRPr lang="tr-TR" altLang="tr-TR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" name="İçerik Yer Tutucus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71" t="-1823" r="-763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2564904"/>
            <a:ext cx="4105275" cy="2562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58643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kdörtgen 4"/>
          <p:cNvSpPr/>
          <p:nvPr/>
        </p:nvSpPr>
        <p:spPr>
          <a:xfrm>
            <a:off x="107504" y="188640"/>
            <a:ext cx="9145016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200" dirty="0" smtClean="0"/>
              <a:t>#</a:t>
            </a:r>
            <a:r>
              <a:rPr lang="tr-TR" sz="1200" dirty="0"/>
              <a:t>#</a:t>
            </a:r>
            <a:r>
              <a:rPr lang="tr-TR" sz="1200" dirty="0" err="1"/>
              <a:t>include</a:t>
            </a:r>
            <a:r>
              <a:rPr lang="tr-TR" sz="1200" dirty="0"/>
              <a:t> &lt;</a:t>
            </a:r>
            <a:r>
              <a:rPr lang="tr-TR" sz="1200" dirty="0" err="1"/>
              <a:t>iostream</a:t>
            </a:r>
            <a:r>
              <a:rPr lang="tr-TR" sz="1200" dirty="0"/>
              <a:t>&gt;</a:t>
            </a:r>
          </a:p>
          <a:p>
            <a:r>
              <a:rPr lang="tr-TR" sz="1200" dirty="0"/>
              <a:t>#</a:t>
            </a:r>
            <a:r>
              <a:rPr lang="tr-TR" sz="1200" dirty="0" err="1"/>
              <a:t>include</a:t>
            </a:r>
            <a:r>
              <a:rPr lang="tr-TR" sz="1200" dirty="0"/>
              <a:t> &lt;</a:t>
            </a:r>
            <a:r>
              <a:rPr lang="tr-TR" sz="1200" dirty="0" err="1"/>
              <a:t>iomanip</a:t>
            </a:r>
            <a:r>
              <a:rPr lang="tr-TR" sz="1200" dirty="0"/>
              <a:t>&gt;</a:t>
            </a:r>
          </a:p>
          <a:p>
            <a:r>
              <a:rPr lang="tr-TR" sz="1200" dirty="0"/>
              <a:t>#</a:t>
            </a:r>
            <a:r>
              <a:rPr lang="tr-TR" sz="1200" dirty="0" err="1"/>
              <a:t>include</a:t>
            </a:r>
            <a:r>
              <a:rPr lang="tr-TR" sz="1200" dirty="0"/>
              <a:t> &lt;</a:t>
            </a:r>
            <a:r>
              <a:rPr lang="tr-TR" sz="1200" dirty="0" err="1"/>
              <a:t>locale.h</a:t>
            </a:r>
            <a:r>
              <a:rPr lang="tr-TR" sz="1200" dirty="0"/>
              <a:t>&gt;</a:t>
            </a:r>
          </a:p>
          <a:p>
            <a:r>
              <a:rPr lang="tr-TR" sz="1200" dirty="0"/>
              <a:t>using  namespace </a:t>
            </a:r>
            <a:r>
              <a:rPr lang="tr-TR" sz="1200" dirty="0" err="1"/>
              <a:t>std</a:t>
            </a:r>
            <a:r>
              <a:rPr lang="tr-TR" sz="1200" dirty="0"/>
              <a:t>;</a:t>
            </a:r>
          </a:p>
          <a:p>
            <a:r>
              <a:rPr lang="tr-TR" sz="1200" dirty="0" err="1"/>
              <a:t>int</a:t>
            </a:r>
            <a:r>
              <a:rPr lang="tr-TR" sz="1200" dirty="0"/>
              <a:t> main()</a:t>
            </a:r>
          </a:p>
          <a:p>
            <a:r>
              <a:rPr lang="tr-TR" sz="1200" dirty="0"/>
              <a:t>{</a:t>
            </a:r>
          </a:p>
          <a:p>
            <a:r>
              <a:rPr lang="tr-TR" sz="1200" dirty="0" err="1"/>
              <a:t>setlocale</a:t>
            </a:r>
            <a:r>
              <a:rPr lang="tr-TR" sz="1200" dirty="0"/>
              <a:t>(LC_ALL, "</a:t>
            </a:r>
            <a:r>
              <a:rPr lang="tr-TR" sz="1200" dirty="0" err="1"/>
              <a:t>turkish</a:t>
            </a:r>
            <a:r>
              <a:rPr lang="tr-TR" sz="1200" dirty="0" smtClean="0"/>
              <a:t>");</a:t>
            </a:r>
          </a:p>
          <a:p>
            <a:r>
              <a:rPr lang="tr-TR" sz="1200" dirty="0" smtClean="0"/>
              <a:t>	</a:t>
            </a:r>
            <a:r>
              <a:rPr lang="tr-TR" sz="1200" dirty="0" err="1" smtClean="0"/>
              <a:t>char</a:t>
            </a:r>
            <a:r>
              <a:rPr lang="tr-TR" sz="1200" dirty="0" smtClean="0"/>
              <a:t> </a:t>
            </a:r>
            <a:r>
              <a:rPr lang="tr-TR" sz="1200" dirty="0" err="1" smtClean="0"/>
              <a:t>ans</a:t>
            </a:r>
            <a:r>
              <a:rPr lang="tr-TR" sz="1200" dirty="0" smtClean="0"/>
              <a:t>;</a:t>
            </a:r>
          </a:p>
          <a:p>
            <a:r>
              <a:rPr lang="tr-TR" sz="1200" dirty="0" smtClean="0"/>
              <a:t>	do {</a:t>
            </a:r>
          </a:p>
          <a:p>
            <a:r>
              <a:rPr lang="tr-TR" sz="1200" dirty="0" smtClean="0"/>
              <a:t>		</a:t>
            </a:r>
            <a:r>
              <a:rPr lang="tr-TR" sz="1200" dirty="0" err="1" smtClean="0"/>
              <a:t>for</a:t>
            </a:r>
            <a:r>
              <a:rPr lang="tr-TR" sz="1200" dirty="0" smtClean="0"/>
              <a:t> (</a:t>
            </a:r>
            <a:r>
              <a:rPr lang="tr-TR" sz="1200" dirty="0" err="1" smtClean="0"/>
              <a:t>int</a:t>
            </a:r>
            <a:r>
              <a:rPr lang="tr-TR" sz="1200" dirty="0" smtClean="0"/>
              <a:t> i = 1; i &lt;= 10; i++)</a:t>
            </a:r>
          </a:p>
          <a:p>
            <a:r>
              <a:rPr lang="tr-TR" sz="1200" dirty="0" smtClean="0"/>
              <a:t>		{</a:t>
            </a:r>
          </a:p>
          <a:p>
            <a:r>
              <a:rPr lang="tr-TR" sz="1200" dirty="0" smtClean="0"/>
              <a:t>			</a:t>
            </a:r>
            <a:r>
              <a:rPr lang="tr-TR" sz="1200" dirty="0" err="1" smtClean="0"/>
              <a:t>system</a:t>
            </a:r>
            <a:r>
              <a:rPr lang="tr-TR" sz="1200" dirty="0" smtClean="0"/>
              <a:t>("</a:t>
            </a:r>
            <a:r>
              <a:rPr lang="tr-TR" sz="1200" dirty="0" err="1" smtClean="0"/>
              <a:t>cls</a:t>
            </a:r>
            <a:r>
              <a:rPr lang="tr-TR" sz="1200" dirty="0" smtClean="0"/>
              <a:t>");</a:t>
            </a:r>
          </a:p>
          <a:p>
            <a:r>
              <a:rPr lang="tr-TR" sz="1200" dirty="0" smtClean="0"/>
              <a:t>			</a:t>
            </a:r>
            <a:r>
              <a:rPr lang="tr-TR" sz="1200" dirty="0" err="1" smtClean="0"/>
              <a:t>for</a:t>
            </a:r>
            <a:r>
              <a:rPr lang="tr-TR" sz="1200" dirty="0" smtClean="0"/>
              <a:t> (</a:t>
            </a:r>
            <a:r>
              <a:rPr lang="tr-TR" sz="1200" dirty="0" err="1" smtClean="0"/>
              <a:t>int</a:t>
            </a:r>
            <a:r>
              <a:rPr lang="tr-TR" sz="1200" dirty="0" smtClean="0"/>
              <a:t> j = 0; j &lt;= 10; j++)</a:t>
            </a:r>
          </a:p>
          <a:p>
            <a:r>
              <a:rPr lang="tr-TR" sz="1200" dirty="0" smtClean="0"/>
              <a:t>			{</a:t>
            </a:r>
          </a:p>
          <a:p>
            <a:r>
              <a:rPr lang="tr-TR" sz="1200" dirty="0" smtClean="0"/>
              <a:t>			    </a:t>
            </a:r>
            <a:r>
              <a:rPr lang="tr-TR" sz="1200" dirty="0" err="1" smtClean="0"/>
              <a:t>cout</a:t>
            </a:r>
            <a:r>
              <a:rPr lang="tr-TR" sz="1200" dirty="0" smtClean="0"/>
              <a:t> &lt;&lt; </a:t>
            </a:r>
            <a:r>
              <a:rPr lang="tr-TR" sz="1200" dirty="0" err="1" smtClean="0"/>
              <a:t>setw</a:t>
            </a:r>
            <a:r>
              <a:rPr lang="tr-TR" sz="1200" dirty="0" smtClean="0"/>
              <a:t>(2) &lt;&lt; i &lt;&lt; "*" &lt;&lt; </a:t>
            </a:r>
            <a:r>
              <a:rPr lang="tr-TR" sz="1200" dirty="0" err="1" smtClean="0"/>
              <a:t>setw</a:t>
            </a:r>
            <a:r>
              <a:rPr lang="tr-TR" sz="1200" dirty="0" smtClean="0"/>
              <a:t>(2) &lt;&lt; j &lt;&lt; "=" &lt;&lt; </a:t>
            </a:r>
            <a:r>
              <a:rPr lang="tr-TR" sz="1200" dirty="0" err="1" smtClean="0"/>
              <a:t>setw</a:t>
            </a:r>
            <a:r>
              <a:rPr lang="tr-TR" sz="1200" dirty="0" smtClean="0"/>
              <a:t>(3) &lt;&lt; i * j &lt;&lt; </a:t>
            </a:r>
            <a:r>
              <a:rPr lang="tr-TR" sz="1200" dirty="0" err="1" smtClean="0"/>
              <a:t>endl</a:t>
            </a:r>
            <a:r>
              <a:rPr lang="tr-TR" sz="1200" dirty="0" smtClean="0"/>
              <a:t>;</a:t>
            </a:r>
          </a:p>
          <a:p>
            <a:r>
              <a:rPr lang="tr-TR" sz="1200" dirty="0" smtClean="0"/>
              <a:t>			}</a:t>
            </a:r>
          </a:p>
          <a:p>
            <a:r>
              <a:rPr lang="tr-TR" sz="1200" dirty="0" smtClean="0"/>
              <a:t>			</a:t>
            </a:r>
            <a:r>
              <a:rPr lang="tr-TR" sz="1200" dirty="0" err="1" smtClean="0"/>
              <a:t>cout</a:t>
            </a:r>
            <a:r>
              <a:rPr lang="tr-TR" sz="1200" dirty="0" smtClean="0"/>
              <a:t> &lt;&lt; "\n *******************\n";</a:t>
            </a:r>
          </a:p>
          <a:p>
            <a:r>
              <a:rPr lang="tr-TR" sz="1200" dirty="0" smtClean="0"/>
              <a:t>			</a:t>
            </a:r>
            <a:r>
              <a:rPr lang="tr-TR" sz="1200" dirty="0" err="1" smtClean="0"/>
              <a:t>system</a:t>
            </a:r>
            <a:r>
              <a:rPr lang="tr-TR" sz="1200" dirty="0" smtClean="0"/>
              <a:t>("</a:t>
            </a:r>
            <a:r>
              <a:rPr lang="tr-TR" sz="1200" dirty="0" err="1" smtClean="0"/>
              <a:t>pause</a:t>
            </a:r>
            <a:r>
              <a:rPr lang="tr-TR" sz="1200" dirty="0" smtClean="0"/>
              <a:t>");</a:t>
            </a:r>
          </a:p>
          <a:p>
            <a:r>
              <a:rPr lang="tr-TR" sz="1200" dirty="0" smtClean="0"/>
              <a:t>		}</a:t>
            </a:r>
          </a:p>
          <a:p>
            <a:r>
              <a:rPr lang="tr-TR" sz="1200" dirty="0" smtClean="0"/>
              <a:t>		</a:t>
            </a:r>
          </a:p>
          <a:p>
            <a:r>
              <a:rPr lang="tr-TR" sz="1200" dirty="0" smtClean="0"/>
              <a:t>		</a:t>
            </a:r>
            <a:r>
              <a:rPr lang="tr-TR" sz="1200" dirty="0" err="1" smtClean="0">
                <a:ln>
                  <a:solidFill>
                    <a:srgbClr val="FF0000"/>
                  </a:solidFill>
                </a:ln>
              </a:rPr>
              <a:t>cout</a:t>
            </a:r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 &lt;&lt;" Do </a:t>
            </a:r>
            <a:r>
              <a:rPr lang="tr-TR" sz="1200" dirty="0" err="1" smtClean="0">
                <a:ln>
                  <a:solidFill>
                    <a:srgbClr val="FF0000"/>
                  </a:solidFill>
                </a:ln>
              </a:rPr>
              <a:t>you</a:t>
            </a:r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 </a:t>
            </a:r>
            <a:r>
              <a:rPr lang="tr-TR" sz="1200" dirty="0" err="1" smtClean="0">
                <a:ln>
                  <a:solidFill>
                    <a:srgbClr val="FF0000"/>
                  </a:solidFill>
                </a:ln>
              </a:rPr>
              <a:t>want</a:t>
            </a:r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 </a:t>
            </a:r>
            <a:r>
              <a:rPr lang="tr-TR" sz="1200" dirty="0" err="1" smtClean="0">
                <a:ln>
                  <a:solidFill>
                    <a:srgbClr val="FF0000"/>
                  </a:solidFill>
                </a:ln>
              </a:rPr>
              <a:t>to</a:t>
            </a:r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 </a:t>
            </a:r>
            <a:r>
              <a:rPr lang="tr-TR" sz="1200" dirty="0" err="1" smtClean="0">
                <a:ln>
                  <a:solidFill>
                    <a:srgbClr val="FF0000"/>
                  </a:solidFill>
                </a:ln>
              </a:rPr>
              <a:t>continue</a:t>
            </a:r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 (y/ n) ? ";</a:t>
            </a:r>
          </a:p>
          <a:p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		cin&gt;&gt;</a:t>
            </a:r>
            <a:r>
              <a:rPr lang="tr-TR" sz="1200" dirty="0" err="1" smtClean="0">
                <a:ln>
                  <a:solidFill>
                    <a:srgbClr val="FF0000"/>
                  </a:solidFill>
                </a:ln>
              </a:rPr>
              <a:t>ans</a:t>
            </a:r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;		// </a:t>
            </a:r>
            <a:r>
              <a:rPr lang="tr-TR" sz="1200" dirty="0" err="1" smtClean="0">
                <a:ln>
                  <a:solidFill>
                    <a:srgbClr val="FF0000"/>
                  </a:solidFill>
                </a:ln>
              </a:rPr>
              <a:t>Get</a:t>
            </a:r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 </a:t>
            </a:r>
            <a:r>
              <a:rPr lang="tr-TR" sz="1200" dirty="0" err="1" smtClean="0">
                <a:ln>
                  <a:solidFill>
                    <a:srgbClr val="FF0000"/>
                  </a:solidFill>
                </a:ln>
              </a:rPr>
              <a:t>user’s</a:t>
            </a:r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 </a:t>
            </a:r>
            <a:r>
              <a:rPr lang="tr-TR" sz="1200" dirty="0" err="1" smtClean="0">
                <a:ln>
                  <a:solidFill>
                    <a:srgbClr val="FF0000"/>
                  </a:solidFill>
                </a:ln>
              </a:rPr>
              <a:t>answer</a:t>
            </a:r>
            <a:endParaRPr lang="tr-TR" sz="1200" dirty="0" smtClean="0">
              <a:ln>
                <a:solidFill>
                  <a:srgbClr val="FF0000"/>
                </a:solidFill>
              </a:ln>
            </a:endParaRPr>
          </a:p>
          <a:p>
            <a:endParaRPr lang="tr-TR" sz="1200" dirty="0" smtClean="0">
              <a:ln>
                <a:solidFill>
                  <a:srgbClr val="FF0000"/>
                </a:solidFill>
              </a:ln>
            </a:endParaRPr>
          </a:p>
          <a:p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		</a:t>
            </a:r>
            <a:r>
              <a:rPr lang="tr-TR" sz="1200" dirty="0" err="1" smtClean="0">
                <a:ln>
                  <a:solidFill>
                    <a:srgbClr val="FF0000"/>
                  </a:solidFill>
                </a:ln>
              </a:rPr>
              <a:t>while</a:t>
            </a:r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((</a:t>
            </a:r>
            <a:r>
              <a:rPr lang="tr-TR" sz="1200" dirty="0" err="1" smtClean="0">
                <a:ln>
                  <a:solidFill>
                    <a:srgbClr val="FF0000"/>
                  </a:solidFill>
                </a:ln>
              </a:rPr>
              <a:t>ans</a:t>
            </a:r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 != 'y') &amp;&amp; (</a:t>
            </a:r>
            <a:r>
              <a:rPr lang="tr-TR" sz="1200" dirty="0" err="1" smtClean="0">
                <a:ln>
                  <a:solidFill>
                    <a:srgbClr val="FF0000"/>
                  </a:solidFill>
                </a:ln>
              </a:rPr>
              <a:t>ans</a:t>
            </a:r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 != 'n'))</a:t>
            </a:r>
          </a:p>
          <a:p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		{</a:t>
            </a:r>
          </a:p>
          <a:p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			</a:t>
            </a:r>
            <a:r>
              <a:rPr lang="tr-TR" sz="1200" dirty="0" err="1" smtClean="0">
                <a:ln>
                  <a:solidFill>
                    <a:srgbClr val="FF0000"/>
                  </a:solidFill>
                </a:ln>
              </a:rPr>
              <a:t>system</a:t>
            </a:r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("CLS");</a:t>
            </a:r>
          </a:p>
          <a:p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			</a:t>
            </a:r>
            <a:r>
              <a:rPr lang="tr-TR" sz="1200" dirty="0" err="1" smtClean="0">
                <a:ln>
                  <a:solidFill>
                    <a:srgbClr val="FF0000"/>
                  </a:solidFill>
                </a:ln>
              </a:rPr>
              <a:t>cout</a:t>
            </a:r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&lt;&lt;"\n </a:t>
            </a:r>
            <a:r>
              <a:rPr lang="tr-TR" sz="1200" dirty="0" err="1" smtClean="0">
                <a:ln>
                  <a:solidFill>
                    <a:srgbClr val="FF0000"/>
                  </a:solidFill>
                </a:ln>
              </a:rPr>
              <a:t>You</a:t>
            </a:r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 </a:t>
            </a:r>
            <a:r>
              <a:rPr lang="tr-TR" sz="1200" dirty="0" err="1" smtClean="0">
                <a:ln>
                  <a:solidFill>
                    <a:srgbClr val="FF0000"/>
                  </a:solidFill>
                </a:ln>
              </a:rPr>
              <a:t>must</a:t>
            </a:r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 </a:t>
            </a:r>
            <a:r>
              <a:rPr lang="tr-TR" sz="1200" dirty="0" err="1" smtClean="0">
                <a:ln>
                  <a:solidFill>
                    <a:srgbClr val="FF0000"/>
                  </a:solidFill>
                </a:ln>
              </a:rPr>
              <a:t>type</a:t>
            </a:r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 a y </a:t>
            </a:r>
            <a:r>
              <a:rPr lang="tr-TR" sz="1200" dirty="0" err="1" smtClean="0">
                <a:ln>
                  <a:solidFill>
                    <a:srgbClr val="FF0000"/>
                  </a:solidFill>
                </a:ln>
              </a:rPr>
              <a:t>or</a:t>
            </a:r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 an n \n"; //  </a:t>
            </a:r>
            <a:r>
              <a:rPr lang="tr-TR" sz="1200" dirty="0" err="1" smtClean="0">
                <a:ln>
                  <a:solidFill>
                    <a:srgbClr val="FF0000"/>
                  </a:solidFill>
                </a:ln>
              </a:rPr>
              <a:t>warn</a:t>
            </a:r>
            <a:endParaRPr lang="tr-TR" sz="1200" dirty="0" smtClean="0">
              <a:ln>
                <a:solidFill>
                  <a:srgbClr val="FF0000"/>
                </a:solidFill>
              </a:ln>
            </a:endParaRPr>
          </a:p>
          <a:p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							   // </a:t>
            </a:r>
            <a:r>
              <a:rPr lang="tr-TR" sz="1200" dirty="0" err="1" smtClean="0">
                <a:ln>
                  <a:solidFill>
                    <a:srgbClr val="FF0000"/>
                  </a:solidFill>
                </a:ln>
              </a:rPr>
              <a:t>and</a:t>
            </a:r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 ask</a:t>
            </a:r>
          </a:p>
          <a:p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			</a:t>
            </a:r>
            <a:r>
              <a:rPr lang="tr-TR" sz="1200" dirty="0" err="1" smtClean="0">
                <a:ln>
                  <a:solidFill>
                    <a:srgbClr val="FF0000"/>
                  </a:solidFill>
                </a:ln>
              </a:rPr>
              <a:t>cout</a:t>
            </a:r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 &lt;&lt; " Do </a:t>
            </a:r>
            <a:r>
              <a:rPr lang="tr-TR" sz="1200" dirty="0" err="1" smtClean="0">
                <a:ln>
                  <a:solidFill>
                    <a:srgbClr val="FF0000"/>
                  </a:solidFill>
                </a:ln>
              </a:rPr>
              <a:t>you</a:t>
            </a:r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 </a:t>
            </a:r>
            <a:r>
              <a:rPr lang="tr-TR" sz="1200" dirty="0" err="1" smtClean="0">
                <a:ln>
                  <a:solidFill>
                    <a:srgbClr val="FF0000"/>
                  </a:solidFill>
                </a:ln>
              </a:rPr>
              <a:t>want</a:t>
            </a:r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 </a:t>
            </a:r>
            <a:r>
              <a:rPr lang="tr-TR" sz="1200" dirty="0" err="1" smtClean="0">
                <a:ln>
                  <a:solidFill>
                    <a:srgbClr val="FF0000"/>
                  </a:solidFill>
                </a:ln>
              </a:rPr>
              <a:t>to</a:t>
            </a:r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 </a:t>
            </a:r>
            <a:r>
              <a:rPr lang="tr-TR" sz="1200" dirty="0" err="1" smtClean="0">
                <a:ln>
                  <a:solidFill>
                    <a:srgbClr val="FF0000"/>
                  </a:solidFill>
                </a:ln>
              </a:rPr>
              <a:t>continue</a:t>
            </a:r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 (y / n) ? ";</a:t>
            </a:r>
          </a:p>
          <a:p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			cin &gt;&gt; </a:t>
            </a:r>
            <a:r>
              <a:rPr lang="tr-TR" sz="1200" dirty="0" err="1" smtClean="0">
                <a:ln>
                  <a:solidFill>
                    <a:srgbClr val="FF0000"/>
                  </a:solidFill>
                </a:ln>
              </a:rPr>
              <a:t>ans</a:t>
            </a:r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;		// </a:t>
            </a:r>
            <a:r>
              <a:rPr lang="tr-TR" sz="1200" dirty="0" err="1" smtClean="0">
                <a:ln>
                  <a:solidFill>
                    <a:srgbClr val="FF0000"/>
                  </a:solidFill>
                </a:ln>
              </a:rPr>
              <a:t>Get</a:t>
            </a:r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 </a:t>
            </a:r>
            <a:r>
              <a:rPr lang="tr-TR" sz="1200" dirty="0" err="1" smtClean="0">
                <a:ln>
                  <a:solidFill>
                    <a:srgbClr val="FF0000"/>
                  </a:solidFill>
                </a:ln>
              </a:rPr>
              <a:t>user’s</a:t>
            </a:r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 </a:t>
            </a:r>
            <a:r>
              <a:rPr lang="tr-TR" sz="1200" dirty="0" err="1" smtClean="0">
                <a:ln>
                  <a:solidFill>
                    <a:srgbClr val="FF0000"/>
                  </a:solidFill>
                </a:ln>
              </a:rPr>
              <a:t>answer</a:t>
            </a:r>
            <a:endParaRPr lang="tr-TR" sz="1200" dirty="0" smtClean="0">
              <a:ln>
                <a:solidFill>
                  <a:srgbClr val="FF0000"/>
                </a:solidFill>
              </a:ln>
            </a:endParaRPr>
          </a:p>
          <a:p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		} // Body of </a:t>
            </a:r>
            <a:r>
              <a:rPr lang="tr-TR" sz="1200" dirty="0" err="1" smtClean="0">
                <a:ln>
                  <a:solidFill>
                    <a:srgbClr val="FF0000"/>
                  </a:solidFill>
                </a:ln>
              </a:rPr>
              <a:t>while</a:t>
            </a:r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 </a:t>
            </a:r>
            <a:r>
              <a:rPr lang="tr-TR" sz="1200" dirty="0" err="1" smtClean="0">
                <a:ln>
                  <a:solidFill>
                    <a:srgbClr val="FF0000"/>
                  </a:solidFill>
                </a:ln>
              </a:rPr>
              <a:t>loop</a:t>
            </a:r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 </a:t>
            </a:r>
            <a:r>
              <a:rPr lang="tr-TR" sz="1200" dirty="0" err="1" smtClean="0">
                <a:ln>
                  <a:solidFill>
                    <a:srgbClr val="FF0000"/>
                  </a:solidFill>
                </a:ln>
              </a:rPr>
              <a:t>ends</a:t>
            </a:r>
            <a:r>
              <a:rPr lang="tr-TR" sz="1200" dirty="0" smtClean="0">
                <a:ln>
                  <a:solidFill>
                    <a:srgbClr val="FF0000"/>
                  </a:solidFill>
                </a:ln>
              </a:rPr>
              <a:t> here</a:t>
            </a:r>
          </a:p>
          <a:p>
            <a:endParaRPr lang="tr-TR" sz="1200" dirty="0" smtClean="0"/>
          </a:p>
          <a:p>
            <a:r>
              <a:rPr lang="tr-TR" sz="1200" dirty="0" smtClean="0"/>
              <a:t>	} </a:t>
            </a:r>
            <a:r>
              <a:rPr lang="tr-TR" sz="1200" dirty="0" err="1" smtClean="0"/>
              <a:t>while</a:t>
            </a:r>
            <a:r>
              <a:rPr lang="tr-TR" sz="1200" dirty="0" smtClean="0"/>
              <a:t> (</a:t>
            </a:r>
            <a:r>
              <a:rPr lang="tr-TR" sz="1200" dirty="0" err="1" smtClean="0"/>
              <a:t>ans</a:t>
            </a:r>
            <a:r>
              <a:rPr lang="tr-TR" sz="1200" dirty="0" smtClean="0"/>
              <a:t> != 'n');</a:t>
            </a:r>
          </a:p>
          <a:p>
            <a:r>
              <a:rPr lang="tr-TR" sz="1200" dirty="0" smtClean="0"/>
              <a:t>	</a:t>
            </a:r>
            <a:r>
              <a:rPr lang="tr-TR" sz="1200" dirty="0" err="1" smtClean="0"/>
              <a:t>return</a:t>
            </a:r>
            <a:r>
              <a:rPr lang="tr-TR" sz="1200" dirty="0" smtClean="0"/>
              <a:t> 0;</a:t>
            </a:r>
          </a:p>
          <a:p>
            <a:r>
              <a:rPr lang="tr-TR" sz="1200" dirty="0" smtClean="0"/>
              <a:t>}</a:t>
            </a:r>
          </a:p>
          <a:p>
            <a:endParaRPr lang="tr-TR" sz="1200" dirty="0"/>
          </a:p>
        </p:txBody>
      </p:sp>
    </p:spTree>
    <p:extLst>
      <p:ext uri="{BB962C8B-B14F-4D97-AF65-F5344CB8AC3E}">
        <p14:creationId xmlns:p14="http://schemas.microsoft.com/office/powerpoint/2010/main" val="3352113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Döngü Yapısı…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1450" lvl="1">
              <a:spcBef>
                <a:spcPts val="750"/>
              </a:spcBef>
            </a:pPr>
            <a:r>
              <a:rPr lang="tr-TR" altLang="tr-T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Do-</a:t>
            </a:r>
            <a:r>
              <a:rPr lang="tr-TR" altLang="tr-TR" sz="2400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</a:t>
            </a:r>
            <a:endParaRPr lang="tr-TR" altLang="tr-T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lvl="2">
              <a:spcBef>
                <a:spcPts val="750"/>
              </a:spcBef>
            </a:pPr>
            <a:r>
              <a:rPr lang="tr-TR" altLang="tr-TR" sz="2000" dirty="0" smtClean="0">
                <a:solidFill>
                  <a:srgbClr val="000000"/>
                </a:solidFill>
              </a:rPr>
              <a:t>Diğer </a:t>
            </a:r>
            <a:r>
              <a:rPr lang="tr-TR" altLang="tr-TR" sz="2000" dirty="0">
                <a:solidFill>
                  <a:srgbClr val="000000"/>
                </a:solidFill>
              </a:rPr>
              <a:t>döngüler gibi aynı işlemleri birçok kez tekrarlamak için </a:t>
            </a:r>
            <a:r>
              <a:rPr lang="tr-TR" altLang="tr-TR" sz="2000" dirty="0" smtClean="0">
                <a:solidFill>
                  <a:srgbClr val="000000"/>
                </a:solidFill>
              </a:rPr>
              <a:t>kullanılır.</a:t>
            </a:r>
          </a:p>
          <a:p>
            <a:pPr marL="514350" lvl="2" algn="just">
              <a:spcBef>
                <a:spcPts val="750"/>
              </a:spcBef>
            </a:pPr>
            <a:r>
              <a:rPr lang="tr-TR" altLang="tr-TR" sz="2000" dirty="0" smtClean="0">
                <a:solidFill>
                  <a:srgbClr val="000000"/>
                </a:solidFill>
              </a:rPr>
              <a:t>Farklı olarak, bu döngüde koşul sınaması yapılmadan çevrime girilir ve işlem kümesi en az bir kere işletilir. Bu deyim yapısında da koşul sağlandığı sürece çevrim tekrarlanır. </a:t>
            </a:r>
          </a:p>
          <a:p>
            <a:pPr marL="514350" lvl="2" algn="just">
              <a:spcBef>
                <a:spcPts val="750"/>
              </a:spcBef>
            </a:pPr>
            <a:r>
              <a:rPr lang="tr-TR" altLang="tr-TR" sz="2000" dirty="0" smtClean="0">
                <a:solidFill>
                  <a:srgbClr val="000000"/>
                </a:solidFill>
              </a:rPr>
              <a:t>Koşul </a:t>
            </a:r>
            <a:r>
              <a:rPr lang="tr-TR" altLang="tr-TR" sz="2000" dirty="0">
                <a:solidFill>
                  <a:srgbClr val="000000"/>
                </a:solidFill>
              </a:rPr>
              <a:t>tek bir karşılaştırmadan oluşabileceği gibi birden çok koşulun mantıksal operatörler ile birleştirilmesi ile de oluşturulabilir.</a:t>
            </a:r>
          </a:p>
          <a:p>
            <a:pPr marL="514350" lvl="2">
              <a:spcBef>
                <a:spcPts val="750"/>
              </a:spcBef>
            </a:pPr>
            <a:endParaRPr lang="tr-TR" altLang="tr-TR" sz="22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71450" lvl="1">
              <a:spcBef>
                <a:spcPts val="750"/>
              </a:spcBef>
            </a:pPr>
            <a:endParaRPr lang="tr-TR" altLang="tr-T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AutoShape 33"/>
          <p:cNvSpPr>
            <a:spLocks noChangeArrowheads="1"/>
          </p:cNvSpPr>
          <p:nvPr/>
        </p:nvSpPr>
        <p:spPr bwMode="auto">
          <a:xfrm>
            <a:off x="827584" y="3789040"/>
            <a:ext cx="2016224" cy="1008112"/>
          </a:xfrm>
          <a:prstGeom prst="roundRect">
            <a:avLst>
              <a:gd name="adj" fmla="val 16667"/>
            </a:avLst>
          </a:prstGeom>
          <a:solidFill>
            <a:schemeClr val="accent4">
              <a:alpha val="50000"/>
            </a:schemeClr>
          </a:solidFill>
          <a:ln>
            <a:noFill/>
          </a:ln>
          <a:ex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lIns="36000" tIns="42452" rIns="36000" bIns="42452" anchor="ctr"/>
          <a:lstStyle>
            <a:lvl1pPr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indent="-219075"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r>
              <a:rPr lang="tr-TR" altLang="tr-TR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d</a:t>
            </a:r>
            <a:r>
              <a:rPr lang="tr-TR" altLang="tr-TR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o </a:t>
            </a:r>
            <a:r>
              <a:rPr lang="tr-TR" altLang="tr-TR" b="1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{</a:t>
            </a:r>
            <a:r>
              <a:rPr lang="en-US" altLang="tr-TR" b="1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   </a:t>
            </a:r>
            <a:endParaRPr lang="tr-TR" altLang="tr-TR" b="1" dirty="0" smtClean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r>
              <a:rPr lang="tr-TR" altLang="tr-TR" i="1" dirty="0">
                <a:solidFill>
                  <a:schemeClr val="tx1"/>
                </a:solidFill>
                <a:latin typeface="Trebuchet MS" panose="020B0603020202020204" pitchFamily="34" charset="0"/>
              </a:rPr>
              <a:t> </a:t>
            </a:r>
            <a:r>
              <a:rPr lang="tr-TR" altLang="tr-TR" i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     ifade(</a:t>
            </a:r>
            <a:r>
              <a:rPr lang="tr-TR" altLang="tr-TR" i="1" dirty="0" err="1" smtClean="0">
                <a:solidFill>
                  <a:schemeClr val="tx1"/>
                </a:solidFill>
                <a:latin typeface="Trebuchet MS" panose="020B0603020202020204" pitchFamily="34" charset="0"/>
              </a:rPr>
              <a:t>ler</a:t>
            </a:r>
            <a:r>
              <a:rPr lang="tr-TR" altLang="tr-TR" i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)</a:t>
            </a:r>
          </a:p>
          <a:p>
            <a:r>
              <a:rPr lang="tr-TR" altLang="tr-TR" b="1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} </a:t>
            </a:r>
            <a:r>
              <a:rPr lang="tr-TR" altLang="tr-TR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while</a:t>
            </a:r>
            <a:r>
              <a:rPr lang="en-US" altLang="tr-TR" b="1" dirty="0">
                <a:solidFill>
                  <a:srgbClr val="000000"/>
                </a:solidFill>
                <a:latin typeface="Trebuchet MS" panose="020B0603020202020204" pitchFamily="34" charset="0"/>
              </a:rPr>
              <a:t> ( </a:t>
            </a:r>
            <a:r>
              <a:rPr lang="tr-TR" altLang="tr-TR" b="1" dirty="0">
                <a:solidFill>
                  <a:srgbClr val="0070C0"/>
                </a:solidFill>
                <a:latin typeface="Trebuchet MS" panose="020B0603020202020204" pitchFamily="34" charset="0"/>
              </a:rPr>
              <a:t>koşul </a:t>
            </a:r>
            <a:r>
              <a:rPr lang="en-US" altLang="tr-TR" b="1" dirty="0">
                <a:solidFill>
                  <a:srgbClr val="000000"/>
                </a:solidFill>
                <a:latin typeface="Trebuchet MS" panose="020B0603020202020204" pitchFamily="34" charset="0"/>
              </a:rPr>
              <a:t>) </a:t>
            </a:r>
            <a:endParaRPr lang="tr-TR" altLang="tr-TR" b="1" dirty="0" smtClean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33" name="Grup 32"/>
          <p:cNvGrpSpPr/>
          <p:nvPr/>
        </p:nvGrpSpPr>
        <p:grpSpPr>
          <a:xfrm>
            <a:off x="3311797" y="3573607"/>
            <a:ext cx="1917355" cy="2375673"/>
            <a:chOff x="3311797" y="3573607"/>
            <a:chExt cx="1917355" cy="2375673"/>
          </a:xfrm>
        </p:grpSpPr>
        <p:grpSp>
          <p:nvGrpSpPr>
            <p:cNvPr id="14" name="Grup 13"/>
            <p:cNvGrpSpPr/>
            <p:nvPr/>
          </p:nvGrpSpPr>
          <p:grpSpPr>
            <a:xfrm>
              <a:off x="3311797" y="3573607"/>
              <a:ext cx="1917355" cy="2375673"/>
              <a:chOff x="5698473" y="2994464"/>
              <a:chExt cx="1917355" cy="2375673"/>
            </a:xfrm>
          </p:grpSpPr>
          <p:sp>
            <p:nvSpPr>
              <p:cNvPr id="17" name="Metin kutusu 16"/>
              <p:cNvSpPr txBox="1"/>
              <p:nvPr/>
            </p:nvSpPr>
            <p:spPr>
              <a:xfrm>
                <a:off x="6849400" y="4220049"/>
                <a:ext cx="76642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tr-TR" sz="1500" dirty="0" smtClean="0">
                    <a:solidFill>
                      <a:srgbClr val="002060"/>
                    </a:solidFill>
                  </a:rPr>
                  <a:t>Doğru</a:t>
                </a:r>
                <a:endParaRPr lang="tr-TR" sz="1500" dirty="0">
                  <a:solidFill>
                    <a:srgbClr val="002060"/>
                  </a:solidFill>
                </a:endParaRPr>
              </a:p>
            </p:txBody>
          </p:sp>
          <p:grpSp>
            <p:nvGrpSpPr>
              <p:cNvPr id="31" name="Grup 30"/>
              <p:cNvGrpSpPr/>
              <p:nvPr/>
            </p:nvGrpSpPr>
            <p:grpSpPr>
              <a:xfrm>
                <a:off x="5698473" y="2994464"/>
                <a:ext cx="1279656" cy="2375673"/>
                <a:chOff x="5192156" y="3212150"/>
                <a:chExt cx="1279656" cy="2375673"/>
              </a:xfrm>
            </p:grpSpPr>
            <p:grpSp>
              <p:nvGrpSpPr>
                <p:cNvPr id="5" name="Grup 4"/>
                <p:cNvGrpSpPr/>
                <p:nvPr/>
              </p:nvGrpSpPr>
              <p:grpSpPr>
                <a:xfrm>
                  <a:off x="5192156" y="3212150"/>
                  <a:ext cx="1279656" cy="2375673"/>
                  <a:chOff x="4491544" y="2846040"/>
                  <a:chExt cx="897121" cy="2221920"/>
                </a:xfrm>
              </p:grpSpPr>
              <p:grpSp>
                <p:nvGrpSpPr>
                  <p:cNvPr id="6" name="Group 17"/>
                  <p:cNvGrpSpPr>
                    <a:grpSpLocks/>
                  </p:cNvGrpSpPr>
                  <p:nvPr/>
                </p:nvGrpSpPr>
                <p:grpSpPr bwMode="auto">
                  <a:xfrm>
                    <a:off x="4491544" y="2846040"/>
                    <a:ext cx="897120" cy="2221920"/>
                    <a:chOff x="2284" y="1502"/>
                    <a:chExt cx="623" cy="1543"/>
                  </a:xfrm>
                </p:grpSpPr>
                <p:sp>
                  <p:nvSpPr>
                    <p:cNvPr id="8" name="AutoShape 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84" y="2291"/>
                      <a:ext cx="623" cy="363"/>
                    </a:xfrm>
                    <a:prstGeom prst="flowChartDecision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9050">
                      <a:solidFill>
                        <a:srgbClr val="002060"/>
                      </a:solidFill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rIns="0" anchor="ctr"/>
                    <a:lstStyle/>
                    <a:p>
                      <a:pPr algn="ctr"/>
                      <a:r>
                        <a:rPr lang="tr-TR" altLang="tr-TR" sz="1600" dirty="0" smtClean="0">
                          <a:solidFill>
                            <a:srgbClr val="002060"/>
                          </a:solidFill>
                          <a:latin typeface="+mn-lt"/>
                          <a:cs typeface="+mn-cs"/>
                        </a:rPr>
                        <a:t>Koşul</a:t>
                      </a:r>
                      <a:endParaRPr lang="tr-TR" altLang="tr-TR" sz="1600" dirty="0">
                        <a:solidFill>
                          <a:srgbClr val="002060"/>
                        </a:solidFill>
                        <a:latin typeface="+mn-lt"/>
                        <a:cs typeface="+mn-cs"/>
                      </a:endParaRPr>
                    </a:p>
                  </p:txBody>
                </p:sp>
                <p:sp>
                  <p:nvSpPr>
                    <p:cNvPr id="9" name="Rectangle 2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67" y="1920"/>
                      <a:ext cx="455" cy="236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9050">
                      <a:solidFill>
                        <a:srgbClr val="002060"/>
                      </a:solidFill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r>
                        <a:rPr lang="tr-TR" altLang="tr-TR" sz="1600" dirty="0" smtClean="0">
                          <a:solidFill>
                            <a:srgbClr val="002060"/>
                          </a:solidFill>
                          <a:latin typeface="+mn-lt"/>
                          <a:cs typeface="+mn-cs"/>
                        </a:rPr>
                        <a:t>işlemler</a:t>
                      </a:r>
                      <a:endParaRPr lang="en-AU" altLang="tr-TR" sz="1600" dirty="0">
                        <a:solidFill>
                          <a:srgbClr val="002060"/>
                        </a:solidFill>
                        <a:latin typeface="+mn-lt"/>
                        <a:cs typeface="+mn-cs"/>
                      </a:endParaRPr>
                    </a:p>
                  </p:txBody>
                </p:sp>
                <p:sp>
                  <p:nvSpPr>
                    <p:cNvPr id="10" name="Oval 2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00" y="1502"/>
                      <a:ext cx="186" cy="186"/>
                    </a:xfrm>
                    <a:prstGeom prst="ellipse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9050">
                      <a:solidFill>
                        <a:srgbClr val="002060"/>
                      </a:solidFill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lang="tr-TR">
                        <a:solidFill>
                          <a:srgbClr val="002060"/>
                        </a:solidFill>
                        <a:latin typeface="+mn-lt"/>
                        <a:cs typeface="+mn-cs"/>
                      </a:endParaRPr>
                    </a:p>
                  </p:txBody>
                </p:sp>
                <p:sp>
                  <p:nvSpPr>
                    <p:cNvPr id="11" name="Oval 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01" y="2859"/>
                      <a:ext cx="186" cy="186"/>
                    </a:xfrm>
                    <a:prstGeom prst="ellipse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9050">
                      <a:solidFill>
                        <a:srgbClr val="002060"/>
                      </a:solidFill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/>
                      <a:endParaRPr lang="tr-TR">
                        <a:solidFill>
                          <a:srgbClr val="002060"/>
                        </a:solidFill>
                        <a:latin typeface="+mn-lt"/>
                        <a:cs typeface="+mn-cs"/>
                      </a:endParaRPr>
                    </a:p>
                  </p:txBody>
                </p:sp>
                <p:cxnSp>
                  <p:nvCxnSpPr>
                    <p:cNvPr id="12" name="AutoShape 23"/>
                    <p:cNvCxnSpPr>
                      <a:cxnSpLocks noChangeShapeType="1"/>
                      <a:stCxn id="9" idx="2"/>
                      <a:endCxn id="8" idx="0"/>
                    </p:cNvCxnSpPr>
                    <p:nvPr/>
                  </p:nvCxnSpPr>
                  <p:spPr bwMode="auto">
                    <a:xfrm>
                      <a:off x="2595" y="2156"/>
                      <a:ext cx="1" cy="135"/>
                    </a:xfrm>
                    <a:prstGeom prst="straightConnector1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 w="19050">
                      <a:solidFill>
                        <a:srgbClr val="002060"/>
                      </a:solidFill>
                      <a:headEnd type="none" w="med" len="med"/>
                      <a:tailEnd type="triangle" w="med" len="med"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  <p:cxnSp>
                <p:nvCxnSpPr>
                  <p:cNvPr id="7" name="Dirsek Bağlayıcısı 6"/>
                  <p:cNvCxnSpPr>
                    <a:endCxn id="8" idx="3"/>
                  </p:cNvCxnSpPr>
                  <p:nvPr/>
                </p:nvCxnSpPr>
                <p:spPr>
                  <a:xfrm rot="16200000" flipH="1">
                    <a:off x="4654414" y="3509310"/>
                    <a:ext cx="1016341" cy="452160"/>
                  </a:xfrm>
                  <a:prstGeom prst="bentConnector4">
                    <a:avLst>
                      <a:gd name="adj1" fmla="val -524"/>
                      <a:gd name="adj2" fmla="val 193505"/>
                    </a:avLst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rgbClr val="002060"/>
                    </a:solidFill>
                    <a:headEnd type="triangle" w="med" len="med"/>
                    <a:tailEnd type="none" w="med" len="med"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cxnSp>
              <p:nvCxnSpPr>
                <p:cNvPr id="24" name="AutoShape 23"/>
                <p:cNvCxnSpPr>
                  <a:cxnSpLocks noChangeShapeType="1"/>
                  <a:stCxn id="8" idx="2"/>
                  <a:endCxn id="11" idx="0"/>
                </p:cNvCxnSpPr>
                <p:nvPr/>
              </p:nvCxnSpPr>
              <p:spPr bwMode="auto">
                <a:xfrm flipH="1">
                  <a:off x="5837127" y="4985822"/>
                  <a:ext cx="4108" cy="315628"/>
                </a:xfrm>
                <a:prstGeom prst="straightConnector1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rgbClr val="002060"/>
                  </a:solidFill>
                  <a:headEnd type="none" w="med" len="med"/>
                  <a:tailEnd type="triangl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18" name="Metin kutusu 17"/>
              <p:cNvSpPr txBox="1"/>
              <p:nvPr/>
            </p:nvSpPr>
            <p:spPr>
              <a:xfrm>
                <a:off x="6233621" y="4753086"/>
                <a:ext cx="76642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tr-TR" sz="1500" dirty="0" smtClean="0">
                    <a:solidFill>
                      <a:srgbClr val="002060"/>
                    </a:solidFill>
                  </a:rPr>
                  <a:t>Yanlış</a:t>
                </a:r>
                <a:endParaRPr lang="tr-TR" sz="1500" dirty="0">
                  <a:solidFill>
                    <a:srgbClr val="002060"/>
                  </a:solidFill>
                </a:endParaRPr>
              </a:p>
            </p:txBody>
          </p:sp>
        </p:grpSp>
        <p:cxnSp>
          <p:nvCxnSpPr>
            <p:cNvPr id="28" name="AutoShape 23"/>
            <p:cNvCxnSpPr>
              <a:cxnSpLocks noChangeShapeType="1"/>
              <a:stCxn id="10" idx="4"/>
              <a:endCxn id="9" idx="0"/>
            </p:cNvCxnSpPr>
            <p:nvPr/>
          </p:nvCxnSpPr>
          <p:spPr bwMode="auto">
            <a:xfrm>
              <a:off x="3946491" y="3859981"/>
              <a:ext cx="3081" cy="357198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40" name="Grup 39"/>
          <p:cNvGrpSpPr/>
          <p:nvPr/>
        </p:nvGrpSpPr>
        <p:grpSpPr>
          <a:xfrm>
            <a:off x="5946798" y="3716794"/>
            <a:ext cx="2396420" cy="1569824"/>
            <a:chOff x="6608320" y="3998797"/>
            <a:chExt cx="2396420" cy="1569824"/>
          </a:xfrm>
        </p:grpSpPr>
        <p:pic>
          <p:nvPicPr>
            <p:cNvPr id="38" name="Resim 3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08320" y="3998797"/>
              <a:ext cx="2028825" cy="1247775"/>
            </a:xfrm>
            <a:prstGeom prst="rect">
              <a:avLst/>
            </a:prstGeom>
          </p:spPr>
        </p:pic>
        <p:grpSp>
          <p:nvGrpSpPr>
            <p:cNvPr id="23" name="Grup 22"/>
            <p:cNvGrpSpPr/>
            <p:nvPr/>
          </p:nvGrpSpPr>
          <p:grpSpPr>
            <a:xfrm>
              <a:off x="7807001" y="5246572"/>
              <a:ext cx="1197739" cy="322049"/>
              <a:chOff x="1691680" y="2098839"/>
              <a:chExt cx="1197739" cy="322049"/>
            </a:xfrm>
          </p:grpSpPr>
          <p:sp>
            <p:nvSpPr>
              <p:cNvPr id="25" name="Text Box 45"/>
              <p:cNvSpPr txBox="1">
                <a:spLocks noChangeArrowheads="1"/>
              </p:cNvSpPr>
              <p:nvPr/>
            </p:nvSpPr>
            <p:spPr bwMode="auto">
              <a:xfrm>
                <a:off x="2221863" y="2150489"/>
                <a:ext cx="667556" cy="2703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81638" tIns="42452" rIns="81638" bIns="42452">
                <a:spAutoFit/>
              </a:bodyPr>
              <a:lstStyle>
                <a:lvl1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1pPr>
                <a:lvl2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2pPr>
                <a:lvl3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3pPr>
                <a:lvl4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4pPr>
                <a:lvl5pPr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  <a:defRPr>
                    <a:solidFill>
                      <a:srgbClr val="FFFFFF"/>
                    </a:solidFill>
                    <a:latin typeface="Arial" panose="020B0604020202020204" pitchFamily="34" charset="0"/>
                    <a:ea typeface="SimSun" panose="02010600030101010101" pitchFamily="2" charset="-122"/>
                  </a:defRPr>
                </a:lvl9pPr>
              </a:lstStyle>
              <a:p>
                <a:pPr>
                  <a:spcBef>
                    <a:spcPts val="567"/>
                  </a:spcBef>
                </a:pPr>
                <a:r>
                  <a:rPr lang="tr-TR" altLang="tr-TR" sz="1200" b="1" dirty="0" smtClean="0">
                    <a:solidFill>
                      <a:srgbClr val="0070C0"/>
                    </a:solidFill>
                  </a:rPr>
                  <a:t>Koşul</a:t>
                </a:r>
                <a:endParaRPr lang="tr-TR" altLang="tr-TR" sz="1200" b="1" dirty="0">
                  <a:solidFill>
                    <a:srgbClr val="0070C0"/>
                  </a:solidFill>
                </a:endParaRPr>
              </a:p>
            </p:txBody>
          </p:sp>
          <p:cxnSp>
            <p:nvCxnSpPr>
              <p:cNvPr id="26" name="Düz Ok Bağlayıcısı 25"/>
              <p:cNvCxnSpPr/>
              <p:nvPr/>
            </p:nvCxnSpPr>
            <p:spPr>
              <a:xfrm flipH="1">
                <a:off x="1691680" y="2294505"/>
                <a:ext cx="576064" cy="0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Düz Bağlayıcı 26"/>
              <p:cNvCxnSpPr/>
              <p:nvPr/>
            </p:nvCxnSpPr>
            <p:spPr>
              <a:xfrm flipV="1">
                <a:off x="1691680" y="2098839"/>
                <a:ext cx="0" cy="195666"/>
              </a:xfrm>
              <a:prstGeom prst="line">
                <a:avLst/>
              </a:prstGeom>
              <a:ln w="28575">
                <a:solidFill>
                  <a:srgbClr val="C0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193902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Döngü Yapısı…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171450" lvl="1">
                  <a:spcBef>
                    <a:spcPts val="750"/>
                  </a:spcBef>
                </a:pPr>
                <a:r>
                  <a:rPr lang="tr-TR" altLang="tr-TR" sz="2400" b="1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Do-</a:t>
                </a:r>
                <a:r>
                  <a:rPr lang="tr-TR" altLang="tr-TR" sz="2400" b="1" dirty="0" err="1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w</a:t>
                </a:r>
                <a:r>
                  <a:rPr lang="tr-TR" altLang="tr-TR" sz="2400" b="1" dirty="0" err="1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hile</a:t>
                </a:r>
                <a:r>
                  <a:rPr lang="tr-TR" altLang="tr-TR" sz="2400" b="1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…</a:t>
                </a:r>
              </a:p>
              <a:p>
                <a:pPr marL="514350" lvl="2">
                  <a:spcBef>
                    <a:spcPts val="750"/>
                  </a:spcBef>
                </a:pPr>
                <a:r>
                  <a:rPr lang="tr-TR" sz="2100" u="sng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Cambria Math" panose="02040503050406030204" pitchFamily="18" charset="0"/>
                  </a:rPr>
                  <a:t>ÖRNEK:</a:t>
                </a:r>
                <a14:m>
                  <m:oMath xmlns:m="http://schemas.openxmlformats.org/officeDocument/2006/math">
                    <m:r>
                      <a:rPr lang="tr-TR" sz="2100">
                        <a:solidFill>
                          <a:srgbClr val="7030A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tr-TR" sz="21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tr-TR" altLang="tr-TR" sz="2100" dirty="0" smtClean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[12]_dowhile.cpp</a:t>
                </a:r>
                <a:endParaRPr lang="tr-TR" altLang="tr-TR" sz="21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171450" lvl="1">
                  <a:spcBef>
                    <a:spcPts val="750"/>
                  </a:spcBef>
                </a:pPr>
                <a:endParaRPr lang="tr-TR" altLang="tr-TR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" name="İçerik Yer Tutucus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t="-1823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916832"/>
            <a:ext cx="7286625" cy="1514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7712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Döngü Yapısı…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171450" lvl="1">
                  <a:spcBef>
                    <a:spcPts val="750"/>
                  </a:spcBef>
                </a:pPr>
                <a:r>
                  <a:rPr lang="tr-TR" altLang="tr-TR" sz="2400" b="1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Do-</a:t>
                </a:r>
                <a:r>
                  <a:rPr lang="tr-TR" altLang="tr-TR" sz="2400" b="1" dirty="0" err="1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w</a:t>
                </a:r>
                <a:r>
                  <a:rPr lang="tr-TR" altLang="tr-TR" sz="2400" b="1" dirty="0" err="1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hile</a:t>
                </a:r>
                <a:r>
                  <a:rPr lang="tr-TR" altLang="tr-TR" sz="2400" b="1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…</a:t>
                </a:r>
              </a:p>
              <a:p>
                <a:pPr marL="514350" lvl="2" algn="just">
                  <a:spcBef>
                    <a:spcPts val="750"/>
                  </a:spcBef>
                </a:pPr>
                <a:r>
                  <a:rPr lang="tr-TR" sz="2100" u="sng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Cambria Math" panose="02040503050406030204" pitchFamily="18" charset="0"/>
                  </a:rPr>
                  <a:t>ÖRNEK:</a:t>
                </a:r>
                <a:r>
                  <a:rPr lang="tr-TR" sz="2100" dirty="0" smtClean="0">
                    <a:ea typeface="Cambria Math" panose="02040503050406030204" pitchFamily="18" charset="0"/>
                  </a:rPr>
                  <a:t> 1’den 10’a kadar olan sayıları toplayıp sonucu ekrana yazdıran program</a:t>
                </a:r>
                <a:endParaRPr lang="tr-TR" sz="21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lvl="2">
                  <a:spcBef>
                    <a:spcPts val="750"/>
                  </a:spcBef>
                </a:pPr>
                <a14:m>
                  <m:oMath xmlns:m="http://schemas.openxmlformats.org/officeDocument/2006/math">
                    <m:r>
                      <a:rPr lang="tr-TR" sz="2100">
                        <a:solidFill>
                          <a:srgbClr val="7030A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tr-TR" sz="21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tr-TR" altLang="tr-TR" sz="2100" dirty="0" smtClean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[13]_dowhile_toplam.cpp</a:t>
                </a:r>
                <a:endParaRPr lang="tr-TR" altLang="tr-TR" sz="21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171450" lvl="1">
                  <a:spcBef>
                    <a:spcPts val="750"/>
                  </a:spcBef>
                </a:pPr>
                <a:endParaRPr lang="tr-TR" altLang="tr-TR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" name="İçerik Yer Tutucus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71" t="-1823" r="-763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2564904"/>
            <a:ext cx="6619875" cy="1752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26468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Döngü Yapısı…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171450" lvl="1">
                  <a:spcBef>
                    <a:spcPts val="750"/>
                  </a:spcBef>
                </a:pPr>
                <a:r>
                  <a:rPr lang="tr-TR" altLang="tr-TR" sz="2400" b="1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Do-</a:t>
                </a:r>
                <a:r>
                  <a:rPr lang="tr-TR" altLang="tr-TR" sz="2400" b="1" dirty="0" err="1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w</a:t>
                </a:r>
                <a:r>
                  <a:rPr lang="tr-TR" altLang="tr-TR" sz="2400" b="1" dirty="0" err="1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hile</a:t>
                </a:r>
                <a:r>
                  <a:rPr lang="tr-TR" altLang="tr-TR" sz="2400" b="1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…</a:t>
                </a:r>
              </a:p>
              <a:p>
                <a:pPr marL="514350" lvl="2" algn="just">
                  <a:spcBef>
                    <a:spcPts val="750"/>
                  </a:spcBef>
                </a:pPr>
                <a:r>
                  <a:rPr lang="tr-TR" sz="2100" u="sng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Cambria Math" panose="02040503050406030204" pitchFamily="18" charset="0"/>
                  </a:rPr>
                  <a:t>ÖRNEK:</a:t>
                </a:r>
                <a:r>
                  <a:rPr lang="tr-TR" sz="2100" dirty="0" smtClean="0">
                    <a:ea typeface="Cambria Math" panose="02040503050406030204" pitchFamily="18" charset="0"/>
                  </a:rPr>
                  <a:t> Klavyeden girilen tek ve çift sayıları toplayıp toplamlarını ve ortalamasını ekrana yazdıran program</a:t>
                </a:r>
                <a:endParaRPr lang="tr-TR" sz="21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lvl="2">
                  <a:spcBef>
                    <a:spcPts val="750"/>
                  </a:spcBef>
                </a:pPr>
                <a14:m>
                  <m:oMath xmlns:m="http://schemas.openxmlformats.org/officeDocument/2006/math">
                    <m:r>
                      <a:rPr lang="tr-TR" sz="2100">
                        <a:solidFill>
                          <a:srgbClr val="7030A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tr-TR" sz="21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tr-TR" altLang="tr-TR" sz="2100" dirty="0" smtClean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[14]_dowhile_sayilar.cpp</a:t>
                </a:r>
                <a:endParaRPr lang="tr-TR" altLang="tr-TR" sz="2100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171450" lvl="1">
                  <a:spcBef>
                    <a:spcPts val="750"/>
                  </a:spcBef>
                </a:pPr>
                <a:endParaRPr lang="tr-TR" altLang="tr-TR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" name="İçerik Yer Tutucus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71" t="-1823" r="-763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2561455"/>
            <a:ext cx="2664296" cy="34598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28133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Dikdörtgen 4"/>
          <p:cNvSpPr>
            <a:spLocks noChangeArrowheads="1"/>
          </p:cNvSpPr>
          <p:nvPr/>
        </p:nvSpPr>
        <p:spPr bwMode="auto">
          <a:xfrm>
            <a:off x="179388" y="-15875"/>
            <a:ext cx="8569325" cy="652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tr-TR" alt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tr-TR" alt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tr-TR" altLang="tr-T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tr-TR" dirty="0">
                <a:solidFill>
                  <a:srgbClr val="FF0000"/>
                </a:solidFill>
                <a:cs typeface="Arial" panose="020B0604020202020204" pitchFamily="34" charset="0"/>
              </a:rPr>
              <a:t>#</a:t>
            </a:r>
            <a:r>
              <a:rPr lang="tr-TR" dirty="0" err="1">
                <a:solidFill>
                  <a:srgbClr val="FF0000"/>
                </a:solidFill>
                <a:cs typeface="Arial" panose="020B0604020202020204" pitchFamily="34" charset="0"/>
              </a:rPr>
              <a:t>include</a:t>
            </a:r>
            <a:r>
              <a:rPr lang="tr-TR" dirty="0">
                <a:solidFill>
                  <a:srgbClr val="FF0000"/>
                </a:solidFill>
                <a:cs typeface="Arial" panose="020B0604020202020204" pitchFamily="34" charset="0"/>
              </a:rPr>
              <a:t> &lt;</a:t>
            </a:r>
            <a:r>
              <a:rPr lang="tr-TR" dirty="0" err="1">
                <a:solidFill>
                  <a:srgbClr val="FF0000"/>
                </a:solidFill>
                <a:cs typeface="Arial" panose="020B0604020202020204" pitchFamily="34" charset="0"/>
              </a:rPr>
              <a:t>locale.h</a:t>
            </a:r>
            <a:r>
              <a:rPr lang="tr-TR" dirty="0" smtClean="0">
                <a:solidFill>
                  <a:srgbClr val="FF0000"/>
                </a:solidFill>
                <a:cs typeface="Arial" panose="020B0604020202020204" pitchFamily="34" charset="0"/>
              </a:rPr>
              <a:t>&gt; </a:t>
            </a:r>
            <a:r>
              <a:rPr lang="tr-TR" sz="1200" dirty="0" smtClean="0">
                <a:cs typeface="Arial" panose="020B0604020202020204" pitchFamily="34" charset="0"/>
              </a:rPr>
              <a:t>//Türkçe karakterlerin düzgün görülmesi için</a:t>
            </a:r>
            <a:endParaRPr lang="tr-TR" altLang="tr-TR" sz="1200" dirty="0">
              <a:cs typeface="Arial" panose="020B0604020202020204" pitchFamily="34" charset="0"/>
            </a:endParaRPr>
          </a:p>
          <a:p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 namespace </a:t>
            </a:r>
            <a:r>
              <a:rPr lang="tr-TR" alt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tr-TR" alt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r>
              <a:rPr lang="tr-TR" altLang="tr-T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tr-TR" dirty="0" smtClean="0"/>
              <a:t>               </a:t>
            </a:r>
            <a:r>
              <a:rPr lang="tr-TR" sz="1400" b="1" dirty="0" err="1" smtClean="0">
                <a:solidFill>
                  <a:srgbClr val="FF0000"/>
                </a:solidFill>
                <a:cs typeface="Arial" panose="020B0604020202020204" pitchFamily="34" charset="0"/>
              </a:rPr>
              <a:t>setlocale</a:t>
            </a:r>
            <a:r>
              <a:rPr lang="tr-TR" sz="1400" b="1" dirty="0" smtClean="0">
                <a:solidFill>
                  <a:srgbClr val="FF0000"/>
                </a:solidFill>
                <a:cs typeface="Arial" panose="020B0604020202020204" pitchFamily="34" charset="0"/>
              </a:rPr>
              <a:t>(LC_ALL</a:t>
            </a:r>
            <a:r>
              <a:rPr lang="tr-TR" sz="1400" b="1" dirty="0">
                <a:solidFill>
                  <a:srgbClr val="FF0000"/>
                </a:solidFill>
                <a:cs typeface="Arial" panose="020B0604020202020204" pitchFamily="34" charset="0"/>
              </a:rPr>
              <a:t>, "</a:t>
            </a:r>
            <a:r>
              <a:rPr lang="tr-TR" sz="1400" b="1" dirty="0" err="1">
                <a:solidFill>
                  <a:srgbClr val="FF0000"/>
                </a:solidFill>
                <a:cs typeface="Arial" panose="020B0604020202020204" pitchFamily="34" charset="0"/>
              </a:rPr>
              <a:t>turkish</a:t>
            </a:r>
            <a:r>
              <a:rPr lang="tr-TR" sz="1400" b="1" dirty="0" smtClean="0">
                <a:solidFill>
                  <a:srgbClr val="FF0000"/>
                </a:solidFill>
                <a:cs typeface="Arial" panose="020B0604020202020204" pitchFamily="34" charset="0"/>
              </a:rPr>
              <a:t>");</a:t>
            </a:r>
            <a:r>
              <a:rPr lang="tr-TR" sz="1400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tr-TR" sz="1400" dirty="0">
                <a:cs typeface="Arial" panose="020B0604020202020204" pitchFamily="34" charset="0"/>
              </a:rPr>
              <a:t>//Türkçe karakterlerin düzgün görülmesi </a:t>
            </a:r>
            <a:r>
              <a:rPr lang="tr-TR" sz="1400" dirty="0" smtClean="0">
                <a:cs typeface="Arial" panose="020B0604020202020204" pitchFamily="34" charset="0"/>
              </a:rPr>
              <a:t>için</a:t>
            </a:r>
            <a:endParaRPr lang="tr-TR" altLang="tr-TR" sz="1400" b="1" dirty="0">
              <a:cs typeface="Arial" panose="020B0604020202020204" pitchFamily="34" charset="0"/>
            </a:endParaRPr>
          </a:p>
          <a:p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tr-TR" alt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sayi1, sayi2;</a:t>
            </a:r>
          </a:p>
          <a:p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tr-TR" alt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secim;</a:t>
            </a:r>
          </a:p>
          <a:p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tr-TR" alt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'a';</a:t>
            </a:r>
          </a:p>
          <a:p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do</a:t>
            </a:r>
          </a:p>
          <a:p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do</a:t>
            </a:r>
          </a:p>
          <a:p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{</a:t>
            </a:r>
          </a:p>
          <a:p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tr-TR" alt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("CLS");</a:t>
            </a:r>
          </a:p>
          <a:p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tr-TR" alt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 </a:t>
            </a:r>
            <a:r>
              <a:rPr lang="tr-TR" alt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sayi</a:t>
            </a:r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? "; cin &gt;&gt; sayi1;</a:t>
            </a:r>
          </a:p>
          <a:p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tr-TR" alt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 </a:t>
            </a:r>
            <a:r>
              <a:rPr lang="tr-TR" alt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sayi</a:t>
            </a:r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? "; cin &gt;&gt; sayi2;</a:t>
            </a:r>
          </a:p>
          <a:p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tr-TR" alt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"\t Ne yapalım?" &lt;&lt; </a:t>
            </a:r>
            <a:r>
              <a:rPr lang="tr-TR" alt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tr-TR" alt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"\t 1 toplama " &lt;&lt; </a:t>
            </a:r>
            <a:r>
              <a:rPr lang="tr-TR" alt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tr-TR" alt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"\t 2 </a:t>
            </a:r>
            <a:r>
              <a:rPr lang="tr-TR" altLang="tr-T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çıkarma </a:t>
            </a:r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&lt;&lt; </a:t>
            </a:r>
            <a:r>
              <a:rPr lang="tr-TR" alt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tr-TR" alt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"\t 3 </a:t>
            </a:r>
            <a:r>
              <a:rPr lang="tr-TR" altLang="tr-T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çarpma </a:t>
            </a:r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&lt;&lt; </a:t>
            </a:r>
            <a:r>
              <a:rPr lang="tr-TR" alt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tr-TR" alt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"\t 4 </a:t>
            </a:r>
            <a:r>
              <a:rPr lang="tr-TR" altLang="tr-T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bölme </a:t>
            </a:r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&lt;&lt; </a:t>
            </a:r>
            <a:r>
              <a:rPr lang="tr-TR" alt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tr-TR" alt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"\t 5 kalan    " &lt;&lt; </a:t>
            </a:r>
            <a:r>
              <a:rPr lang="tr-TR" alt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tr-TR" alt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 </a:t>
            </a:r>
            <a:r>
              <a:rPr lang="tr-TR" altLang="tr-T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seçiminiz</a:t>
            </a:r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(1-5) "; cin &gt;&gt; secim;</a:t>
            </a:r>
          </a:p>
          <a:p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} </a:t>
            </a:r>
            <a:r>
              <a:rPr lang="tr-TR" alt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(secim &lt; 1 || secim &gt; 5);</a:t>
            </a:r>
          </a:p>
          <a:p>
            <a:r>
              <a:rPr lang="tr-TR" alt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458440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Dikdörtgen 2"/>
          <p:cNvSpPr>
            <a:spLocks noChangeArrowheads="1"/>
          </p:cNvSpPr>
          <p:nvPr/>
        </p:nvSpPr>
        <p:spPr bwMode="auto">
          <a:xfrm>
            <a:off x="179388" y="549275"/>
            <a:ext cx="8964612" cy="633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tr-TR" altLang="tr-TR" sz="1400">
                <a:latin typeface="Times New Roman" panose="02020603050405020304" pitchFamily="18" charset="0"/>
                <a:cs typeface="Times New Roman" panose="02020603050405020304" pitchFamily="18" charset="0"/>
              </a:rPr>
              <a:t>switch (secim)</a:t>
            </a:r>
          </a:p>
          <a:p>
            <a:r>
              <a:rPr lang="tr-TR" altLang="tr-TR" sz="1400">
                <a:latin typeface="Times New Roman" panose="02020603050405020304" pitchFamily="18" charset="0"/>
                <a:cs typeface="Times New Roman" panose="02020603050405020304" pitchFamily="18" charset="0"/>
              </a:rPr>
              <a:t>		{</a:t>
            </a:r>
          </a:p>
          <a:p>
            <a:r>
              <a:rPr lang="tr-TR" altLang="tr-TR" sz="1400">
                <a:latin typeface="Times New Roman" panose="02020603050405020304" pitchFamily="18" charset="0"/>
                <a:cs typeface="Times New Roman" panose="02020603050405020304" pitchFamily="18" charset="0"/>
              </a:rPr>
              <a:t>		case 1:</a:t>
            </a:r>
          </a:p>
          <a:p>
            <a:r>
              <a:rPr lang="tr-TR" altLang="tr-TR" sz="1400">
                <a:latin typeface="Times New Roman" panose="02020603050405020304" pitchFamily="18" charset="0"/>
                <a:cs typeface="Times New Roman" panose="02020603050405020304" pitchFamily="18" charset="0"/>
              </a:rPr>
              <a:t>			cout &lt;&lt; sayi1 &lt;&lt; " + " &lt;&lt; sayi2 &lt;&lt; " = " &lt;&lt; sayi1 + sayi2 &lt;&lt; endl;</a:t>
            </a:r>
          </a:p>
          <a:p>
            <a:r>
              <a:rPr lang="tr-TR" altLang="tr-TR" sz="1400">
                <a:latin typeface="Times New Roman" panose="02020603050405020304" pitchFamily="18" charset="0"/>
                <a:cs typeface="Times New Roman" panose="02020603050405020304" pitchFamily="18" charset="0"/>
              </a:rPr>
              <a:t>			break;</a:t>
            </a:r>
          </a:p>
          <a:p>
            <a:r>
              <a:rPr lang="tr-TR" altLang="tr-TR" sz="1400">
                <a:latin typeface="Times New Roman" panose="02020603050405020304" pitchFamily="18" charset="0"/>
                <a:cs typeface="Times New Roman" panose="02020603050405020304" pitchFamily="18" charset="0"/>
              </a:rPr>
              <a:t>		case 2:</a:t>
            </a:r>
          </a:p>
          <a:p>
            <a:r>
              <a:rPr lang="tr-TR" altLang="tr-TR" sz="1400">
                <a:latin typeface="Times New Roman" panose="02020603050405020304" pitchFamily="18" charset="0"/>
                <a:cs typeface="Times New Roman" panose="02020603050405020304" pitchFamily="18" charset="0"/>
              </a:rPr>
              <a:t>			cout &lt;&lt; sayi1 &lt;&lt; " - " &lt;&lt; sayi2 &lt;&lt; " = " &lt;&lt; sayi1 - sayi2 &lt;&lt; endl;</a:t>
            </a:r>
          </a:p>
          <a:p>
            <a:r>
              <a:rPr lang="tr-TR" altLang="tr-TR" sz="1400">
                <a:latin typeface="Times New Roman" panose="02020603050405020304" pitchFamily="18" charset="0"/>
                <a:cs typeface="Times New Roman" panose="02020603050405020304" pitchFamily="18" charset="0"/>
              </a:rPr>
              <a:t>			break;</a:t>
            </a:r>
          </a:p>
          <a:p>
            <a:r>
              <a:rPr lang="tr-TR" altLang="tr-TR" sz="1400">
                <a:latin typeface="Times New Roman" panose="02020603050405020304" pitchFamily="18" charset="0"/>
                <a:cs typeface="Times New Roman" panose="02020603050405020304" pitchFamily="18" charset="0"/>
              </a:rPr>
              <a:t>		case 3:</a:t>
            </a:r>
          </a:p>
          <a:p>
            <a:r>
              <a:rPr lang="tr-TR" altLang="tr-TR" sz="1400">
                <a:latin typeface="Times New Roman" panose="02020603050405020304" pitchFamily="18" charset="0"/>
                <a:cs typeface="Times New Roman" panose="02020603050405020304" pitchFamily="18" charset="0"/>
              </a:rPr>
              <a:t>			cout &lt;&lt; sayi1 &lt;&lt; " * " &lt;&lt; sayi2 &lt;&lt; " = " &lt;&lt; sayi1 * sayi2 &lt;&lt; endl;</a:t>
            </a:r>
          </a:p>
          <a:p>
            <a:r>
              <a:rPr lang="tr-TR" altLang="tr-TR" sz="1400">
                <a:latin typeface="Times New Roman" panose="02020603050405020304" pitchFamily="18" charset="0"/>
                <a:cs typeface="Times New Roman" panose="02020603050405020304" pitchFamily="18" charset="0"/>
              </a:rPr>
              <a:t>			break;</a:t>
            </a:r>
          </a:p>
          <a:p>
            <a:r>
              <a:rPr lang="tr-TR" altLang="tr-TR" sz="1400">
                <a:latin typeface="Times New Roman" panose="02020603050405020304" pitchFamily="18" charset="0"/>
                <a:cs typeface="Times New Roman" panose="02020603050405020304" pitchFamily="18" charset="0"/>
              </a:rPr>
              <a:t>		case 4:</a:t>
            </a:r>
          </a:p>
          <a:p>
            <a:r>
              <a:rPr lang="tr-TR" altLang="tr-TR" sz="1400">
                <a:latin typeface="Times New Roman" panose="02020603050405020304" pitchFamily="18" charset="0"/>
                <a:cs typeface="Times New Roman" panose="02020603050405020304" pitchFamily="18" charset="0"/>
              </a:rPr>
              <a:t>			if (sayi2 != 0)</a:t>
            </a:r>
          </a:p>
          <a:p>
            <a:r>
              <a:rPr lang="tr-TR" altLang="tr-TR" sz="1400">
                <a:latin typeface="Times New Roman" panose="02020603050405020304" pitchFamily="18" charset="0"/>
                <a:cs typeface="Times New Roman" panose="02020603050405020304" pitchFamily="18" charset="0"/>
              </a:rPr>
              <a:t>			cout &lt;&lt; sayi1 &lt;&lt; " / " &lt;&lt; sayi2 &lt;&lt; " = " &lt;&lt; (float)sayi1 / sayi2 &lt;&lt; endl;</a:t>
            </a:r>
          </a:p>
          <a:p>
            <a:r>
              <a:rPr lang="tr-TR" altLang="tr-TR" sz="1400">
                <a:latin typeface="Times New Roman" panose="02020603050405020304" pitchFamily="18" charset="0"/>
                <a:cs typeface="Times New Roman" panose="02020603050405020304" pitchFamily="18" charset="0"/>
              </a:rPr>
              <a:t>			else</a:t>
            </a:r>
          </a:p>
          <a:p>
            <a:r>
              <a:rPr lang="tr-TR" altLang="tr-TR" sz="1400">
                <a:latin typeface="Times New Roman" panose="02020603050405020304" pitchFamily="18" charset="0"/>
                <a:cs typeface="Times New Roman" panose="02020603050405020304" pitchFamily="18" charset="0"/>
              </a:rPr>
              <a:t>			cout &lt;&lt; " sifira bolme olmaz" &lt;&lt; endl;</a:t>
            </a:r>
          </a:p>
          <a:p>
            <a:r>
              <a:rPr lang="tr-TR" altLang="tr-TR" sz="1400">
                <a:latin typeface="Times New Roman" panose="02020603050405020304" pitchFamily="18" charset="0"/>
                <a:cs typeface="Times New Roman" panose="02020603050405020304" pitchFamily="18" charset="0"/>
              </a:rPr>
              <a:t>			break;</a:t>
            </a:r>
          </a:p>
          <a:p>
            <a:r>
              <a:rPr lang="tr-TR" altLang="tr-TR" sz="1400">
                <a:latin typeface="Times New Roman" panose="02020603050405020304" pitchFamily="18" charset="0"/>
                <a:cs typeface="Times New Roman" panose="02020603050405020304" pitchFamily="18" charset="0"/>
              </a:rPr>
              <a:t>		case  5:</a:t>
            </a:r>
          </a:p>
          <a:p>
            <a:r>
              <a:rPr lang="tr-TR" altLang="tr-TR" sz="1400">
                <a:latin typeface="Times New Roman" panose="02020603050405020304" pitchFamily="18" charset="0"/>
                <a:cs typeface="Times New Roman" panose="02020603050405020304" pitchFamily="18" charset="0"/>
              </a:rPr>
              <a:t>			cout &lt;&lt; sayi1 &lt;&lt; " mod " &lt;&lt; sayi2 &lt;&lt; " = " &lt;&lt; (int)sayi1 % (int)sayi2 &lt;&lt; endl;</a:t>
            </a:r>
          </a:p>
          <a:p>
            <a:r>
              <a:rPr lang="tr-TR" altLang="tr-TR" sz="1400">
                <a:latin typeface="Times New Roman" panose="02020603050405020304" pitchFamily="18" charset="0"/>
                <a:cs typeface="Times New Roman" panose="02020603050405020304" pitchFamily="18" charset="0"/>
              </a:rPr>
              <a:t>			break;</a:t>
            </a:r>
          </a:p>
          <a:p>
            <a:r>
              <a:rPr lang="tr-TR" altLang="tr-TR" sz="1400">
                <a:latin typeface="Times New Roman" panose="02020603050405020304" pitchFamily="18" charset="0"/>
                <a:cs typeface="Times New Roman" panose="02020603050405020304" pitchFamily="18" charset="0"/>
              </a:rPr>
              <a:t>		default:</a:t>
            </a:r>
          </a:p>
          <a:p>
            <a:r>
              <a:rPr lang="tr-TR" altLang="tr-TR" sz="1400">
                <a:latin typeface="Times New Roman" panose="02020603050405020304" pitchFamily="18" charset="0"/>
                <a:cs typeface="Times New Roman" panose="02020603050405020304" pitchFamily="18" charset="0"/>
              </a:rPr>
              <a:t>			cout &lt;&lt; "	select correct item ..." &lt;&lt; endl;</a:t>
            </a:r>
          </a:p>
          <a:p>
            <a:r>
              <a:rPr lang="tr-TR" altLang="tr-TR" sz="1400">
                <a:latin typeface="Times New Roman" panose="02020603050405020304" pitchFamily="18" charset="0"/>
                <a:cs typeface="Times New Roman" panose="02020603050405020304" pitchFamily="18" charset="0"/>
              </a:rPr>
              <a:t>		}</a:t>
            </a:r>
          </a:p>
          <a:p>
            <a:endParaRPr lang="tr-TR" altLang="tr-TR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altLang="tr-TR" sz="1400">
                <a:latin typeface="Times New Roman" panose="02020603050405020304" pitchFamily="18" charset="0"/>
                <a:cs typeface="Times New Roman" panose="02020603050405020304" pitchFamily="18" charset="0"/>
              </a:rPr>
              <a:t>		cout &lt;&lt; " baska işlem yapilacak mı ?(y/n) "; cin &gt;&gt; ch;</a:t>
            </a:r>
          </a:p>
          <a:p>
            <a:r>
              <a:rPr lang="tr-TR" altLang="tr-TR" sz="1400">
                <a:latin typeface="Times New Roman" panose="02020603050405020304" pitchFamily="18" charset="0"/>
                <a:cs typeface="Times New Roman" panose="02020603050405020304" pitchFamily="18" charset="0"/>
              </a:rPr>
              <a:t>	} while (ch!='n');</a:t>
            </a:r>
          </a:p>
          <a:p>
            <a:endParaRPr lang="tr-TR" altLang="tr-TR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altLang="tr-TR" sz="1400">
                <a:latin typeface="Times New Roman" panose="02020603050405020304" pitchFamily="18" charset="0"/>
                <a:cs typeface="Times New Roman" panose="02020603050405020304" pitchFamily="18" charset="0"/>
              </a:rPr>
              <a:t>	return 0;</a:t>
            </a:r>
          </a:p>
          <a:p>
            <a:r>
              <a:rPr lang="tr-TR" altLang="tr-TR" sz="14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38682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250825" y="0"/>
            <a:ext cx="8569325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r-TR" altLang="tr-TR"/>
              <a:t>The following program asks users for a first name, then uses a while loop to count the number of characters in the name. This is a string length program; that is, it counts characters until it reaches the null zero. Remember that the length of a string equals the number of characters in the string up to-but not including-the null zero. </a:t>
            </a:r>
          </a:p>
        </p:txBody>
      </p:sp>
      <p:sp>
        <p:nvSpPr>
          <p:cNvPr id="57347" name="Text Box 3"/>
          <p:cNvSpPr txBox="1">
            <a:spLocks noChangeArrowheads="1"/>
          </p:cNvSpPr>
          <p:nvPr/>
        </p:nvSpPr>
        <p:spPr bwMode="auto">
          <a:xfrm>
            <a:off x="179388" y="1547813"/>
            <a:ext cx="8496300" cy="531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tr-TR" altLang="tr-TR"/>
              <a:t>/* Counts the number of letters in the user’s first name*/</a:t>
            </a:r>
          </a:p>
          <a:p>
            <a:pPr eaLnBrk="1" hangingPunct="1"/>
            <a:endParaRPr lang="tr-TR" altLang="tr-TR"/>
          </a:p>
          <a:p>
            <a:pPr eaLnBrk="1" hangingPunct="1"/>
            <a:r>
              <a:rPr lang="tr-TR" altLang="tr-TR"/>
              <a:t>include &lt;stdio.h&gt;</a:t>
            </a:r>
          </a:p>
          <a:p>
            <a:pPr eaLnBrk="1" hangingPunct="1"/>
            <a:r>
              <a:rPr lang="tr-TR" altLang="tr-TR"/>
              <a:t>  main(void)</a:t>
            </a:r>
            <a:br>
              <a:rPr lang="tr-TR" altLang="tr-TR"/>
            </a:br>
            <a:r>
              <a:rPr lang="tr-TR" altLang="tr-TR"/>
              <a:t>{</a:t>
            </a:r>
          </a:p>
          <a:p>
            <a:pPr eaLnBrk="1" hangingPunct="1"/>
            <a:r>
              <a:rPr lang="tr-TR" altLang="tr-TR"/>
              <a:t>	char name[15];		// will hold users’s first name</a:t>
            </a:r>
          </a:p>
          <a:p>
            <a:pPr eaLnBrk="1" hangingPunct="1"/>
            <a:r>
              <a:rPr lang="tr-TR" altLang="tr-TR"/>
              <a:t>	int count=0;  // will hold total characters in name</a:t>
            </a:r>
          </a:p>
          <a:p>
            <a:pPr eaLnBrk="1" hangingPunct="1"/>
            <a:endParaRPr lang="tr-TR" altLang="tr-TR"/>
          </a:p>
          <a:p>
            <a:pPr eaLnBrk="1" hangingPunct="1"/>
            <a:r>
              <a:rPr lang="tr-TR" altLang="tr-TR"/>
              <a:t>	/* Get the users’s first name */</a:t>
            </a:r>
          </a:p>
          <a:p>
            <a:pPr eaLnBrk="1" hangingPunct="1"/>
            <a:r>
              <a:rPr lang="tr-TR" altLang="tr-TR"/>
              <a:t>	printf(“ What is your first name? ”);</a:t>
            </a:r>
          </a:p>
          <a:p>
            <a:pPr eaLnBrk="1" hangingPunct="1"/>
            <a:r>
              <a:rPr lang="tr-TR" altLang="tr-TR"/>
              <a:t>	scanf(“ %s”, name);		// Get user’s name</a:t>
            </a:r>
          </a:p>
          <a:p>
            <a:pPr eaLnBrk="1" hangingPunct="1"/>
            <a:endParaRPr lang="tr-TR" altLang="tr-TR"/>
          </a:p>
          <a:p>
            <a:pPr eaLnBrk="1" hangingPunct="1"/>
            <a:r>
              <a:rPr lang="tr-TR" altLang="tr-TR"/>
              <a:t>	While(name[count]&gt;0)  // loop until null zero reached</a:t>
            </a:r>
          </a:p>
          <a:p>
            <a:pPr eaLnBrk="1" hangingPunct="1"/>
            <a:r>
              <a:rPr lang="tr-TR" altLang="tr-TR"/>
              <a:t>	{</a:t>
            </a:r>
          </a:p>
          <a:p>
            <a:pPr eaLnBrk="1" hangingPunct="1"/>
            <a:r>
              <a:rPr lang="tr-TR" altLang="tr-TR"/>
              <a:t>	count++;</a:t>
            </a:r>
          </a:p>
          <a:p>
            <a:pPr eaLnBrk="1" hangingPunct="1"/>
            <a:r>
              <a:rPr lang="tr-TR" altLang="tr-TR"/>
              <a:t>	}</a:t>
            </a:r>
          </a:p>
          <a:p>
            <a:pPr eaLnBrk="1" hangingPunct="1"/>
            <a:r>
              <a:rPr lang="tr-TR" altLang="tr-TR"/>
              <a:t>	printf(“ Your name has %d characters ”, count) </a:t>
            </a:r>
            <a:br>
              <a:rPr lang="tr-TR" altLang="tr-TR"/>
            </a:br>
            <a:r>
              <a:rPr lang="tr-TR" altLang="tr-TR"/>
              <a:t>return 0;</a:t>
            </a:r>
          </a:p>
          <a:p>
            <a:pPr eaLnBrk="1" hangingPunct="1"/>
            <a:r>
              <a:rPr lang="tr-TR" altLang="tr-TR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19527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Mantıksal İşleçler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1450" lvl="1">
              <a:spcBef>
                <a:spcPts val="750"/>
              </a:spcBef>
            </a:pPr>
            <a:r>
              <a:rPr lang="tr-TR" altLang="tr-TR" sz="2400" dirty="0">
                <a:solidFill>
                  <a:srgbClr val="000000"/>
                </a:solidFill>
                <a:ea typeface="Verdana" panose="020B0604030504040204" pitchFamily="34" charset="0"/>
              </a:rPr>
              <a:t>Koşul ifadeleri içerisinde kullanılırlar</a:t>
            </a:r>
            <a:r>
              <a:rPr lang="tr-TR" altLang="tr-TR" sz="2400" dirty="0" smtClean="0">
                <a:solidFill>
                  <a:srgbClr val="000000"/>
                </a:solidFill>
                <a:ea typeface="Verdana" panose="020B0604030504040204" pitchFamily="34" charset="0"/>
              </a:rPr>
              <a:t>.</a:t>
            </a:r>
          </a:p>
          <a:p>
            <a:pPr marL="514350" lvl="2">
              <a:spcBef>
                <a:spcPts val="750"/>
              </a:spcBef>
            </a:pPr>
            <a:r>
              <a:rPr lang="en-US" altLang="tr-TR" sz="21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Verdana" panose="020B0604030504040204" pitchFamily="34" charset="0"/>
              </a:rPr>
              <a:t>&amp;&amp;</a:t>
            </a:r>
            <a:r>
              <a:rPr lang="en-US" altLang="tr-TR" sz="2100" dirty="0">
                <a:solidFill>
                  <a:srgbClr val="000000"/>
                </a:solidFill>
                <a:ea typeface="Verdana" panose="020B0604030504040204" pitchFamily="34" charset="0"/>
              </a:rPr>
              <a:t> </a:t>
            </a:r>
            <a:r>
              <a:rPr lang="en-US" altLang="tr-TR" sz="2100" dirty="0" smtClean="0">
                <a:solidFill>
                  <a:srgbClr val="000000"/>
                </a:solidFill>
                <a:ea typeface="Verdana" panose="020B0604030504040204" pitchFamily="34" charset="0"/>
              </a:rPr>
              <a:t>(</a:t>
            </a:r>
            <a:r>
              <a:rPr lang="tr-TR" altLang="tr-TR" sz="2100" dirty="0" smtClean="0">
                <a:solidFill>
                  <a:srgbClr val="000000"/>
                </a:solidFill>
                <a:ea typeface="Verdana" panose="020B0604030504040204" pitchFamily="34" charset="0"/>
              </a:rPr>
              <a:t>mantıksal</a:t>
            </a:r>
            <a:r>
              <a:rPr lang="en-US" altLang="tr-TR" sz="2100" dirty="0" smtClean="0">
                <a:solidFill>
                  <a:srgbClr val="000000"/>
                </a:solidFill>
                <a:ea typeface="Verdana" panose="020B0604030504040204" pitchFamily="34" charset="0"/>
              </a:rPr>
              <a:t> </a:t>
            </a:r>
            <a:r>
              <a:rPr lang="en-US" altLang="tr-TR" sz="21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Verdana" panose="020B0604030504040204" pitchFamily="34" charset="0"/>
              </a:rPr>
              <a:t>AND</a:t>
            </a:r>
            <a:r>
              <a:rPr lang="en-US" altLang="tr-TR" sz="2100" dirty="0">
                <a:solidFill>
                  <a:srgbClr val="000000"/>
                </a:solidFill>
                <a:ea typeface="Verdana" panose="020B0604030504040204" pitchFamily="34" charset="0"/>
              </a:rPr>
              <a:t>)</a:t>
            </a:r>
          </a:p>
          <a:p>
            <a:pPr marL="514350" lvl="2">
              <a:spcBef>
                <a:spcPts val="750"/>
              </a:spcBef>
            </a:pPr>
            <a:r>
              <a:rPr lang="en-US" altLang="tr-TR" sz="21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Verdana" panose="020B0604030504040204" pitchFamily="34" charset="0"/>
              </a:rPr>
              <a:t>||</a:t>
            </a:r>
            <a:r>
              <a:rPr lang="en-US" altLang="tr-TR" sz="2100" dirty="0">
                <a:solidFill>
                  <a:srgbClr val="000000"/>
                </a:solidFill>
                <a:ea typeface="Verdana" panose="020B0604030504040204" pitchFamily="34" charset="0"/>
              </a:rPr>
              <a:t> </a:t>
            </a:r>
            <a:r>
              <a:rPr lang="en-US" altLang="tr-TR" sz="2100" dirty="0" smtClean="0">
                <a:solidFill>
                  <a:srgbClr val="000000"/>
                </a:solidFill>
                <a:ea typeface="Verdana" panose="020B0604030504040204" pitchFamily="34" charset="0"/>
              </a:rPr>
              <a:t>(</a:t>
            </a:r>
            <a:r>
              <a:rPr lang="tr-TR" altLang="tr-TR" sz="2100" dirty="0">
                <a:solidFill>
                  <a:srgbClr val="000000"/>
                </a:solidFill>
                <a:ea typeface="Verdana" panose="020B0604030504040204" pitchFamily="34" charset="0"/>
              </a:rPr>
              <a:t>mantıksal</a:t>
            </a:r>
            <a:r>
              <a:rPr lang="en-US" altLang="tr-TR" sz="2100" dirty="0" smtClean="0">
                <a:solidFill>
                  <a:srgbClr val="000000"/>
                </a:solidFill>
                <a:ea typeface="Verdana" panose="020B0604030504040204" pitchFamily="34" charset="0"/>
              </a:rPr>
              <a:t> </a:t>
            </a:r>
            <a:r>
              <a:rPr lang="en-US" altLang="tr-TR" sz="21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Verdana" panose="020B0604030504040204" pitchFamily="34" charset="0"/>
              </a:rPr>
              <a:t>OR</a:t>
            </a:r>
            <a:r>
              <a:rPr lang="en-US" altLang="tr-TR" sz="2100" dirty="0" smtClean="0">
                <a:solidFill>
                  <a:srgbClr val="000000"/>
                </a:solidFill>
                <a:ea typeface="Verdana" panose="020B0604030504040204" pitchFamily="34" charset="0"/>
              </a:rPr>
              <a:t>)</a:t>
            </a:r>
            <a:endParaRPr lang="tr-TR" altLang="tr-TR" sz="2100" dirty="0" smtClean="0">
              <a:solidFill>
                <a:srgbClr val="000000"/>
              </a:solidFill>
              <a:ea typeface="Verdana" panose="020B0604030504040204" pitchFamily="34" charset="0"/>
            </a:endParaRPr>
          </a:p>
          <a:p>
            <a:pPr marL="514350" lvl="2">
              <a:spcBef>
                <a:spcPts val="750"/>
              </a:spcBef>
            </a:pPr>
            <a:r>
              <a:rPr lang="en-US" altLang="tr-TR" sz="21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Verdana" panose="020B0604030504040204" pitchFamily="34" charset="0"/>
              </a:rPr>
              <a:t>!</a:t>
            </a:r>
            <a:r>
              <a:rPr lang="en-US" altLang="tr-TR" sz="2100" dirty="0">
                <a:solidFill>
                  <a:srgbClr val="000000"/>
                </a:solidFill>
                <a:ea typeface="Verdana" panose="020B0604030504040204" pitchFamily="34" charset="0"/>
              </a:rPr>
              <a:t> </a:t>
            </a:r>
            <a:r>
              <a:rPr lang="en-US" altLang="tr-TR" sz="2100" dirty="0" smtClean="0">
                <a:solidFill>
                  <a:srgbClr val="000000"/>
                </a:solidFill>
                <a:ea typeface="Verdana" panose="020B0604030504040204" pitchFamily="34" charset="0"/>
              </a:rPr>
              <a:t>(</a:t>
            </a:r>
            <a:r>
              <a:rPr lang="tr-TR" altLang="tr-TR" sz="2100" dirty="0">
                <a:solidFill>
                  <a:srgbClr val="000000"/>
                </a:solidFill>
                <a:ea typeface="Verdana" panose="020B0604030504040204" pitchFamily="34" charset="0"/>
              </a:rPr>
              <a:t>mantıksal</a:t>
            </a:r>
            <a:r>
              <a:rPr lang="en-US" altLang="tr-TR" sz="2100" dirty="0" smtClean="0">
                <a:solidFill>
                  <a:srgbClr val="000000"/>
                </a:solidFill>
                <a:ea typeface="Verdana" panose="020B0604030504040204" pitchFamily="34" charset="0"/>
              </a:rPr>
              <a:t> </a:t>
            </a:r>
            <a:r>
              <a:rPr lang="en-US" altLang="tr-TR" sz="21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Verdana" panose="020B0604030504040204" pitchFamily="34" charset="0"/>
              </a:rPr>
              <a:t>NOT</a:t>
            </a:r>
            <a:r>
              <a:rPr lang="tr-TR" altLang="tr-TR" sz="2100" b="1" dirty="0">
                <a:solidFill>
                  <a:srgbClr val="000000"/>
                </a:solidFill>
                <a:ea typeface="Verdana" panose="020B0604030504040204" pitchFamily="34" charset="0"/>
              </a:rPr>
              <a:t>)</a:t>
            </a:r>
          </a:p>
          <a:p>
            <a:pPr marL="171450" lvl="1">
              <a:spcBef>
                <a:spcPts val="750"/>
              </a:spcBef>
            </a:pPr>
            <a:endParaRPr lang="en-US" altLang="tr-TR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171450" lvl="1">
              <a:spcBef>
                <a:spcPts val="750"/>
              </a:spcBef>
            </a:pPr>
            <a:endParaRPr lang="tr-TR" altLang="tr-T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924944"/>
            <a:ext cx="3295650" cy="1104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127109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err="1"/>
              <a:t>c</a:t>
            </a:r>
            <a:r>
              <a:rPr lang="tr-TR" b="1" dirty="0" err="1" smtClean="0"/>
              <a:t>ontinue</a:t>
            </a:r>
            <a:r>
              <a:rPr lang="tr-TR" b="1" dirty="0" smtClean="0"/>
              <a:t> </a:t>
            </a:r>
            <a:r>
              <a:rPr lang="tr-TR" dirty="0" smtClean="0"/>
              <a:t>ve </a:t>
            </a:r>
            <a:r>
              <a:rPr lang="tr-TR" b="1" dirty="0" smtClean="0"/>
              <a:t>break</a:t>
            </a:r>
            <a:r>
              <a:rPr lang="tr-TR" dirty="0" smtClean="0"/>
              <a:t> ifadeleri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79512" y="1020208"/>
            <a:ext cx="5507736" cy="5011983"/>
          </a:xfrm>
        </p:spPr>
        <p:txBody>
          <a:bodyPr/>
          <a:lstStyle/>
          <a:p>
            <a:r>
              <a:rPr lang="en-US" altLang="tr-TR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continue</a:t>
            </a:r>
            <a:r>
              <a:rPr lang="en-US" altLang="tr-TR" dirty="0" smtClean="0">
                <a:solidFill>
                  <a:srgbClr val="000000"/>
                </a:solidFill>
              </a:rPr>
              <a:t> </a:t>
            </a:r>
            <a:r>
              <a:rPr lang="tr-TR" altLang="tr-TR" dirty="0" smtClean="0">
                <a:solidFill>
                  <a:srgbClr val="000000"/>
                </a:solidFill>
              </a:rPr>
              <a:t>ifadesi</a:t>
            </a:r>
          </a:p>
          <a:p>
            <a:pPr lvl="1"/>
            <a:r>
              <a:rPr lang="en-US" altLang="tr-TR" sz="20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</a:t>
            </a:r>
            <a:r>
              <a:rPr lang="en-US" altLang="tr-TR" sz="2000" dirty="0">
                <a:solidFill>
                  <a:srgbClr val="000000"/>
                </a:solidFill>
              </a:rPr>
              <a:t>, </a:t>
            </a:r>
            <a:r>
              <a:rPr lang="en-US" altLang="tr-T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altLang="tr-TR" sz="2000" dirty="0">
                <a:solidFill>
                  <a:srgbClr val="000000"/>
                </a:solidFill>
              </a:rPr>
              <a:t>, </a:t>
            </a:r>
            <a:r>
              <a:rPr lang="en-US" altLang="tr-T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do/while</a:t>
            </a:r>
            <a:endParaRPr lang="tr-TR" altLang="tr-TR" sz="2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tr-TR" altLang="tr-TR" sz="2000" dirty="0" smtClean="0">
                <a:solidFill>
                  <a:srgbClr val="000000"/>
                </a:solidFill>
              </a:rPr>
              <a:t>Döngünün </a:t>
            </a:r>
            <a:r>
              <a:rPr lang="tr-TR" altLang="tr-TR" sz="2000" dirty="0">
                <a:solidFill>
                  <a:srgbClr val="000000"/>
                </a:solidFill>
              </a:rPr>
              <a:t>kalanı </a:t>
            </a:r>
            <a:r>
              <a:rPr lang="tr-TR" altLang="tr-TR" sz="2000" dirty="0" smtClean="0">
                <a:solidFill>
                  <a:srgbClr val="000000"/>
                </a:solidFill>
              </a:rPr>
              <a:t>atlanır</a:t>
            </a:r>
          </a:p>
          <a:p>
            <a:pPr lvl="2"/>
            <a:r>
              <a:rPr lang="tr-TR" altLang="tr-TR" sz="2000" dirty="0" smtClean="0">
                <a:solidFill>
                  <a:srgbClr val="000000"/>
                </a:solidFill>
              </a:rPr>
              <a:t>Bir </a:t>
            </a:r>
            <a:r>
              <a:rPr lang="tr-TR" altLang="tr-TR" sz="2000" dirty="0">
                <a:solidFill>
                  <a:srgbClr val="000000"/>
                </a:solidFill>
              </a:rPr>
              <a:t>sonraki </a:t>
            </a:r>
            <a:r>
              <a:rPr lang="tr-TR" altLang="tr-TR" sz="2000" dirty="0" err="1">
                <a:solidFill>
                  <a:srgbClr val="000000"/>
                </a:solidFill>
              </a:rPr>
              <a:t>iterasyona</a:t>
            </a:r>
            <a:r>
              <a:rPr lang="tr-TR" altLang="tr-TR" sz="2000" dirty="0">
                <a:solidFill>
                  <a:srgbClr val="000000"/>
                </a:solidFill>
              </a:rPr>
              <a:t> </a:t>
            </a:r>
            <a:r>
              <a:rPr lang="tr-TR" altLang="tr-TR" sz="2000" dirty="0" smtClean="0">
                <a:solidFill>
                  <a:srgbClr val="000000"/>
                </a:solidFill>
              </a:rPr>
              <a:t>geçilir</a:t>
            </a:r>
          </a:p>
          <a:p>
            <a:pPr lvl="1"/>
            <a:r>
              <a:rPr lang="en-US" altLang="tr-TR" sz="20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altLang="tr-TR" sz="2000" dirty="0" smtClean="0">
                <a:solidFill>
                  <a:srgbClr val="000000"/>
                </a:solidFill>
              </a:rPr>
              <a:t> </a:t>
            </a:r>
            <a:endParaRPr lang="tr-TR" altLang="tr-TR" sz="2000" dirty="0" smtClean="0">
              <a:solidFill>
                <a:srgbClr val="000000"/>
              </a:solidFill>
            </a:endParaRPr>
          </a:p>
          <a:p>
            <a:pPr lvl="2"/>
            <a:r>
              <a:rPr lang="en-US" altLang="tr-TR" sz="20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continue</a:t>
            </a:r>
            <a:r>
              <a:rPr lang="en-US" altLang="tr-TR" sz="2000" dirty="0" smtClean="0">
                <a:solidFill>
                  <a:srgbClr val="000000"/>
                </a:solidFill>
              </a:rPr>
              <a:t> </a:t>
            </a:r>
            <a:r>
              <a:rPr lang="tr-TR" altLang="tr-TR" sz="2000" dirty="0" smtClean="0">
                <a:solidFill>
                  <a:srgbClr val="000000"/>
                </a:solidFill>
              </a:rPr>
              <a:t>ifadesinden sonra artırım ifadesi çalıştırılır.</a:t>
            </a:r>
          </a:p>
          <a:p>
            <a:pPr lvl="1"/>
            <a:r>
              <a:rPr lang="tr-TR" altLang="tr-TR" sz="20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</a:t>
            </a:r>
            <a:r>
              <a:rPr lang="en-US" altLang="tr-TR" sz="20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hil</a:t>
            </a:r>
            <a:r>
              <a:rPr lang="tr-TR" altLang="tr-T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  <a:r>
              <a:rPr lang="tr-TR" altLang="tr-TR" sz="2000" b="1" dirty="0">
                <a:solidFill>
                  <a:srgbClr val="000000"/>
                </a:solidFill>
              </a:rPr>
              <a:t>,</a:t>
            </a:r>
            <a:r>
              <a:rPr lang="tr-TR" altLang="tr-TR" sz="2000" dirty="0">
                <a:solidFill>
                  <a:srgbClr val="000000"/>
                </a:solidFill>
              </a:rPr>
              <a:t> </a:t>
            </a:r>
            <a:r>
              <a:rPr lang="en-US" altLang="tr-T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do/while</a:t>
            </a:r>
            <a:endParaRPr lang="tr-TR" altLang="tr-TR" sz="2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en-US" altLang="tr-T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continue</a:t>
            </a:r>
            <a:r>
              <a:rPr lang="en-US" altLang="tr-TR" sz="2000" dirty="0" smtClean="0">
                <a:solidFill>
                  <a:srgbClr val="000000"/>
                </a:solidFill>
              </a:rPr>
              <a:t> </a:t>
            </a:r>
            <a:r>
              <a:rPr lang="tr-TR" altLang="tr-TR" sz="2000" dirty="0">
                <a:solidFill>
                  <a:srgbClr val="000000"/>
                </a:solidFill>
              </a:rPr>
              <a:t>ifadesinden sonra koşul testine </a:t>
            </a:r>
            <a:r>
              <a:rPr lang="tr-TR" altLang="tr-TR" sz="2000" dirty="0" smtClean="0">
                <a:solidFill>
                  <a:srgbClr val="000000"/>
                </a:solidFill>
              </a:rPr>
              <a:t>gidilir.</a:t>
            </a:r>
          </a:p>
          <a:p>
            <a:pPr lvl="1"/>
            <a:r>
              <a:rPr lang="tr-TR" altLang="tr-T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break</a:t>
            </a:r>
            <a:r>
              <a:rPr lang="tr-TR" altLang="tr-TR" sz="2300" dirty="0" smtClean="0">
                <a:solidFill>
                  <a:srgbClr val="000000"/>
                </a:solidFill>
              </a:rPr>
              <a:t> ifadesi</a:t>
            </a:r>
          </a:p>
          <a:p>
            <a:pPr lvl="2"/>
            <a:r>
              <a:rPr lang="tr-TR" altLang="tr-TR" sz="2000" dirty="0" smtClean="0">
                <a:solidFill>
                  <a:srgbClr val="000000"/>
                </a:solidFill>
              </a:rPr>
              <a:t>Döngüden çıkılır</a:t>
            </a:r>
          </a:p>
          <a:p>
            <a:endParaRPr lang="tr-TR" sz="2000" dirty="0"/>
          </a:p>
        </p:txBody>
      </p:sp>
      <p:grpSp>
        <p:nvGrpSpPr>
          <p:cNvPr id="73" name="Grup 72"/>
          <p:cNvGrpSpPr/>
          <p:nvPr/>
        </p:nvGrpSpPr>
        <p:grpSpPr>
          <a:xfrm>
            <a:off x="5102183" y="1268760"/>
            <a:ext cx="3790297" cy="3599690"/>
            <a:chOff x="5004048" y="1484784"/>
            <a:chExt cx="3790297" cy="3599690"/>
          </a:xfrm>
        </p:grpSpPr>
        <p:grpSp>
          <p:nvGrpSpPr>
            <p:cNvPr id="19" name="Grup 18"/>
            <p:cNvGrpSpPr/>
            <p:nvPr/>
          </p:nvGrpSpPr>
          <p:grpSpPr>
            <a:xfrm>
              <a:off x="5004048" y="1484784"/>
              <a:ext cx="3781312" cy="3599690"/>
              <a:chOff x="3168017" y="3573607"/>
              <a:chExt cx="3781312" cy="3599690"/>
            </a:xfrm>
          </p:grpSpPr>
          <p:grpSp>
            <p:nvGrpSpPr>
              <p:cNvPr id="20" name="Grup 19"/>
              <p:cNvGrpSpPr/>
              <p:nvPr/>
            </p:nvGrpSpPr>
            <p:grpSpPr>
              <a:xfrm>
                <a:off x="3168017" y="3573607"/>
                <a:ext cx="3781312" cy="3599690"/>
                <a:chOff x="5554693" y="2994464"/>
                <a:chExt cx="3781312" cy="3599690"/>
              </a:xfrm>
            </p:grpSpPr>
            <p:sp>
              <p:nvSpPr>
                <p:cNvPr id="22" name="Metin kutusu 21"/>
                <p:cNvSpPr txBox="1"/>
                <p:nvPr/>
              </p:nvSpPr>
              <p:spPr>
                <a:xfrm>
                  <a:off x="8860462" y="4311299"/>
                  <a:ext cx="475543" cy="323165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ctr"/>
                  <a:r>
                    <a:rPr lang="tr-TR" sz="1500" dirty="0" smtClean="0">
                      <a:solidFill>
                        <a:schemeClr val="accent6">
                          <a:lumMod val="50000"/>
                        </a:schemeClr>
                      </a:solidFill>
                    </a:rPr>
                    <a:t>var</a:t>
                  </a:r>
                  <a:endParaRPr lang="tr-TR" sz="1500" dirty="0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  <p:grpSp>
              <p:nvGrpSpPr>
                <p:cNvPr id="27" name="Group 17"/>
                <p:cNvGrpSpPr>
                  <a:grpSpLocks/>
                </p:cNvGrpSpPr>
                <p:nvPr/>
              </p:nvGrpSpPr>
              <p:grpSpPr bwMode="auto">
                <a:xfrm>
                  <a:off x="5554693" y="2994464"/>
                  <a:ext cx="1583650" cy="3599690"/>
                  <a:chOff x="2214" y="1502"/>
                  <a:chExt cx="771" cy="2338"/>
                </a:xfrm>
              </p:grpSpPr>
              <p:sp>
                <p:nvSpPr>
                  <p:cNvPr id="30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2214" y="1920"/>
                    <a:ext cx="771" cy="236"/>
                  </a:xfrm>
                  <a:prstGeom prst="flowChartPreparation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rgbClr val="002060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anchor="ctr"/>
                  <a:lstStyle/>
                  <a:p>
                    <a:pPr algn="ctr"/>
                    <a:r>
                      <a:rPr lang="tr-TR" altLang="tr-TR" sz="1600" dirty="0">
                        <a:solidFill>
                          <a:srgbClr val="002060"/>
                        </a:solidFill>
                      </a:rPr>
                      <a:t>d</a:t>
                    </a:r>
                    <a:r>
                      <a:rPr lang="tr-TR" altLang="tr-TR" sz="1600" dirty="0" smtClean="0">
                        <a:solidFill>
                          <a:srgbClr val="002060"/>
                        </a:solidFill>
                        <a:latin typeface="+mn-lt"/>
                        <a:cs typeface="+mn-cs"/>
                      </a:rPr>
                      <a:t>öngü şartı</a:t>
                    </a:r>
                    <a:endParaRPr lang="en-AU" altLang="tr-TR" sz="1600" dirty="0">
                      <a:solidFill>
                        <a:srgbClr val="002060"/>
                      </a:solidFill>
                      <a:latin typeface="+mn-lt"/>
                      <a:cs typeface="+mn-cs"/>
                    </a:endParaRPr>
                  </a:p>
                </p:txBody>
              </p:sp>
              <p:sp>
                <p:nvSpPr>
                  <p:cNvPr id="31" name="Oval 21"/>
                  <p:cNvSpPr>
                    <a:spLocks noChangeArrowheads="1"/>
                  </p:cNvSpPr>
                  <p:nvPr/>
                </p:nvSpPr>
                <p:spPr bwMode="auto">
                  <a:xfrm>
                    <a:off x="2500" y="1502"/>
                    <a:ext cx="186" cy="186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rgbClr val="002060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lang="tr-TR">
                      <a:solidFill>
                        <a:srgbClr val="002060"/>
                      </a:solidFill>
                      <a:latin typeface="+mn-lt"/>
                      <a:cs typeface="+mn-cs"/>
                    </a:endParaRPr>
                  </a:p>
                </p:txBody>
              </p:sp>
              <p:sp>
                <p:nvSpPr>
                  <p:cNvPr id="32" name="Oval 22"/>
                  <p:cNvSpPr>
                    <a:spLocks noChangeArrowheads="1"/>
                  </p:cNvSpPr>
                  <p:nvPr/>
                </p:nvSpPr>
                <p:spPr bwMode="auto">
                  <a:xfrm>
                    <a:off x="2500" y="3654"/>
                    <a:ext cx="186" cy="186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rgbClr val="002060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 lang="tr-TR">
                      <a:solidFill>
                        <a:srgbClr val="002060"/>
                      </a:solidFill>
                      <a:latin typeface="+mn-lt"/>
                      <a:cs typeface="+mn-cs"/>
                    </a:endParaRPr>
                  </a:p>
                </p:txBody>
              </p:sp>
              <p:cxnSp>
                <p:nvCxnSpPr>
                  <p:cNvPr id="33" name="AutoShape 23"/>
                  <p:cNvCxnSpPr>
                    <a:cxnSpLocks noChangeShapeType="1"/>
                    <a:stCxn id="30" idx="2"/>
                    <a:endCxn id="32" idx="0"/>
                  </p:cNvCxnSpPr>
                  <p:nvPr/>
                </p:nvCxnSpPr>
                <p:spPr bwMode="auto">
                  <a:xfrm flipH="1">
                    <a:off x="2593" y="2156"/>
                    <a:ext cx="6" cy="1498"/>
                  </a:xfrm>
                  <a:prstGeom prst="straightConnector1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19050">
                    <a:solidFill>
                      <a:srgbClr val="002060"/>
                    </a:solidFill>
                    <a:headEnd type="none" w="med" len="med"/>
                    <a:tailEnd type="triangle" w="med" len="med"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  <p:cxnSp>
            <p:nvCxnSpPr>
              <p:cNvPr id="21" name="AutoShape 23"/>
              <p:cNvCxnSpPr>
                <a:cxnSpLocks noChangeShapeType="1"/>
                <a:stCxn id="31" idx="4"/>
              </p:cNvCxnSpPr>
              <p:nvPr/>
            </p:nvCxnSpPr>
            <p:spPr bwMode="auto">
              <a:xfrm>
                <a:off x="3946491" y="3859981"/>
                <a:ext cx="3081" cy="357198"/>
              </a:xfrm>
              <a:prstGeom prst="straightConnector1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rgbClr val="002060"/>
                </a:solidFill>
                <a:headEnd type="none" w="med" len="med"/>
                <a:tailEnd type="triangl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34" name="AutoShape 23"/>
            <p:cNvCxnSpPr>
              <a:cxnSpLocks noChangeShapeType="1"/>
              <a:stCxn id="30" idx="3"/>
              <a:endCxn id="37" idx="1"/>
            </p:cNvCxnSpPr>
            <p:nvPr/>
          </p:nvCxnSpPr>
          <p:spPr bwMode="auto">
            <a:xfrm>
              <a:off x="6587698" y="2310034"/>
              <a:ext cx="504872" cy="1184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7" name="Rectangle 20"/>
            <p:cNvSpPr>
              <a:spLocks noChangeArrowheads="1"/>
            </p:cNvSpPr>
            <p:nvPr/>
          </p:nvSpPr>
          <p:spPr bwMode="auto">
            <a:xfrm>
              <a:off x="7092570" y="2129540"/>
              <a:ext cx="935578" cy="36335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/>
              <a:r>
                <a:rPr lang="tr-TR" altLang="tr-TR" sz="1600" dirty="0" smtClean="0">
                  <a:solidFill>
                    <a:srgbClr val="002060"/>
                  </a:solidFill>
                </a:rPr>
                <a:t>işlemler</a:t>
              </a:r>
              <a:endParaRPr lang="en-AU" altLang="tr-TR" sz="1600" dirty="0">
                <a:solidFill>
                  <a:srgbClr val="002060"/>
                </a:solidFill>
                <a:latin typeface="+mn-lt"/>
                <a:cs typeface="+mn-cs"/>
              </a:endParaRPr>
            </a:p>
          </p:txBody>
        </p:sp>
        <p:sp>
          <p:nvSpPr>
            <p:cNvPr id="38" name="AutoShape 18"/>
            <p:cNvSpPr>
              <a:spLocks noChangeArrowheads="1"/>
            </p:cNvSpPr>
            <p:nvPr/>
          </p:nvSpPr>
          <p:spPr bwMode="auto">
            <a:xfrm>
              <a:off x="6697168" y="2714155"/>
              <a:ext cx="1728192" cy="719713"/>
            </a:xfrm>
            <a:prstGeom prst="flowChartDecision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algn="ctr"/>
              <a:r>
                <a:rPr lang="tr-TR" altLang="tr-TR" sz="1600" b="1" dirty="0" err="1">
                  <a:solidFill>
                    <a:schemeClr val="accent6">
                      <a:lumMod val="50000"/>
                    </a:schemeClr>
                  </a:solidFill>
                </a:rPr>
                <a:t>c</a:t>
              </a:r>
              <a:r>
                <a:rPr lang="tr-TR" altLang="tr-TR" sz="1600" b="1" dirty="0" err="1" smtClean="0">
                  <a:solidFill>
                    <a:schemeClr val="accent6">
                      <a:lumMod val="50000"/>
                    </a:schemeClr>
                  </a:solidFill>
                </a:rPr>
                <a:t>ontinue</a:t>
              </a:r>
              <a:r>
                <a:rPr lang="tr-TR" altLang="tr-TR" sz="1600" dirty="0" smtClean="0">
                  <a:solidFill>
                    <a:schemeClr val="accent6">
                      <a:lumMod val="50000"/>
                    </a:schemeClr>
                  </a:solidFill>
                  <a:latin typeface="+mn-lt"/>
                  <a:cs typeface="+mn-cs"/>
                </a:rPr>
                <a:t> var mı?</a:t>
              </a:r>
              <a:endParaRPr lang="tr-TR" altLang="tr-TR" sz="1600" dirty="0">
                <a:solidFill>
                  <a:schemeClr val="accent6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  <p:cxnSp>
          <p:nvCxnSpPr>
            <p:cNvPr id="39" name="AutoShape 23"/>
            <p:cNvCxnSpPr>
              <a:cxnSpLocks noChangeShapeType="1"/>
              <a:stCxn id="37" idx="2"/>
              <a:endCxn id="38" idx="0"/>
            </p:cNvCxnSpPr>
            <p:nvPr/>
          </p:nvCxnSpPr>
          <p:spPr bwMode="auto">
            <a:xfrm>
              <a:off x="7560359" y="2492896"/>
              <a:ext cx="905" cy="221259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6" name="AutoShape 23"/>
            <p:cNvCxnSpPr>
              <a:cxnSpLocks noChangeShapeType="1"/>
            </p:cNvCxnSpPr>
            <p:nvPr/>
          </p:nvCxnSpPr>
          <p:spPr bwMode="auto">
            <a:xfrm>
              <a:off x="8050758" y="2308850"/>
              <a:ext cx="734602" cy="1184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8" name="AutoShape 23"/>
            <p:cNvCxnSpPr>
              <a:cxnSpLocks noChangeShapeType="1"/>
              <a:stCxn id="38" idx="3"/>
            </p:cNvCxnSpPr>
            <p:nvPr/>
          </p:nvCxnSpPr>
          <p:spPr bwMode="auto">
            <a:xfrm>
              <a:off x="8425360" y="3074012"/>
              <a:ext cx="360000" cy="0"/>
            </a:xfrm>
            <a:prstGeom prst="straightConnector1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3" name="AutoShape 18"/>
            <p:cNvSpPr>
              <a:spLocks noChangeArrowheads="1"/>
            </p:cNvSpPr>
            <p:nvPr/>
          </p:nvSpPr>
          <p:spPr bwMode="auto">
            <a:xfrm>
              <a:off x="6706153" y="3861415"/>
              <a:ext cx="1728192" cy="719713"/>
            </a:xfrm>
            <a:prstGeom prst="flowChartDecision">
              <a:avLst/>
            </a:prstGeom>
            <a:solidFill>
              <a:srgbClr val="F5DCFA"/>
            </a:solidFill>
            <a:ln w="19050">
              <a:solidFill>
                <a:srgbClr val="7030A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algn="ctr"/>
              <a:r>
                <a:rPr lang="tr-TR" altLang="tr-TR" sz="1600" b="1" dirty="0" smtClean="0">
                  <a:solidFill>
                    <a:srgbClr val="7030A0"/>
                  </a:solidFill>
                  <a:latin typeface="+mn-lt"/>
                  <a:cs typeface="+mn-cs"/>
                </a:rPr>
                <a:t>break</a:t>
              </a:r>
              <a:r>
                <a:rPr lang="tr-TR" altLang="tr-TR" sz="1600" dirty="0" smtClean="0">
                  <a:solidFill>
                    <a:srgbClr val="7030A0"/>
                  </a:solidFill>
                  <a:latin typeface="+mn-lt"/>
                  <a:cs typeface="+mn-cs"/>
                </a:rPr>
                <a:t> </a:t>
              </a:r>
            </a:p>
            <a:p>
              <a:pPr algn="ctr"/>
              <a:r>
                <a:rPr lang="tr-TR" altLang="tr-TR" sz="1600" dirty="0" smtClean="0">
                  <a:solidFill>
                    <a:srgbClr val="7030A0"/>
                  </a:solidFill>
                  <a:latin typeface="+mn-lt"/>
                  <a:cs typeface="+mn-cs"/>
                </a:rPr>
                <a:t>var mı?</a:t>
              </a:r>
              <a:endParaRPr lang="tr-TR" altLang="tr-TR" sz="1600" dirty="0">
                <a:solidFill>
                  <a:srgbClr val="7030A0"/>
                </a:solidFill>
                <a:latin typeface="+mn-lt"/>
                <a:cs typeface="+mn-cs"/>
              </a:endParaRPr>
            </a:p>
          </p:txBody>
        </p:sp>
        <p:cxnSp>
          <p:nvCxnSpPr>
            <p:cNvPr id="54" name="AutoShape 23"/>
            <p:cNvCxnSpPr>
              <a:cxnSpLocks noChangeShapeType="1"/>
              <a:stCxn id="38" idx="2"/>
              <a:endCxn id="53" idx="0"/>
            </p:cNvCxnSpPr>
            <p:nvPr/>
          </p:nvCxnSpPr>
          <p:spPr bwMode="auto">
            <a:xfrm>
              <a:off x="7561264" y="3433868"/>
              <a:ext cx="8985" cy="427547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6">
                  <a:lumMod val="50000"/>
                </a:schemeClr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8" name="Metin kutusu 57"/>
            <p:cNvSpPr txBox="1"/>
            <p:nvPr/>
          </p:nvSpPr>
          <p:spPr>
            <a:xfrm>
              <a:off x="8316416" y="3933057"/>
              <a:ext cx="453115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tr-TR" sz="1500" dirty="0" smtClean="0">
                  <a:solidFill>
                    <a:srgbClr val="7030A0"/>
                  </a:solidFill>
                </a:rPr>
                <a:t>yok</a:t>
              </a:r>
              <a:endParaRPr lang="tr-TR" sz="1500" dirty="0">
                <a:solidFill>
                  <a:srgbClr val="7030A0"/>
                </a:solidFill>
              </a:endParaRPr>
            </a:p>
          </p:txBody>
        </p:sp>
        <p:cxnSp>
          <p:nvCxnSpPr>
            <p:cNvPr id="55" name="AutoShape 23"/>
            <p:cNvCxnSpPr>
              <a:cxnSpLocks noChangeShapeType="1"/>
              <a:stCxn id="53" idx="3"/>
            </p:cNvCxnSpPr>
            <p:nvPr/>
          </p:nvCxnSpPr>
          <p:spPr bwMode="auto">
            <a:xfrm>
              <a:off x="8434345" y="4221272"/>
              <a:ext cx="360000" cy="0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7030A0"/>
              </a:solidFill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6" name="Metin kutusu 55"/>
            <p:cNvSpPr txBox="1"/>
            <p:nvPr/>
          </p:nvSpPr>
          <p:spPr>
            <a:xfrm>
              <a:off x="7524328" y="3465875"/>
              <a:ext cx="475543" cy="32316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tr-TR" sz="1500" dirty="0" smtClean="0">
                  <a:solidFill>
                    <a:srgbClr val="7030A0"/>
                  </a:solidFill>
                </a:rPr>
                <a:t>yok</a:t>
              </a:r>
              <a:endParaRPr lang="tr-TR" sz="1500" dirty="0">
                <a:solidFill>
                  <a:srgbClr val="7030A0"/>
                </a:solidFill>
              </a:endParaRPr>
            </a:p>
          </p:txBody>
        </p:sp>
        <p:sp>
          <p:nvSpPr>
            <p:cNvPr id="59" name="Metin kutusu 58"/>
            <p:cNvSpPr txBox="1"/>
            <p:nvPr/>
          </p:nvSpPr>
          <p:spPr>
            <a:xfrm>
              <a:off x="7487156" y="4554704"/>
              <a:ext cx="475543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tr-TR" sz="1500" dirty="0" smtClean="0">
                  <a:solidFill>
                    <a:srgbClr val="7030A0"/>
                  </a:solidFill>
                </a:rPr>
                <a:t>var</a:t>
              </a:r>
              <a:endParaRPr lang="tr-TR" sz="1500" dirty="0">
                <a:solidFill>
                  <a:srgbClr val="7030A0"/>
                </a:solidFill>
              </a:endParaRPr>
            </a:p>
          </p:txBody>
        </p:sp>
        <p:cxnSp>
          <p:nvCxnSpPr>
            <p:cNvPr id="61" name="Dirsek Bağlayıcısı 60"/>
            <p:cNvCxnSpPr>
              <a:stCxn id="53" idx="2"/>
              <a:endCxn id="32" idx="6"/>
            </p:cNvCxnSpPr>
            <p:nvPr/>
          </p:nvCxnSpPr>
          <p:spPr>
            <a:xfrm rot="5400000">
              <a:off x="6591819" y="3962856"/>
              <a:ext cx="360159" cy="1596703"/>
            </a:xfrm>
            <a:prstGeom prst="bentConnector2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7030A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4" name="Metin kutusu 63"/>
            <p:cNvSpPr txBox="1"/>
            <p:nvPr/>
          </p:nvSpPr>
          <p:spPr>
            <a:xfrm>
              <a:off x="6548038" y="2033199"/>
              <a:ext cx="475543" cy="32316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tr-TR" sz="1500" dirty="0" smtClean="0">
                  <a:solidFill>
                    <a:srgbClr val="002060"/>
                  </a:solidFill>
                </a:rPr>
                <a:t>doğru</a:t>
              </a:r>
              <a:endParaRPr lang="tr-TR" sz="1500" dirty="0">
                <a:solidFill>
                  <a:srgbClr val="002060"/>
                </a:solidFill>
              </a:endParaRPr>
            </a:p>
          </p:txBody>
        </p:sp>
        <p:sp>
          <p:nvSpPr>
            <p:cNvPr id="65" name="Metin kutusu 64"/>
            <p:cNvSpPr txBox="1"/>
            <p:nvPr/>
          </p:nvSpPr>
          <p:spPr>
            <a:xfrm>
              <a:off x="5833358" y="2433972"/>
              <a:ext cx="475543" cy="32316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tr-TR" sz="1500" dirty="0" smtClean="0">
                  <a:solidFill>
                    <a:srgbClr val="002060"/>
                  </a:solidFill>
                </a:rPr>
                <a:t>yanlış</a:t>
              </a:r>
              <a:endParaRPr lang="tr-TR" sz="1500" dirty="0">
                <a:solidFill>
                  <a:srgbClr val="002060"/>
                </a:solidFill>
              </a:endParaRPr>
            </a:p>
          </p:txBody>
        </p:sp>
        <p:cxnSp>
          <p:nvCxnSpPr>
            <p:cNvPr id="67" name="Düz Bağlayıcı 66"/>
            <p:cNvCxnSpPr/>
            <p:nvPr/>
          </p:nvCxnSpPr>
          <p:spPr>
            <a:xfrm flipV="1">
              <a:off x="8791959" y="1916832"/>
              <a:ext cx="0" cy="2304440"/>
            </a:xfrm>
            <a:prstGeom prst="lin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AutoShape 23"/>
            <p:cNvCxnSpPr>
              <a:cxnSpLocks noChangeShapeType="1"/>
            </p:cNvCxnSpPr>
            <p:nvPr/>
          </p:nvCxnSpPr>
          <p:spPr bwMode="auto">
            <a:xfrm flipH="1">
              <a:off x="5782522" y="1916832"/>
              <a:ext cx="3009437" cy="0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2617626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err="1"/>
              <a:t>c</a:t>
            </a:r>
            <a:r>
              <a:rPr lang="tr-TR" b="1" dirty="0" err="1" smtClean="0"/>
              <a:t>ontinue</a:t>
            </a:r>
            <a:r>
              <a:rPr lang="tr-TR" b="1" dirty="0" smtClean="0"/>
              <a:t> </a:t>
            </a:r>
            <a:r>
              <a:rPr lang="tr-TR" dirty="0" smtClean="0"/>
              <a:t>ve </a:t>
            </a:r>
            <a:r>
              <a:rPr lang="tr-TR" b="1" dirty="0" smtClean="0"/>
              <a:t>break</a:t>
            </a:r>
            <a:r>
              <a:rPr lang="tr-TR" dirty="0" smtClean="0"/>
              <a:t> ifadeleri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020208"/>
                <a:ext cx="5507736" cy="5011983"/>
              </a:xfrm>
            </p:spPr>
            <p:txBody>
              <a:bodyPr/>
              <a:lstStyle/>
              <a:p>
                <a:r>
                  <a:rPr lang="en-US" altLang="tr-TR" b="1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continue</a:t>
                </a:r>
                <a:r>
                  <a:rPr lang="en-US" altLang="tr-TR" dirty="0" smtClean="0">
                    <a:solidFill>
                      <a:srgbClr val="000000"/>
                    </a:solidFill>
                  </a:rPr>
                  <a:t> </a:t>
                </a:r>
                <a:r>
                  <a:rPr lang="tr-TR" altLang="tr-TR" dirty="0" smtClean="0">
                    <a:solidFill>
                      <a:srgbClr val="000000"/>
                    </a:solidFill>
                  </a:rPr>
                  <a:t>ifadesi</a:t>
                </a:r>
              </a:p>
              <a:p>
                <a:pPr lvl="1"/>
                <a:r>
                  <a:rPr lang="tr-TR" u="sng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Cambria Math" panose="02040503050406030204" pitchFamily="18" charset="0"/>
                  </a:rPr>
                  <a:t>ÖRNEK:</a:t>
                </a:r>
                <a14:m>
                  <m:oMath xmlns:m="http://schemas.openxmlformats.org/officeDocument/2006/math">
                    <m:r>
                      <a:rPr lang="tr-TR">
                        <a:solidFill>
                          <a:srgbClr val="7030A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tr-TR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tr-TR" altLang="tr-TR" dirty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[15]_</a:t>
                </a:r>
                <a:r>
                  <a:rPr lang="tr-TR" altLang="tr-TR" dirty="0" smtClean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continue.cpp</a:t>
                </a:r>
                <a:endParaRPr lang="tr-TR" altLang="tr-TR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" name="İçerik Yer Tutucus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020208"/>
                <a:ext cx="5507736" cy="5011983"/>
              </a:xfrm>
              <a:blipFill>
                <a:blip r:embed="rId2"/>
                <a:stretch>
                  <a:fillRect l="-1549" t="-1823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Resim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844824"/>
            <a:ext cx="5832648" cy="23816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Resim 3"/>
          <p:cNvPicPr>
            <a:picLocks noChangeAspect="1"/>
          </p:cNvPicPr>
          <p:nvPr/>
        </p:nvPicPr>
        <p:blipFill rotWithShape="1">
          <a:blip r:embed="rId4"/>
          <a:srcRect/>
          <a:stretch/>
        </p:blipFill>
        <p:spPr>
          <a:xfrm>
            <a:off x="5879554" y="3645024"/>
            <a:ext cx="2857500" cy="2247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49873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err="1"/>
              <a:t>c</a:t>
            </a:r>
            <a:r>
              <a:rPr lang="tr-TR" b="1" dirty="0" err="1" smtClean="0"/>
              <a:t>ontinue</a:t>
            </a:r>
            <a:r>
              <a:rPr lang="tr-TR" b="1" dirty="0" smtClean="0"/>
              <a:t> </a:t>
            </a:r>
            <a:r>
              <a:rPr lang="tr-TR" dirty="0" smtClean="0"/>
              <a:t>ve </a:t>
            </a:r>
            <a:r>
              <a:rPr lang="tr-TR" b="1" dirty="0" smtClean="0"/>
              <a:t>break</a:t>
            </a:r>
            <a:r>
              <a:rPr lang="tr-TR" dirty="0" smtClean="0"/>
              <a:t> ifadeleri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020208"/>
                <a:ext cx="5507736" cy="5011983"/>
              </a:xfrm>
            </p:spPr>
            <p:txBody>
              <a:bodyPr/>
              <a:lstStyle/>
              <a:p>
                <a:r>
                  <a:rPr lang="tr-TR" altLang="tr-TR" b="1" dirty="0" smtClean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break</a:t>
                </a:r>
                <a:r>
                  <a:rPr lang="en-US" altLang="tr-TR" dirty="0" smtClean="0">
                    <a:solidFill>
                      <a:srgbClr val="000000"/>
                    </a:solidFill>
                  </a:rPr>
                  <a:t> </a:t>
                </a:r>
                <a:r>
                  <a:rPr lang="tr-TR" altLang="tr-TR" dirty="0" smtClean="0">
                    <a:solidFill>
                      <a:srgbClr val="000000"/>
                    </a:solidFill>
                  </a:rPr>
                  <a:t>ifadesi</a:t>
                </a:r>
              </a:p>
              <a:p>
                <a:pPr lvl="1"/>
                <a:r>
                  <a:rPr lang="tr-TR" u="sng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Cambria Math" panose="02040503050406030204" pitchFamily="18" charset="0"/>
                  </a:rPr>
                  <a:t>ÖRNEK:</a:t>
                </a:r>
                <a14:m>
                  <m:oMath xmlns:m="http://schemas.openxmlformats.org/officeDocument/2006/math">
                    <m:r>
                      <a:rPr lang="tr-TR">
                        <a:solidFill>
                          <a:srgbClr val="7030A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tr-TR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tr-TR" altLang="tr-TR" dirty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[</a:t>
                </a:r>
                <a:r>
                  <a:rPr lang="tr-TR" altLang="tr-TR" dirty="0" smtClean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16]_break.cpp</a:t>
                </a:r>
                <a:endParaRPr lang="tr-TR" altLang="tr-TR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" name="İçerik Yer Tutucus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020208"/>
                <a:ext cx="5507736" cy="5011983"/>
              </a:xfrm>
              <a:blipFill>
                <a:blip r:embed="rId2"/>
                <a:stretch>
                  <a:fillRect l="-1549" t="-1823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785323"/>
            <a:ext cx="5832648" cy="23637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248" y="3871754"/>
            <a:ext cx="2828925" cy="12096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97258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err="1"/>
              <a:t>g</a:t>
            </a:r>
            <a:r>
              <a:rPr lang="tr-TR" b="1" dirty="0" err="1" smtClean="0"/>
              <a:t>oto</a:t>
            </a:r>
            <a:r>
              <a:rPr lang="tr-TR" dirty="0" smtClean="0"/>
              <a:t> Deyimi ve Etiket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79512" y="1020208"/>
            <a:ext cx="8964488" cy="5011983"/>
          </a:xfrm>
        </p:spPr>
        <p:txBody>
          <a:bodyPr>
            <a:normAutofit/>
          </a:bodyPr>
          <a:lstStyle/>
          <a:p>
            <a:r>
              <a:rPr lang="tr-TR" altLang="tr-TR" dirty="0" smtClean="0">
                <a:solidFill>
                  <a:srgbClr val="000000"/>
                </a:solidFill>
              </a:rPr>
              <a:t>Bir </a:t>
            </a:r>
            <a:r>
              <a:rPr lang="tr-TR" altLang="tr-TR" dirty="0">
                <a:solidFill>
                  <a:srgbClr val="000000"/>
                </a:solidFill>
              </a:rPr>
              <a:t>programın akışını herhangi bir koşula bağlı olmaksızın değiştirir. </a:t>
            </a:r>
            <a:endParaRPr lang="tr-TR" altLang="tr-TR" dirty="0" smtClean="0">
              <a:solidFill>
                <a:srgbClr val="000000"/>
              </a:solidFill>
            </a:endParaRPr>
          </a:p>
          <a:p>
            <a:r>
              <a:rPr lang="tr-TR" altLang="tr-TR" dirty="0" smtClean="0">
                <a:solidFill>
                  <a:srgbClr val="000000"/>
                </a:solidFill>
              </a:rPr>
              <a:t>Program </a:t>
            </a:r>
            <a:r>
              <a:rPr lang="tr-TR" altLang="tr-TR" dirty="0">
                <a:solidFill>
                  <a:srgbClr val="000000"/>
                </a:solidFill>
              </a:rPr>
              <a:t>denetimi bir noktadan başka bir noktaya geçer ve oradan devam eder. </a:t>
            </a:r>
            <a:endParaRPr lang="tr-TR" altLang="tr-TR" dirty="0" smtClean="0">
              <a:solidFill>
                <a:srgbClr val="000000"/>
              </a:solidFill>
            </a:endParaRPr>
          </a:p>
          <a:p>
            <a:r>
              <a:rPr lang="tr-TR" altLang="tr-TR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goto</a:t>
            </a:r>
            <a:r>
              <a:rPr lang="tr-TR" altLang="tr-TR" dirty="0" smtClean="0">
                <a:solidFill>
                  <a:srgbClr val="3333CC"/>
                </a:solidFill>
              </a:rPr>
              <a:t> </a:t>
            </a:r>
            <a:r>
              <a:rPr lang="tr-TR" altLang="tr-TR" dirty="0" smtClean="0">
                <a:solidFill>
                  <a:srgbClr val="000000"/>
                </a:solidFill>
              </a:rPr>
              <a:t>deyiminin </a:t>
            </a:r>
            <a:r>
              <a:rPr lang="tr-TR" altLang="tr-TR" dirty="0">
                <a:solidFill>
                  <a:srgbClr val="000000"/>
                </a:solidFill>
              </a:rPr>
              <a:t>çalışması için </a:t>
            </a:r>
            <a:r>
              <a:rPr lang="tr-TR" altLang="tr-TR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etikete</a:t>
            </a:r>
            <a:r>
              <a:rPr lang="tr-TR" altLang="tr-TR" dirty="0">
                <a:solidFill>
                  <a:srgbClr val="000000"/>
                </a:solidFill>
              </a:rPr>
              <a:t> (</a:t>
            </a:r>
            <a:r>
              <a:rPr lang="tr-TR" altLang="tr-TR" dirty="0" err="1">
                <a:solidFill>
                  <a:srgbClr val="000000"/>
                </a:solidFill>
              </a:rPr>
              <a:t>label</a:t>
            </a:r>
            <a:r>
              <a:rPr lang="tr-TR" altLang="tr-TR" dirty="0">
                <a:solidFill>
                  <a:srgbClr val="000000"/>
                </a:solidFill>
              </a:rPr>
              <a:t>) ihtiyaç vardır. </a:t>
            </a:r>
            <a:endParaRPr lang="tr-TR" altLang="tr-TR" dirty="0" smtClean="0">
              <a:solidFill>
                <a:srgbClr val="000000"/>
              </a:solidFill>
            </a:endParaRPr>
          </a:p>
          <a:p>
            <a:pPr algn="just"/>
            <a:r>
              <a:rPr lang="tr-TR" altLang="tr-TR" sz="2800" dirty="0" smtClean="0">
                <a:solidFill>
                  <a:srgbClr val="C00000"/>
                </a:solidFill>
              </a:rPr>
              <a:t>C</a:t>
            </a:r>
            <a:r>
              <a:rPr lang="tr-TR" altLang="tr-TR" sz="2800" dirty="0">
                <a:solidFill>
                  <a:srgbClr val="C00000"/>
                </a:solidFill>
              </a:rPr>
              <a:t>++ dilinde tanımlı olmasına rağmen, yapısal programlama yönteminin ortaya çıkışından sonra, kullanımı kesinlikle tavsiye edilmemektedir. Programların </a:t>
            </a:r>
            <a:r>
              <a:rPr lang="tr-TR" altLang="tr-TR" sz="2800" dirty="0" err="1">
                <a:solidFill>
                  <a:srgbClr val="C00000"/>
                </a:solidFill>
              </a:rPr>
              <a:t>anlaşılabilirliğini</a:t>
            </a:r>
            <a:r>
              <a:rPr lang="tr-TR" altLang="tr-TR" sz="2800" dirty="0">
                <a:solidFill>
                  <a:srgbClr val="C00000"/>
                </a:solidFill>
              </a:rPr>
              <a:t> düşürmektedir (Spagetti programlama). </a:t>
            </a:r>
          </a:p>
          <a:p>
            <a:endParaRPr lang="tr-TR" dirty="0"/>
          </a:p>
        </p:txBody>
      </p:sp>
      <p:sp>
        <p:nvSpPr>
          <p:cNvPr id="4" name="AutoShape 33"/>
          <p:cNvSpPr>
            <a:spLocks noChangeArrowheads="1"/>
          </p:cNvSpPr>
          <p:nvPr/>
        </p:nvSpPr>
        <p:spPr bwMode="auto">
          <a:xfrm>
            <a:off x="539552" y="4365104"/>
            <a:ext cx="2016224" cy="1595079"/>
          </a:xfrm>
          <a:prstGeom prst="roundRect">
            <a:avLst>
              <a:gd name="adj" fmla="val 16667"/>
            </a:avLst>
          </a:prstGeom>
          <a:solidFill>
            <a:schemeClr val="accent4">
              <a:alpha val="50000"/>
            </a:schemeClr>
          </a:solidFill>
          <a:ln>
            <a:noFill/>
          </a:ln>
          <a:ex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lIns="36000" tIns="42452" rIns="36000" bIns="42452" anchor="ctr"/>
          <a:lstStyle>
            <a:lvl1pPr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indent="-219075"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143000" algn="l"/>
                <a:tab pos="1590675" algn="l"/>
                <a:tab pos="2039938" algn="l"/>
                <a:tab pos="2489200" algn="l"/>
                <a:tab pos="2938463" algn="l"/>
                <a:tab pos="3387725" algn="l"/>
                <a:tab pos="3836988" algn="l"/>
                <a:tab pos="4286250" algn="l"/>
                <a:tab pos="4735513" algn="l"/>
                <a:tab pos="5184775" algn="l"/>
                <a:tab pos="5634038" algn="l"/>
                <a:tab pos="6083300" algn="l"/>
                <a:tab pos="6532563" algn="l"/>
                <a:tab pos="6981825" algn="l"/>
                <a:tab pos="7431088" algn="l"/>
                <a:tab pos="7880350" algn="l"/>
                <a:tab pos="8329613" algn="l"/>
                <a:tab pos="8778875" algn="l"/>
                <a:tab pos="9228138" algn="l"/>
                <a:tab pos="9677400" algn="l"/>
                <a:tab pos="10126663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r>
              <a:rPr lang="tr-TR" altLang="tr-TR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g</a:t>
            </a:r>
            <a:r>
              <a:rPr lang="tr-TR" altLang="tr-TR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oto</a:t>
            </a:r>
            <a:r>
              <a:rPr lang="tr-TR" altLang="tr-TR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 </a:t>
            </a:r>
            <a:r>
              <a:rPr lang="tr-TR" altLang="tr-TR" dirty="0" smtClean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etiket</a:t>
            </a:r>
            <a:r>
              <a:rPr lang="tr-TR" altLang="tr-TR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 </a:t>
            </a:r>
            <a:r>
              <a:rPr lang="en-US" altLang="tr-TR" b="1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   </a:t>
            </a:r>
            <a:endParaRPr lang="tr-TR" altLang="tr-TR" b="1" dirty="0" smtClean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r>
              <a:rPr lang="tr-TR" altLang="tr-TR" i="1" dirty="0">
                <a:solidFill>
                  <a:schemeClr val="tx1"/>
                </a:solidFill>
                <a:latin typeface="Trebuchet MS" panose="020B0603020202020204" pitchFamily="34" charset="0"/>
              </a:rPr>
              <a:t> </a:t>
            </a:r>
            <a:r>
              <a:rPr lang="tr-TR" altLang="tr-TR" i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     …</a:t>
            </a:r>
          </a:p>
          <a:p>
            <a:r>
              <a:rPr lang="tr-TR" altLang="tr-TR" i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      …</a:t>
            </a:r>
          </a:p>
          <a:p>
            <a:r>
              <a:rPr lang="tr-TR" altLang="tr-TR" i="1" dirty="0">
                <a:solidFill>
                  <a:schemeClr val="tx1"/>
                </a:solidFill>
                <a:latin typeface="Trebuchet MS" panose="020B0603020202020204" pitchFamily="34" charset="0"/>
              </a:rPr>
              <a:t> </a:t>
            </a:r>
            <a:r>
              <a:rPr lang="tr-TR" altLang="tr-TR" i="1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     …</a:t>
            </a:r>
          </a:p>
          <a:p>
            <a:r>
              <a:rPr lang="tr-TR" altLang="tr-TR" b="1" dirty="0">
                <a:solidFill>
                  <a:schemeClr val="accent6">
                    <a:lumMod val="50000"/>
                  </a:schemeClr>
                </a:solidFill>
                <a:latin typeface="Trebuchet MS" panose="020B0603020202020204" pitchFamily="34" charset="0"/>
              </a:rPr>
              <a:t>e</a:t>
            </a:r>
            <a:r>
              <a:rPr lang="tr-TR" altLang="tr-TR" b="1" dirty="0" smtClean="0">
                <a:solidFill>
                  <a:schemeClr val="accent6">
                    <a:lumMod val="50000"/>
                  </a:schemeClr>
                </a:solidFill>
                <a:latin typeface="Trebuchet MS" panose="020B0603020202020204" pitchFamily="34" charset="0"/>
              </a:rPr>
              <a:t>tiket:</a:t>
            </a:r>
          </a:p>
        </p:txBody>
      </p:sp>
    </p:spTree>
    <p:extLst>
      <p:ext uri="{BB962C8B-B14F-4D97-AF65-F5344CB8AC3E}">
        <p14:creationId xmlns:p14="http://schemas.microsoft.com/office/powerpoint/2010/main" val="33874541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İç İçe Döngüler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altLang="tr-TR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Tüm </a:t>
            </a:r>
            <a:r>
              <a:rPr lang="tr-TR" altLang="tr-TR" dirty="0">
                <a:solidFill>
                  <a:srgbClr val="000000"/>
                </a:solidFill>
                <a:latin typeface="Trebuchet MS" panose="020B0603020202020204" pitchFamily="34" charset="0"/>
              </a:rPr>
              <a:t>döngüler iç-içe </a:t>
            </a:r>
            <a:r>
              <a:rPr lang="tr-TR" altLang="tr-TR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yapılandırılabilir</a:t>
            </a:r>
          </a:p>
          <a:p>
            <a:r>
              <a:rPr lang="tr-TR" altLang="tr-TR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Örnek kullanım </a:t>
            </a:r>
            <a:r>
              <a:rPr lang="tr-TR" altLang="tr-TR" dirty="0">
                <a:solidFill>
                  <a:srgbClr val="000000"/>
                </a:solidFill>
                <a:latin typeface="Trebuchet MS" panose="020B0603020202020204" pitchFamily="34" charset="0"/>
              </a:rPr>
              <a:t>a</a:t>
            </a:r>
            <a:r>
              <a:rPr lang="tr-TR" altLang="tr-TR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lanları</a:t>
            </a:r>
          </a:p>
          <a:p>
            <a:pPr lvl="1"/>
            <a:r>
              <a:rPr lang="tr-TR" altLang="tr-TR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Çok </a:t>
            </a:r>
            <a:r>
              <a:rPr lang="tr-TR" altLang="tr-TR" dirty="0">
                <a:solidFill>
                  <a:srgbClr val="000000"/>
                </a:solidFill>
                <a:latin typeface="Trebuchet MS" panose="020B0603020202020204" pitchFamily="34" charset="0"/>
              </a:rPr>
              <a:t>boyutlu </a:t>
            </a:r>
            <a:r>
              <a:rPr lang="tr-TR" altLang="tr-TR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diziler</a:t>
            </a:r>
          </a:p>
          <a:p>
            <a:pPr lvl="1"/>
            <a:r>
              <a:rPr lang="tr-TR" altLang="tr-TR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Seri hesaplamaları</a:t>
            </a:r>
          </a:p>
          <a:p>
            <a:pPr lvl="1"/>
            <a:r>
              <a:rPr lang="tr-TR" altLang="tr-TR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İlişkili döngüler</a:t>
            </a:r>
          </a:p>
          <a:p>
            <a:pPr lvl="1"/>
            <a:r>
              <a:rPr lang="tr-TR" altLang="tr-TR" dirty="0" smtClean="0">
                <a:solidFill>
                  <a:srgbClr val="000000"/>
                </a:solidFill>
                <a:latin typeface="Trebuchet MS" panose="020B0603020202020204" pitchFamily="34" charset="0"/>
              </a:rPr>
              <a:t>…</a:t>
            </a:r>
            <a:endParaRPr lang="tr-TR" altLang="tr-TR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endParaRPr lang="tr-TR" dirty="0"/>
          </a:p>
        </p:txBody>
      </p:sp>
      <p:grpSp>
        <p:nvGrpSpPr>
          <p:cNvPr id="129" name="Grup 128"/>
          <p:cNvGrpSpPr/>
          <p:nvPr/>
        </p:nvGrpSpPr>
        <p:grpSpPr>
          <a:xfrm>
            <a:off x="3203848" y="1773526"/>
            <a:ext cx="5472608" cy="3523035"/>
            <a:chOff x="3203848" y="1773526"/>
            <a:chExt cx="5472608" cy="3523035"/>
          </a:xfrm>
        </p:grpSpPr>
        <p:grpSp>
          <p:nvGrpSpPr>
            <p:cNvPr id="36" name="Grup 35"/>
            <p:cNvGrpSpPr/>
            <p:nvPr/>
          </p:nvGrpSpPr>
          <p:grpSpPr>
            <a:xfrm>
              <a:off x="3203848" y="1773526"/>
              <a:ext cx="1583650" cy="1873750"/>
              <a:chOff x="3151585" y="3573607"/>
              <a:chExt cx="1583650" cy="1873750"/>
            </a:xfrm>
          </p:grpSpPr>
          <p:grpSp>
            <p:nvGrpSpPr>
              <p:cNvPr id="57" name="Group 17"/>
              <p:cNvGrpSpPr>
                <a:grpSpLocks/>
              </p:cNvGrpSpPr>
              <p:nvPr/>
            </p:nvGrpSpPr>
            <p:grpSpPr bwMode="auto">
              <a:xfrm>
                <a:off x="3151585" y="3573607"/>
                <a:ext cx="1583650" cy="1873750"/>
                <a:chOff x="2206" y="1502"/>
                <a:chExt cx="771" cy="1217"/>
              </a:xfrm>
            </p:grpSpPr>
            <p:sp>
              <p:nvSpPr>
                <p:cNvPr id="58" name="Rectangle 20"/>
                <p:cNvSpPr>
                  <a:spLocks noChangeArrowheads="1"/>
                </p:cNvSpPr>
                <p:nvPr/>
              </p:nvSpPr>
              <p:spPr bwMode="auto">
                <a:xfrm>
                  <a:off x="2206" y="1920"/>
                  <a:ext cx="771" cy="236"/>
                </a:xfrm>
                <a:prstGeom prst="flowChartPreparation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rgbClr val="00206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algn="ctr"/>
                  <a:r>
                    <a:rPr lang="tr-TR" altLang="tr-TR" sz="1600" dirty="0">
                      <a:solidFill>
                        <a:srgbClr val="002060"/>
                      </a:solidFill>
                    </a:rPr>
                    <a:t>d</a:t>
                  </a:r>
                  <a:r>
                    <a:rPr lang="tr-TR" altLang="tr-TR" sz="1600" dirty="0" smtClean="0">
                      <a:solidFill>
                        <a:srgbClr val="002060"/>
                      </a:solidFill>
                      <a:latin typeface="+mn-lt"/>
                      <a:cs typeface="+mn-cs"/>
                    </a:rPr>
                    <a:t>öngü şartı</a:t>
                  </a:r>
                  <a:endParaRPr lang="en-AU" altLang="tr-TR" sz="1600" dirty="0">
                    <a:solidFill>
                      <a:srgbClr val="002060"/>
                    </a:solidFill>
                    <a:latin typeface="+mn-lt"/>
                    <a:cs typeface="+mn-cs"/>
                  </a:endParaRPr>
                </a:p>
              </p:txBody>
            </p:sp>
            <p:sp>
              <p:nvSpPr>
                <p:cNvPr id="59" name="Oval 21"/>
                <p:cNvSpPr>
                  <a:spLocks noChangeArrowheads="1"/>
                </p:cNvSpPr>
                <p:nvPr/>
              </p:nvSpPr>
              <p:spPr bwMode="auto">
                <a:xfrm>
                  <a:off x="2500" y="1502"/>
                  <a:ext cx="186" cy="186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rgbClr val="002060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 lang="tr-TR">
                    <a:solidFill>
                      <a:srgbClr val="002060"/>
                    </a:solidFill>
                    <a:latin typeface="+mn-lt"/>
                    <a:cs typeface="+mn-cs"/>
                  </a:endParaRPr>
                </a:p>
              </p:txBody>
            </p:sp>
            <p:cxnSp>
              <p:nvCxnSpPr>
                <p:cNvPr id="61" name="AutoShape 23"/>
                <p:cNvCxnSpPr>
                  <a:cxnSpLocks noChangeShapeType="1"/>
                  <a:stCxn id="58" idx="2"/>
                  <a:endCxn id="101" idx="0"/>
                </p:cNvCxnSpPr>
                <p:nvPr/>
              </p:nvCxnSpPr>
              <p:spPr bwMode="auto">
                <a:xfrm>
                  <a:off x="2592" y="2156"/>
                  <a:ext cx="0" cy="563"/>
                </a:xfrm>
                <a:prstGeom prst="straightConnector1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9050">
                  <a:solidFill>
                    <a:srgbClr val="002060"/>
                  </a:solidFill>
                  <a:headEnd type="none" w="med" len="med"/>
                  <a:tailEnd type="triangl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cxnSp>
            <p:nvCxnSpPr>
              <p:cNvPr id="55" name="AutoShape 23"/>
              <p:cNvCxnSpPr>
                <a:cxnSpLocks noChangeShapeType="1"/>
                <a:stCxn id="59" idx="4"/>
              </p:cNvCxnSpPr>
              <p:nvPr/>
            </p:nvCxnSpPr>
            <p:spPr bwMode="auto">
              <a:xfrm>
                <a:off x="3946491" y="3859981"/>
                <a:ext cx="3081" cy="357198"/>
              </a:xfrm>
              <a:prstGeom prst="straightConnector1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rgbClr val="002060"/>
                </a:solidFill>
                <a:headEnd type="none" w="med" len="med"/>
                <a:tailEnd type="triangl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38" name="Rectangle 20"/>
            <p:cNvSpPr>
              <a:spLocks noChangeArrowheads="1"/>
            </p:cNvSpPr>
            <p:nvPr/>
          </p:nvSpPr>
          <p:spPr bwMode="auto">
            <a:xfrm>
              <a:off x="7092806" y="4149080"/>
              <a:ext cx="935578" cy="36335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/>
              <a:r>
                <a:rPr lang="tr-TR" altLang="tr-TR" sz="1600" dirty="0" smtClean="0">
                  <a:solidFill>
                    <a:schemeClr val="accent4">
                      <a:lumMod val="50000"/>
                    </a:schemeClr>
                  </a:solidFill>
                </a:rPr>
                <a:t>işlemler</a:t>
              </a:r>
              <a:endParaRPr lang="en-AU" altLang="tr-TR" sz="1600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sp>
          <p:nvSpPr>
            <p:cNvPr id="65" name="Rectangle 20"/>
            <p:cNvSpPr>
              <a:spLocks noChangeArrowheads="1"/>
            </p:cNvSpPr>
            <p:nvPr/>
          </p:nvSpPr>
          <p:spPr bwMode="auto">
            <a:xfrm>
              <a:off x="5724654" y="3569700"/>
              <a:ext cx="1583650" cy="363356"/>
            </a:xfrm>
            <a:prstGeom prst="flowChartPreparation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accent4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/>
              <a:r>
                <a:rPr lang="tr-TR" altLang="tr-TR" sz="1600" dirty="0">
                  <a:solidFill>
                    <a:schemeClr val="accent4">
                      <a:lumMod val="50000"/>
                    </a:schemeClr>
                  </a:solidFill>
                </a:rPr>
                <a:t>d</a:t>
              </a:r>
              <a:r>
                <a:rPr lang="tr-TR" altLang="tr-TR" sz="1600" dirty="0" smtClean="0">
                  <a:solidFill>
                    <a:schemeClr val="accent4">
                      <a:lumMod val="50000"/>
                    </a:schemeClr>
                  </a:solidFill>
                  <a:latin typeface="+mn-lt"/>
                  <a:cs typeface="+mn-cs"/>
                </a:rPr>
                <a:t>öngü şartı</a:t>
              </a:r>
              <a:endParaRPr lang="en-AU" altLang="tr-TR" sz="1600" dirty="0">
                <a:solidFill>
                  <a:schemeClr val="accent4">
                    <a:lumMod val="50000"/>
                  </a:schemeClr>
                </a:solidFill>
                <a:latin typeface="+mn-lt"/>
                <a:cs typeface="+mn-cs"/>
              </a:endParaRPr>
            </a:p>
          </p:txBody>
        </p:sp>
        <p:cxnSp>
          <p:nvCxnSpPr>
            <p:cNvPr id="69" name="Dirsek Bağlayıcısı 68"/>
            <p:cNvCxnSpPr>
              <a:stCxn id="65" idx="3"/>
              <a:endCxn id="38" idx="0"/>
            </p:cNvCxnSpPr>
            <p:nvPr/>
          </p:nvCxnSpPr>
          <p:spPr>
            <a:xfrm>
              <a:off x="7308304" y="3751378"/>
              <a:ext cx="252291" cy="397702"/>
            </a:xfrm>
            <a:prstGeom prst="bentConnector2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4">
                  <a:lumMod val="50000"/>
                </a:schemeClr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Dirsek Bağlayıcısı 66"/>
            <p:cNvCxnSpPr>
              <a:stCxn id="58" idx="3"/>
            </p:cNvCxnSpPr>
            <p:nvPr/>
          </p:nvCxnSpPr>
          <p:spPr>
            <a:xfrm>
              <a:off x="4787498" y="2598777"/>
              <a:ext cx="288883" cy="354639"/>
            </a:xfrm>
            <a:prstGeom prst="bentConnector2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Dirsek Bağlayıcısı 70"/>
            <p:cNvCxnSpPr>
              <a:stCxn id="38" idx="3"/>
              <a:endCxn id="65" idx="0"/>
            </p:cNvCxnSpPr>
            <p:nvPr/>
          </p:nvCxnSpPr>
          <p:spPr>
            <a:xfrm flipH="1" flipV="1">
              <a:off x="6516479" y="3569700"/>
              <a:ext cx="1511905" cy="761058"/>
            </a:xfrm>
            <a:prstGeom prst="bentConnector4">
              <a:avLst>
                <a:gd name="adj1" fmla="val -11664"/>
                <a:gd name="adj2" fmla="val 13003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4">
                  <a:lumMod val="50000"/>
                </a:schemeClr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" name="Dirsek Bağlayıcısı 75"/>
            <p:cNvCxnSpPr>
              <a:stCxn id="65" idx="2"/>
            </p:cNvCxnSpPr>
            <p:nvPr/>
          </p:nvCxnSpPr>
          <p:spPr>
            <a:xfrm rot="16200000" flipH="1">
              <a:off x="6879832" y="3569702"/>
              <a:ext cx="1208863" cy="1935569"/>
            </a:xfrm>
            <a:prstGeom prst="bentConnector2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7030A0"/>
              </a:solidFill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Düz Bağlayıcı 80"/>
            <p:cNvCxnSpPr/>
            <p:nvPr/>
          </p:nvCxnSpPr>
          <p:spPr>
            <a:xfrm flipV="1">
              <a:off x="8676456" y="2220142"/>
              <a:ext cx="0" cy="3076417"/>
            </a:xfrm>
            <a:prstGeom prst="lin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Düz Ok Bağlayıcısı 82"/>
            <p:cNvCxnSpPr/>
            <p:nvPr/>
          </p:nvCxnSpPr>
          <p:spPr>
            <a:xfrm flipH="1" flipV="1">
              <a:off x="3995936" y="2204864"/>
              <a:ext cx="4680520" cy="30556"/>
            </a:xfrm>
            <a:prstGeom prst="straightConnector1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4" name="Rectangle 20"/>
            <p:cNvSpPr>
              <a:spLocks noChangeArrowheads="1"/>
            </p:cNvSpPr>
            <p:nvPr/>
          </p:nvSpPr>
          <p:spPr bwMode="auto">
            <a:xfrm>
              <a:off x="4474398" y="2953417"/>
              <a:ext cx="1583650" cy="363356"/>
            </a:xfrm>
            <a:prstGeom prst="flowChartPreparation">
              <a:avLst/>
            </a:prstGeom>
            <a:solidFill>
              <a:srgbClr val="F0DEF8"/>
            </a:solidFill>
            <a:ln w="19050">
              <a:solidFill>
                <a:srgbClr val="7030A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/>
              <a:r>
                <a:rPr lang="tr-TR" altLang="tr-TR" sz="1600" dirty="0">
                  <a:solidFill>
                    <a:srgbClr val="7030A0"/>
                  </a:solidFill>
                </a:rPr>
                <a:t>d</a:t>
              </a:r>
              <a:r>
                <a:rPr lang="tr-TR" altLang="tr-TR" sz="1600" dirty="0" smtClean="0">
                  <a:solidFill>
                    <a:srgbClr val="7030A0"/>
                  </a:solidFill>
                  <a:latin typeface="+mn-lt"/>
                  <a:cs typeface="+mn-cs"/>
                </a:rPr>
                <a:t>öngü şartı</a:t>
              </a:r>
              <a:endParaRPr lang="en-AU" altLang="tr-TR" sz="1600" dirty="0">
                <a:solidFill>
                  <a:srgbClr val="7030A0"/>
                </a:solidFill>
                <a:latin typeface="+mn-lt"/>
                <a:cs typeface="+mn-cs"/>
              </a:endParaRPr>
            </a:p>
          </p:txBody>
        </p:sp>
        <p:sp>
          <p:nvSpPr>
            <p:cNvPr id="99" name="Metin kutusu 98"/>
            <p:cNvSpPr txBox="1"/>
            <p:nvPr/>
          </p:nvSpPr>
          <p:spPr>
            <a:xfrm>
              <a:off x="4678844" y="2320417"/>
              <a:ext cx="475543" cy="32316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tr-TR" sz="1500" dirty="0" smtClean="0">
                  <a:solidFill>
                    <a:srgbClr val="002060"/>
                  </a:solidFill>
                </a:rPr>
                <a:t>doğru</a:t>
              </a:r>
              <a:endParaRPr lang="tr-TR" sz="1500" dirty="0">
                <a:solidFill>
                  <a:srgbClr val="002060"/>
                </a:solidFill>
              </a:endParaRPr>
            </a:p>
          </p:txBody>
        </p:sp>
        <p:sp>
          <p:nvSpPr>
            <p:cNvPr id="100" name="Metin kutusu 99"/>
            <p:cNvSpPr txBox="1"/>
            <p:nvPr/>
          </p:nvSpPr>
          <p:spPr>
            <a:xfrm>
              <a:off x="3457094" y="2800549"/>
              <a:ext cx="475543" cy="32316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tr-TR" sz="1500" dirty="0" smtClean="0">
                  <a:solidFill>
                    <a:srgbClr val="002060"/>
                  </a:solidFill>
                </a:rPr>
                <a:t>yanlış</a:t>
              </a:r>
              <a:endParaRPr lang="tr-TR" sz="1500" dirty="0">
                <a:solidFill>
                  <a:srgbClr val="002060"/>
                </a:solidFill>
              </a:endParaRPr>
            </a:p>
          </p:txBody>
        </p:sp>
        <p:sp>
          <p:nvSpPr>
            <p:cNvPr id="101" name="Oval 21"/>
            <p:cNvSpPr>
              <a:spLocks noChangeArrowheads="1"/>
            </p:cNvSpPr>
            <p:nvPr/>
          </p:nvSpPr>
          <p:spPr bwMode="auto">
            <a:xfrm>
              <a:off x="3804649" y="3646682"/>
              <a:ext cx="382048" cy="28637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tr-TR">
                <a:solidFill>
                  <a:srgbClr val="002060"/>
                </a:solidFill>
                <a:latin typeface="+mn-lt"/>
                <a:cs typeface="+mn-cs"/>
              </a:endParaRPr>
            </a:p>
          </p:txBody>
        </p:sp>
        <p:cxnSp>
          <p:nvCxnSpPr>
            <p:cNvPr id="103" name="Dirsek Bağlayıcısı 102"/>
            <p:cNvCxnSpPr>
              <a:stCxn id="84" idx="2"/>
            </p:cNvCxnSpPr>
            <p:nvPr/>
          </p:nvCxnSpPr>
          <p:spPr>
            <a:xfrm rot="16200000" flipH="1">
              <a:off x="5981445" y="2601550"/>
              <a:ext cx="1979788" cy="3410233"/>
            </a:xfrm>
            <a:prstGeom prst="bentConnector2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2060"/>
              </a:solidFill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9" name="Dirsek Bağlayıcısı 108"/>
            <p:cNvCxnSpPr>
              <a:stCxn id="84" idx="3"/>
            </p:cNvCxnSpPr>
            <p:nvPr/>
          </p:nvCxnSpPr>
          <p:spPr>
            <a:xfrm>
              <a:off x="6058048" y="3135095"/>
              <a:ext cx="340535" cy="434605"/>
            </a:xfrm>
            <a:prstGeom prst="bentConnector2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7030A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Düz Bağlayıcı 115"/>
            <p:cNvCxnSpPr/>
            <p:nvPr/>
          </p:nvCxnSpPr>
          <p:spPr>
            <a:xfrm flipV="1">
              <a:off x="8452048" y="2708920"/>
              <a:ext cx="0" cy="2432998"/>
            </a:xfrm>
            <a:prstGeom prst="lin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7030A0"/>
              </a:solidFill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7" name="Dirsek Bağlayıcısı 126"/>
            <p:cNvCxnSpPr>
              <a:endCxn id="84" idx="0"/>
            </p:cNvCxnSpPr>
            <p:nvPr/>
          </p:nvCxnSpPr>
          <p:spPr>
            <a:xfrm rot="10800000" flipV="1">
              <a:off x="5266224" y="2708919"/>
              <a:ext cx="3185825" cy="244497"/>
            </a:xfrm>
            <a:prstGeom prst="bentConnector2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7030A0"/>
              </a:solidFill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42754785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Dikdörtgen 2"/>
          <p:cNvSpPr>
            <a:spLocks noChangeArrowheads="1"/>
          </p:cNvSpPr>
          <p:nvPr/>
        </p:nvSpPr>
        <p:spPr bwMode="auto">
          <a:xfrm>
            <a:off x="395288" y="260350"/>
            <a:ext cx="4824412" cy="5703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7000"/>
              </a:lnSpc>
            </a:pPr>
            <a:r>
              <a:rPr lang="tr-TR" altLang="tr-TR">
                <a:solidFill>
                  <a:srgbClr val="80808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#include</a:t>
            </a:r>
            <a:r>
              <a:rPr lang="tr-TR" altLang="tr-TR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tr-TR" altLang="tr-TR">
                <a:solidFill>
                  <a:srgbClr val="A31515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&lt;iostream&gt;</a:t>
            </a:r>
            <a:endParaRPr lang="tr-TR" altLang="tr-TR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tr-TR" altLang="tr-TR">
                <a:solidFill>
                  <a:srgbClr val="80808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#include</a:t>
            </a:r>
            <a:r>
              <a:rPr lang="tr-TR" altLang="tr-TR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tr-TR" altLang="tr-TR">
                <a:solidFill>
                  <a:srgbClr val="A31515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&lt;iomanip&gt;</a:t>
            </a:r>
            <a:endParaRPr lang="tr-TR" altLang="tr-TR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tr-TR" altLang="tr-TR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using</a:t>
            </a:r>
            <a:r>
              <a:rPr lang="tr-TR" altLang="tr-TR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tr-TR" altLang="tr-TR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namespace</a:t>
            </a:r>
            <a:r>
              <a:rPr lang="tr-TR" altLang="tr-TR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std;</a:t>
            </a:r>
            <a:endParaRPr lang="tr-TR" altLang="tr-TR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tr-TR" altLang="tr-TR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tr-TR" altLang="tr-TR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main()</a:t>
            </a:r>
            <a:endParaRPr lang="tr-TR" altLang="tr-TR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tr-TR" altLang="tr-TR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tr-TR" altLang="tr-TR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tr-TR" altLang="tr-TR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tr-TR" altLang="tr-TR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tr-TR" altLang="tr-TR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i, j;</a:t>
            </a:r>
            <a:endParaRPr lang="tr-TR" altLang="tr-TR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tr-TR" altLang="tr-TR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tr-TR" altLang="tr-TR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tr-TR" altLang="tr-TR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(i = 0; i &lt;= 5; i++)</a:t>
            </a:r>
            <a:endParaRPr lang="tr-TR" altLang="tr-TR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tr-TR" altLang="tr-TR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{</a:t>
            </a:r>
            <a:endParaRPr lang="tr-TR" altLang="tr-TR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tr-TR" altLang="tr-TR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tr-TR" altLang="tr-TR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tr-TR" altLang="tr-TR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(j = 5-i;  j&gt;= 0; j--)</a:t>
            </a:r>
            <a:endParaRPr lang="tr-TR" altLang="tr-TR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tr-TR" altLang="tr-TR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cout </a:t>
            </a:r>
            <a:r>
              <a:rPr lang="tr-TR" altLang="tr-TR">
                <a:solidFill>
                  <a:srgbClr val="00808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&lt;&lt;</a:t>
            </a:r>
            <a:r>
              <a:rPr lang="tr-TR" altLang="tr-TR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tr-TR" altLang="tr-TR">
                <a:solidFill>
                  <a:srgbClr val="A31515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 "</a:t>
            </a:r>
            <a:r>
              <a:rPr lang="tr-TR" altLang="tr-TR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tr-TR" altLang="tr-TR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tr-TR" altLang="tr-TR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tr-TR" altLang="tr-TR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tr-TR" altLang="tr-TR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(j = 0; j &lt;= i; j++)</a:t>
            </a:r>
            <a:endParaRPr lang="tr-TR" altLang="tr-TR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tr-TR" altLang="tr-TR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cout </a:t>
            </a:r>
            <a:r>
              <a:rPr lang="tr-TR" altLang="tr-TR">
                <a:solidFill>
                  <a:srgbClr val="00808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&lt;&lt;</a:t>
            </a:r>
            <a:r>
              <a:rPr lang="tr-TR" altLang="tr-TR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tr-TR" altLang="tr-TR">
                <a:solidFill>
                  <a:srgbClr val="A31515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"*"</a:t>
            </a:r>
            <a:r>
              <a:rPr lang="tr-TR" altLang="tr-TR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tr-TR" altLang="tr-TR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tr-TR" altLang="tr-TR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cout </a:t>
            </a:r>
            <a:r>
              <a:rPr lang="tr-TR" altLang="tr-TR">
                <a:solidFill>
                  <a:srgbClr val="00808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&lt;&lt;</a:t>
            </a:r>
            <a:r>
              <a:rPr lang="tr-TR" altLang="tr-TR">
                <a:solidFill>
                  <a:srgbClr val="A31515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 "</a:t>
            </a:r>
            <a:r>
              <a:rPr lang="tr-TR" altLang="tr-TR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tr-TR" altLang="tr-TR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tr-TR" altLang="tr-TR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tr-TR" altLang="tr-TR">
                <a:solidFill>
                  <a:srgbClr val="0000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tr-TR" altLang="tr-TR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(j = 0; j &lt;= i; j++)</a:t>
            </a:r>
            <a:endParaRPr lang="tr-TR" altLang="tr-TR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tr-TR" altLang="tr-TR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cout </a:t>
            </a:r>
            <a:r>
              <a:rPr lang="tr-TR" altLang="tr-TR">
                <a:solidFill>
                  <a:srgbClr val="00808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&lt;&lt;</a:t>
            </a:r>
            <a:r>
              <a:rPr lang="tr-TR" altLang="tr-TR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tr-TR" altLang="tr-TR">
                <a:solidFill>
                  <a:srgbClr val="A31515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"*"</a:t>
            </a:r>
            <a:r>
              <a:rPr lang="tr-TR" altLang="tr-TR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tr-TR" altLang="tr-TR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tr-TR" altLang="tr-TR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cout </a:t>
            </a:r>
            <a:r>
              <a:rPr lang="tr-TR" altLang="tr-TR">
                <a:solidFill>
                  <a:srgbClr val="00808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&lt;&lt;</a:t>
            </a:r>
            <a:r>
              <a:rPr lang="tr-TR" altLang="tr-TR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endl;</a:t>
            </a:r>
            <a:endParaRPr lang="tr-TR" altLang="tr-TR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tr-TR" altLang="tr-TR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endParaRPr lang="tr-TR" altLang="tr-TR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tr-TR" altLang="tr-TR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}</a:t>
            </a:r>
            <a:endParaRPr lang="tr-TR" altLang="tr-TR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tr-TR" altLang="tr-TR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tr-TR" altLang="tr-TR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8611" name="Resi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002" b="53537"/>
          <a:stretch>
            <a:fillRect/>
          </a:stretch>
        </p:blipFill>
        <p:spPr bwMode="auto">
          <a:xfrm>
            <a:off x="5724525" y="1125538"/>
            <a:ext cx="3335338" cy="316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9059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İç İçe Döngüler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tr-TR" u="sng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ea typeface="Cambria Math" panose="02040503050406030204" pitchFamily="18" charset="0"/>
                  </a:rPr>
                  <a:t>ÖRNEK:</a:t>
                </a:r>
                <a14:m>
                  <m:oMath xmlns:m="http://schemas.openxmlformats.org/officeDocument/2006/math">
                    <m:r>
                      <a:rPr lang="tr-TR">
                        <a:solidFill>
                          <a:srgbClr val="7030A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tr-TR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r>
                  <a:rPr lang="tr-TR" altLang="tr-TR" dirty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[</a:t>
                </a:r>
                <a:r>
                  <a:rPr lang="tr-TR" altLang="tr-TR" dirty="0" smtClean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17]_dortislem_v2.cpp</a:t>
                </a:r>
                <a:endParaRPr lang="tr-TR" altLang="tr-TR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endParaRPr lang="tr-TR" dirty="0"/>
              </a:p>
            </p:txBody>
          </p:sp>
        </mc:Choice>
        <mc:Fallback xmlns="">
          <p:sp>
            <p:nvSpPr>
              <p:cNvPr id="3" name="İçerik Yer Tutucus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t="-1823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1" y="1496933"/>
            <a:ext cx="4752528" cy="45243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128542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ÖRNEKLER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altLang="tr-TR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asal_v1.cpp</a:t>
            </a:r>
          </a:p>
          <a:p>
            <a:r>
              <a:rPr lang="tr-TR" altLang="tr-TR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asal_v2.cpp</a:t>
            </a:r>
          </a:p>
          <a:p>
            <a:r>
              <a:rPr lang="tr-TR" altLang="tr-TR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kelime_sayisi.cpp</a:t>
            </a:r>
            <a:endParaRPr lang="tr-TR" altLang="tr-TR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166317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Çalışma Soruları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79512" y="1020208"/>
            <a:ext cx="8964488" cy="5011983"/>
          </a:xfrm>
        </p:spPr>
        <p:txBody>
          <a:bodyPr>
            <a:noAutofit/>
          </a:bodyPr>
          <a:lstStyle/>
          <a:p>
            <a:r>
              <a:rPr lang="tr-TR" altLang="tr-TR" dirty="0" smtClean="0"/>
              <a:t>Haftanın günleri (0:Pzt, 1:Sa, 2:Çar, …)</a:t>
            </a:r>
            <a:endParaRPr lang="tr-TR" altLang="tr-TR" dirty="0"/>
          </a:p>
          <a:p>
            <a:pPr lvl="1"/>
            <a:r>
              <a:rPr lang="tr-TR" altLang="tr-TR" dirty="0" smtClean="0"/>
              <a:t>Girilen </a:t>
            </a:r>
            <a:r>
              <a:rPr lang="tr-TR" altLang="tr-TR" dirty="0"/>
              <a:t>rakamı haftanın günlerine çeviren ve günü yazan programı </a:t>
            </a:r>
            <a:r>
              <a:rPr lang="tr-TR" altLang="tr-TR" dirty="0" err="1" smtClean="0"/>
              <a:t>switch-case</a:t>
            </a:r>
            <a:r>
              <a:rPr lang="tr-TR" altLang="tr-TR" dirty="0" smtClean="0"/>
              <a:t> </a:t>
            </a:r>
            <a:r>
              <a:rPr lang="tr-TR" altLang="tr-TR" dirty="0"/>
              <a:t>kullanarak gerçekleştiriniz</a:t>
            </a:r>
            <a:r>
              <a:rPr lang="tr-TR" altLang="tr-TR" dirty="0" smtClean="0"/>
              <a:t>.</a:t>
            </a:r>
          </a:p>
          <a:p>
            <a:r>
              <a:rPr lang="tr-TR" altLang="tr-TR" dirty="0"/>
              <a:t>1 ile N arasındaki sayıların ortalamasını alan programı </a:t>
            </a:r>
            <a:r>
              <a:rPr lang="tr-TR" altLang="tr-TR" dirty="0" smtClean="0"/>
              <a:t>yazınız</a:t>
            </a:r>
          </a:p>
          <a:p>
            <a:r>
              <a:rPr lang="tr-TR" altLang="tr-TR" dirty="0" smtClean="0"/>
              <a:t>1-10 arasındaki çift sayıların </a:t>
            </a:r>
            <a:r>
              <a:rPr lang="tr-TR" altLang="tr-TR" b="1" dirty="0" err="1" smtClean="0"/>
              <a:t>continue</a:t>
            </a:r>
            <a:r>
              <a:rPr lang="tr-TR" altLang="tr-TR" dirty="0" smtClean="0"/>
              <a:t> ifadesi kullanılarak ekrana yazılması</a:t>
            </a:r>
          </a:p>
          <a:p>
            <a:r>
              <a:rPr lang="tr-TR" altLang="tr-TR" dirty="0" smtClean="0"/>
              <a:t>Klavyeden önceden belirlenen bir çıkış tuşuna basılıncaya kadar girilen sayıların asal olup olmadığını kontrol edip sonucu ekrana yazdıran programı yazınız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246363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Çalışma Soruları…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020208"/>
                <a:ext cx="8964488" cy="5011983"/>
              </a:xfrm>
            </p:spPr>
            <p:txBody>
              <a:bodyPr>
                <a:noAutofit/>
              </a:bodyPr>
              <a:lstStyle/>
              <a:p>
                <a:r>
                  <a:rPr lang="tr-TR" altLang="tr-TR" dirty="0"/>
                  <a:t>Hesap makinesi programı yazınız</a:t>
                </a:r>
              </a:p>
              <a:p>
                <a:pPr lvl="1"/>
                <a:r>
                  <a:rPr lang="tr-TR" altLang="tr-TR" sz="2000" dirty="0" err="1"/>
                  <a:t>switch-case</a:t>
                </a:r>
                <a:r>
                  <a:rPr lang="tr-TR" altLang="tr-TR" sz="2000" dirty="0"/>
                  <a:t> kullanımı, kullanıcı hayır diyene kadar sürekli hesaplama yapmalı, kullanıcının hatalı giriş yapmaması sağlanmalı, </a:t>
                </a:r>
                <a:r>
                  <a:rPr lang="tr-TR" altLang="tr-TR" sz="2000" dirty="0" err="1"/>
                  <a:t>vs</a:t>
                </a:r>
                <a:r>
                  <a:rPr lang="tr-TR" altLang="tr-TR" sz="2000" dirty="0"/>
                  <a:t>…</a:t>
                </a:r>
              </a:p>
              <a:p>
                <a:r>
                  <a:rPr lang="tr-TR" altLang="tr-TR" dirty="0"/>
                  <a:t>Kullanıcı hayır diyene kadar girilen tüm sayıları toplayıp ortalamasını bulan programı yazınız.</a:t>
                </a:r>
              </a:p>
              <a:p>
                <a:r>
                  <a:rPr lang="tr-TR" altLang="tr-TR" dirty="0"/>
                  <a:t>İkinci dereceden bir denklemin köklerini bulan programı yazınız.</a:t>
                </a:r>
              </a:p>
              <a:p>
                <a14:m>
                  <m:oMath xmlns:m="http://schemas.openxmlformats.org/officeDocument/2006/math">
                    <m:r>
                      <a:rPr lang="tr-TR" altLang="tr-T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tr-TR" altLang="tr-TR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tr-TR" altLang="tr-T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tr-TR" altLang="tr-T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tr-TR" altLang="tr-T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tr-TR" altLang="tr-TR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tr-TR" altLang="tr-T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tr-TR" altLang="tr-TR" i="1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tr-TR" altLang="tr-TR" dirty="0"/>
                  <a:t> fonksiyonunun 0 – 4 arası integralini hesaplayan programı yazınız.</a:t>
                </a:r>
              </a:p>
              <a:p>
                <a:r>
                  <a:rPr lang="tr-TR" altLang="tr-TR" dirty="0"/>
                  <a:t>0-2000 arasında rasgele olarak  üretilen 10 sayıdan en büyük olanını bulan programı yazınız.</a:t>
                </a:r>
              </a:p>
              <a:p>
                <a:endParaRPr lang="tr-TR" dirty="0"/>
              </a:p>
            </p:txBody>
          </p:sp>
        </mc:Choice>
        <mc:Fallback xmlns="">
          <p:sp>
            <p:nvSpPr>
              <p:cNvPr id="3" name="İçerik Yer Tutucus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020208"/>
                <a:ext cx="8964488" cy="5011983"/>
              </a:xfrm>
              <a:blipFill>
                <a:blip r:embed="rId2"/>
                <a:stretch>
                  <a:fillRect l="-884" t="-1701" r="-68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42104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smtClean="0"/>
              <a:t>KAYNAKLAR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Deitel</a:t>
            </a:r>
            <a:r>
              <a:rPr lang="en-US" dirty="0"/>
              <a:t>, C++ How To Program, Prentice </a:t>
            </a:r>
            <a:r>
              <a:rPr lang="en-US" dirty="0" smtClean="0"/>
              <a:t>Hall</a:t>
            </a:r>
            <a:endParaRPr lang="tr-TR" dirty="0"/>
          </a:p>
          <a:p>
            <a:r>
              <a:rPr lang="tr-TR" altLang="tr-TR" dirty="0" err="1" smtClean="0">
                <a:solidFill>
                  <a:srgbClr val="000000"/>
                </a:solidFill>
              </a:rPr>
              <a:t>Horstmann</a:t>
            </a:r>
            <a:r>
              <a:rPr lang="tr-TR" altLang="tr-TR" dirty="0">
                <a:solidFill>
                  <a:srgbClr val="000000"/>
                </a:solidFill>
              </a:rPr>
              <a:t>, C., </a:t>
            </a:r>
            <a:r>
              <a:rPr lang="tr-TR" altLang="tr-TR" dirty="0" err="1">
                <a:solidFill>
                  <a:srgbClr val="000000"/>
                </a:solidFill>
              </a:rPr>
              <a:t>Budd,T</a:t>
            </a:r>
            <a:r>
              <a:rPr lang="tr-TR" altLang="tr-TR" dirty="0">
                <a:solidFill>
                  <a:srgbClr val="000000"/>
                </a:solidFill>
              </a:rPr>
              <a:t>., </a:t>
            </a:r>
            <a:r>
              <a:rPr lang="tr-TR" altLang="tr-TR" dirty="0" err="1">
                <a:solidFill>
                  <a:srgbClr val="000000"/>
                </a:solidFill>
              </a:rPr>
              <a:t>Big</a:t>
            </a:r>
            <a:r>
              <a:rPr lang="tr-TR" altLang="tr-TR" dirty="0">
                <a:solidFill>
                  <a:srgbClr val="000000"/>
                </a:solidFill>
              </a:rPr>
              <a:t> C++, </a:t>
            </a:r>
            <a:r>
              <a:rPr lang="tr-TR" altLang="tr-TR" dirty="0" err="1">
                <a:solidFill>
                  <a:srgbClr val="000000"/>
                </a:solidFill>
              </a:rPr>
              <a:t>Jhon</a:t>
            </a:r>
            <a:r>
              <a:rPr lang="tr-TR" altLang="tr-TR" dirty="0">
                <a:solidFill>
                  <a:srgbClr val="000000"/>
                </a:solidFill>
              </a:rPr>
              <a:t> </a:t>
            </a:r>
            <a:r>
              <a:rPr lang="tr-TR" altLang="tr-TR" dirty="0" err="1">
                <a:solidFill>
                  <a:srgbClr val="000000"/>
                </a:solidFill>
              </a:rPr>
              <a:t>Wiley&amp;Sons</a:t>
            </a:r>
            <a:r>
              <a:rPr lang="tr-TR" altLang="tr-TR" dirty="0">
                <a:solidFill>
                  <a:srgbClr val="000000"/>
                </a:solidFill>
              </a:rPr>
              <a:t>, </a:t>
            </a:r>
            <a:r>
              <a:rPr lang="tr-TR" altLang="tr-TR" dirty="0" err="1">
                <a:solidFill>
                  <a:srgbClr val="000000"/>
                </a:solidFill>
              </a:rPr>
              <a:t>Inc</a:t>
            </a:r>
            <a:r>
              <a:rPr lang="tr-TR" altLang="tr-TR" dirty="0">
                <a:solidFill>
                  <a:srgbClr val="000000"/>
                </a:solidFill>
              </a:rPr>
              <a:t>. </a:t>
            </a:r>
            <a:endParaRPr lang="tr-TR" altLang="tr-TR" dirty="0" smtClean="0">
              <a:solidFill>
                <a:srgbClr val="000000"/>
              </a:solidFill>
            </a:endParaRPr>
          </a:p>
          <a:p>
            <a:r>
              <a:rPr lang="en-US" altLang="tr-TR" dirty="0" smtClean="0">
                <a:solidFill>
                  <a:srgbClr val="000000"/>
                </a:solidFill>
              </a:rPr>
              <a:t>Robert </a:t>
            </a:r>
            <a:r>
              <a:rPr lang="en-US" altLang="tr-TR" dirty="0" err="1">
                <a:solidFill>
                  <a:srgbClr val="000000"/>
                </a:solidFill>
              </a:rPr>
              <a:t>Lafore</a:t>
            </a:r>
            <a:r>
              <a:rPr lang="en-US" altLang="tr-TR" dirty="0">
                <a:solidFill>
                  <a:srgbClr val="000000"/>
                </a:solidFill>
              </a:rPr>
              <a:t>, Object Oriented Programming in C++</a:t>
            </a:r>
            <a:r>
              <a:rPr lang="tr-TR" altLang="tr-TR" dirty="0">
                <a:solidFill>
                  <a:srgbClr val="000000"/>
                </a:solidFill>
              </a:rPr>
              <a:t>, </a:t>
            </a:r>
            <a:r>
              <a:rPr lang="tr-TR" altLang="tr-TR" dirty="0" err="1">
                <a:solidFill>
                  <a:srgbClr val="000000"/>
                </a:solidFill>
              </a:rPr>
              <a:t>Macmillan</a:t>
            </a:r>
            <a:r>
              <a:rPr lang="tr-TR" altLang="tr-TR" dirty="0">
                <a:solidFill>
                  <a:srgbClr val="000000"/>
                </a:solidFill>
              </a:rPr>
              <a:t> </a:t>
            </a:r>
            <a:r>
              <a:rPr lang="tr-TR" altLang="tr-TR" dirty="0" err="1">
                <a:solidFill>
                  <a:srgbClr val="000000"/>
                </a:solidFill>
              </a:rPr>
              <a:t>Computer</a:t>
            </a:r>
            <a:r>
              <a:rPr lang="tr-TR" altLang="tr-TR" dirty="0">
                <a:solidFill>
                  <a:srgbClr val="000000"/>
                </a:solidFill>
              </a:rPr>
              <a:t> </a:t>
            </a:r>
            <a:r>
              <a:rPr lang="tr-TR" altLang="tr-TR" dirty="0" smtClean="0">
                <a:solidFill>
                  <a:srgbClr val="000000"/>
                </a:solidFill>
              </a:rPr>
              <a:t>Publishing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78626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4947</TotalTime>
  <Words>1782</Words>
  <Application>Microsoft Office PowerPoint</Application>
  <PresentationFormat>Ekran Gösterisi (4:3)</PresentationFormat>
  <Paragraphs>677</Paragraphs>
  <Slides>54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12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54</vt:i4>
      </vt:variant>
    </vt:vector>
  </HeadingPairs>
  <TitlesOfParts>
    <vt:vector size="67" baseType="lpstr">
      <vt:lpstr>SimSun</vt:lpstr>
      <vt:lpstr>Arial</vt:lpstr>
      <vt:lpstr>Calibri</vt:lpstr>
      <vt:lpstr>Calibri Light</vt:lpstr>
      <vt:lpstr>Cambria Math</vt:lpstr>
      <vt:lpstr>Consolas</vt:lpstr>
      <vt:lpstr>Courier New</vt:lpstr>
      <vt:lpstr>Symbol</vt:lpstr>
      <vt:lpstr>Times New Roman</vt:lpstr>
      <vt:lpstr>Trebuchet MS</vt:lpstr>
      <vt:lpstr>Verdana</vt:lpstr>
      <vt:lpstr>Wingdings</vt:lpstr>
      <vt:lpstr>Office Teması</vt:lpstr>
      <vt:lpstr>Programlamaya Giriş HAFTA 4 Karar Yapıları, Tekrarlı İfadeler (Döngüler)</vt:lpstr>
      <vt:lpstr>Konu &amp; İçerik</vt:lpstr>
      <vt:lpstr>Program Blokları</vt:lpstr>
      <vt:lpstr>Sıra Yapısı</vt:lpstr>
      <vt:lpstr>Seçme/Kontrol Yapıları</vt:lpstr>
      <vt:lpstr>Seçme/Kontrol Yapıları…</vt:lpstr>
      <vt:lpstr>Seçme/Kontrol Yapıları…</vt:lpstr>
      <vt:lpstr>PowerPoint Sunusu</vt:lpstr>
      <vt:lpstr>Seçme/Kontrol Yapıları…</vt:lpstr>
      <vt:lpstr>Seçme/Kontrol Yapıları…</vt:lpstr>
      <vt:lpstr>Seçme/Kontrol Yapıları…</vt:lpstr>
      <vt:lpstr>Seçme/Kontrol Yapıları…</vt:lpstr>
      <vt:lpstr>PowerPoint Sunusu</vt:lpstr>
      <vt:lpstr>Seçme/Kontrol Yapıları…</vt:lpstr>
      <vt:lpstr>Seçme/Kontrol Yapıları…</vt:lpstr>
      <vt:lpstr>Seçme/Kontrol Yapıları…</vt:lpstr>
      <vt:lpstr>Seçme/Kontrol Yapıları…</vt:lpstr>
      <vt:lpstr>Seçme/Kontrol Yapıları…</vt:lpstr>
      <vt:lpstr>Seçme/Kontrol Yapıları…</vt:lpstr>
      <vt:lpstr>Seçme/Kontrol Yapıları…</vt:lpstr>
      <vt:lpstr>PowerPoint Sunusu</vt:lpstr>
      <vt:lpstr>Döngü Yapısı</vt:lpstr>
      <vt:lpstr>Döngü Yapısı…</vt:lpstr>
      <vt:lpstr>Döngü Yapısı…</vt:lpstr>
      <vt:lpstr>Döngü Yapısı…</vt:lpstr>
      <vt:lpstr>Döngü Yapısı…</vt:lpstr>
      <vt:lpstr>Döngü Yapısı…</vt:lpstr>
      <vt:lpstr>Döngü Yapısı…</vt:lpstr>
      <vt:lpstr>Döngü Yapısı…</vt:lpstr>
      <vt:lpstr>PowerPoint Sunusu</vt:lpstr>
      <vt:lpstr>Döngü Yapısı…</vt:lpstr>
      <vt:lpstr>Döngü Yapısı…</vt:lpstr>
      <vt:lpstr>Döngü Yapısı…</vt:lpstr>
      <vt:lpstr>Döngü Yapısı…</vt:lpstr>
      <vt:lpstr>PowerPoint Sunusu</vt:lpstr>
      <vt:lpstr>Döngü Yapısı…</vt:lpstr>
      <vt:lpstr>Döngü Yapısı…</vt:lpstr>
      <vt:lpstr>Döngü Yapısı…</vt:lpstr>
      <vt:lpstr>Döngü Yapısı…</vt:lpstr>
      <vt:lpstr>PowerPoint Sunusu</vt:lpstr>
      <vt:lpstr>PowerPoint Sunusu</vt:lpstr>
      <vt:lpstr>PowerPoint Sunusu</vt:lpstr>
      <vt:lpstr>Mantıksal İşleçler</vt:lpstr>
      <vt:lpstr>continue ve break ifadeleri</vt:lpstr>
      <vt:lpstr>continue ve break ifadeleri</vt:lpstr>
      <vt:lpstr>continue ve break ifadeleri</vt:lpstr>
      <vt:lpstr>goto Deyimi ve Etiket</vt:lpstr>
      <vt:lpstr>İç İçe Döngüler</vt:lpstr>
      <vt:lpstr>PowerPoint Sunusu</vt:lpstr>
      <vt:lpstr>İç İçe Döngüler</vt:lpstr>
      <vt:lpstr>ÖRNEKLER</vt:lpstr>
      <vt:lpstr>Çalışma Soruları</vt:lpstr>
      <vt:lpstr>Çalışma Soruları…</vt:lpstr>
      <vt:lpstr>KAYNAKLAR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Teknolojileri HAFTA 2????</dc:title>
  <dc:creator>gulizar</dc:creator>
  <cp:lastModifiedBy>Sau</cp:lastModifiedBy>
  <cp:revision>1688</cp:revision>
  <dcterms:created xsi:type="dcterms:W3CDTF">2018-02-02T11:53:53Z</dcterms:created>
  <dcterms:modified xsi:type="dcterms:W3CDTF">2023-10-19T15:48:36Z</dcterms:modified>
</cp:coreProperties>
</file>